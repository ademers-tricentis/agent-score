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83" r:id="rId7"/>
    <p:sldId id="261" r:id="rId8"/>
    <p:sldId id="285" r:id="rId9"/>
    <p:sldId id="273" r:id="rId10"/>
    <p:sldId id="274" r:id="rId11"/>
    <p:sldId id="276" r:id="rId12"/>
    <p:sldId id="281" r:id="rId13"/>
    <p:sldId id="284" r:id="rId14"/>
    <p:sldId id="286" r:id="rId15"/>
    <p:sldId id="280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05"/>
    <p:restoredTop sz="82170"/>
  </p:normalViewPr>
  <p:slideViewPr>
    <p:cSldViewPr snapToGrid="0">
      <p:cViewPr varScale="1">
        <p:scale>
          <a:sx n="114" d="100"/>
          <a:sy n="114" d="100"/>
        </p:scale>
        <p:origin x="79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04"/>
          <c:w val="0.9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Signups</c:v>
                </c:pt>
              </c:strCache>
            </c:strRef>
          </c:tx>
          <c:spPr>
            <a:ln w="28575">
              <a:solidFill>
                <a:srgbClr val="38BDF8"/>
              </a:solidFill>
            </a:ln>
          </c:spPr>
          <c:marker>
            <c:symbol val="circle"/>
            <c:size val="5"/>
            <c:spPr>
              <a:solidFill>
                <a:srgbClr val="38BDF8"/>
              </a:solidFill>
              <a:ln>
                <a:solidFill>
                  <a:srgbClr val="38BDF8"/>
                </a:solidFill>
              </a:ln>
            </c:spPr>
          </c:marker>
          <c:dPt>
            <c:idx val="1"/>
            <c:marker>
              <c:symbol val="circle"/>
              <c:size val="10"/>
              <c:spPr>
                <a:solidFill>
                  <a:srgbClr val="F87171"/>
                </a:solidFill>
                <a:ln>
                  <a:solidFill>
                    <a:srgbClr val="F87171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8766-7A42-9A40-67AEEE07BC8D}"/>
              </c:ext>
            </c:extLst>
          </c:dPt>
          <c:dPt>
            <c:idx val="29"/>
            <c:marker>
              <c:symbol val="circle"/>
              <c:size val="10"/>
              <c:spPr>
                <a:solidFill>
                  <a:srgbClr val="F87171"/>
                </a:solidFill>
                <a:ln>
                  <a:solidFill>
                    <a:srgbClr val="F87171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8766-7A42-9A40-67AEEE07BC8D}"/>
              </c:ext>
            </c:extLst>
          </c:dPt>
          <c:dLbls>
            <c:dLbl>
              <c:idx val="1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FFFFFF"/>
                      </a:solidFill>
                    </a:defRPr>
                  </a:pPr>
                  <a:endParaRPr lang="en-US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8766-7A42-9A40-67AEEE07BC8D}"/>
                </c:ext>
              </c:extLst>
            </c:dLbl>
            <c:dLbl>
              <c:idx val="2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FFFFFF"/>
                      </a:solidFill>
                    </a:defRPr>
                  </a:pPr>
                  <a:endParaRPr lang="en-US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766-7A42-9A40-67AEEE07BC8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Sheet1!$A$2:$A$46</c:f>
              <c:strCache>
                <c:ptCount val="45"/>
                <c:pt idx="0">
                  <c:v>08-19-2026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08-26-2026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09-02-2026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  <c:pt idx="21">
                  <c:v>09-09-2026</c:v>
                </c:pt>
                <c:pt idx="22">
                  <c:v> </c:v>
                </c:pt>
                <c:pt idx="23">
                  <c:v> </c:v>
                </c:pt>
                <c:pt idx="24">
                  <c:v> 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09-16-2026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 </c:v>
                </c:pt>
                <c:pt idx="33">
                  <c:v> </c:v>
                </c:pt>
                <c:pt idx="34">
                  <c:v> </c:v>
                </c:pt>
                <c:pt idx="35">
                  <c:v>09-23-2026</c:v>
                </c:pt>
                <c:pt idx="36">
                  <c:v> </c:v>
                </c:pt>
                <c:pt idx="37">
                  <c:v> </c:v>
                </c:pt>
                <c:pt idx="38">
                  <c:v> </c:v>
                </c:pt>
                <c:pt idx="39">
                  <c:v> </c:v>
                </c:pt>
                <c:pt idx="40">
                  <c:v> </c:v>
                </c:pt>
                <c:pt idx="41">
                  <c:v> </c:v>
                </c:pt>
                <c:pt idx="42">
                  <c:v>09-30-2026</c:v>
                </c:pt>
                <c:pt idx="43">
                  <c:v> </c:v>
                </c:pt>
                <c:pt idx="44">
                  <c:v> </c:v>
                </c:pt>
              </c:strCache>
            </c:strRef>
          </c:cat>
          <c:val>
            <c:numRef>
              <c:f>Sheet1!$B$2:$B$46</c:f>
              <c:numCache>
                <c:formatCode>General</c:formatCode>
                <c:ptCount val="45"/>
                <c:pt idx="0">
                  <c:v>1</c:v>
                </c:pt>
                <c:pt idx="1">
                  <c:v>38</c:v>
                </c:pt>
                <c:pt idx="2">
                  <c:v>3</c:v>
                </c:pt>
                <c:pt idx="3">
                  <c:v>1</c:v>
                </c:pt>
                <c:pt idx="4">
                  <c:v>0</c:v>
                </c:pt>
                <c:pt idx="5">
                  <c:v>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4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3</c:v>
                </c:pt>
                <c:pt idx="27">
                  <c:v>1</c:v>
                </c:pt>
                <c:pt idx="28">
                  <c:v>2</c:v>
                </c:pt>
                <c:pt idx="29">
                  <c:v>15</c:v>
                </c:pt>
                <c:pt idx="30">
                  <c:v>0</c:v>
                </c:pt>
                <c:pt idx="31">
                  <c:v>0</c:v>
                </c:pt>
                <c:pt idx="32">
                  <c:v>1</c:v>
                </c:pt>
                <c:pt idx="33">
                  <c:v>3</c:v>
                </c:pt>
                <c:pt idx="34">
                  <c:v>1</c:v>
                </c:pt>
                <c:pt idx="35">
                  <c:v>2</c:v>
                </c:pt>
                <c:pt idx="36">
                  <c:v>2</c:v>
                </c:pt>
                <c:pt idx="37">
                  <c:v>0</c:v>
                </c:pt>
                <c:pt idx="38">
                  <c:v>1</c:v>
                </c:pt>
                <c:pt idx="39">
                  <c:v>0</c:v>
                </c:pt>
                <c:pt idx="40">
                  <c:v>1</c:v>
                </c:pt>
                <c:pt idx="41">
                  <c:v>0</c:v>
                </c:pt>
                <c:pt idx="42">
                  <c:v>0</c:v>
                </c:pt>
                <c:pt idx="43">
                  <c:v>1</c:v>
                </c:pt>
                <c:pt idx="4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766-7A42-9A40-67AEEE07BC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Average</c:v>
                </c:pt>
              </c:strCache>
            </c:strRef>
          </c:tx>
          <c:spPr>
            <a:ln w="15875">
              <a:solidFill>
                <a:srgbClr val="C7D2E3"/>
              </a:solidFill>
              <a:prstDash val="dash"/>
            </a:ln>
          </c:spPr>
          <c:marker>
            <c:symbol val="none"/>
          </c:marker>
          <c:cat>
            <c:strRef>
              <c:f>Sheet1!$A$2:$A$46</c:f>
              <c:strCache>
                <c:ptCount val="45"/>
                <c:pt idx="0">
                  <c:v>08-19-2026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08-26-2026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09-02-2026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  <c:pt idx="21">
                  <c:v>09-09-2026</c:v>
                </c:pt>
                <c:pt idx="22">
                  <c:v> </c:v>
                </c:pt>
                <c:pt idx="23">
                  <c:v> </c:v>
                </c:pt>
                <c:pt idx="24">
                  <c:v> </c:v>
                </c:pt>
                <c:pt idx="25">
                  <c:v> </c:v>
                </c:pt>
                <c:pt idx="26">
                  <c:v> </c:v>
                </c:pt>
                <c:pt idx="27">
                  <c:v> </c:v>
                </c:pt>
                <c:pt idx="28">
                  <c:v>09-16-2026</c:v>
                </c:pt>
                <c:pt idx="29">
                  <c:v> </c:v>
                </c:pt>
                <c:pt idx="30">
                  <c:v> </c:v>
                </c:pt>
                <c:pt idx="31">
                  <c:v> </c:v>
                </c:pt>
                <c:pt idx="32">
                  <c:v> </c:v>
                </c:pt>
                <c:pt idx="33">
                  <c:v> </c:v>
                </c:pt>
                <c:pt idx="34">
                  <c:v> </c:v>
                </c:pt>
                <c:pt idx="35">
                  <c:v>09-23-2026</c:v>
                </c:pt>
                <c:pt idx="36">
                  <c:v> </c:v>
                </c:pt>
                <c:pt idx="37">
                  <c:v> </c:v>
                </c:pt>
                <c:pt idx="38">
                  <c:v> </c:v>
                </c:pt>
                <c:pt idx="39">
                  <c:v> </c:v>
                </c:pt>
                <c:pt idx="40">
                  <c:v> </c:v>
                </c:pt>
                <c:pt idx="41">
                  <c:v> </c:v>
                </c:pt>
                <c:pt idx="42">
                  <c:v>09-30-2026</c:v>
                </c:pt>
                <c:pt idx="43">
                  <c:v> </c:v>
                </c:pt>
                <c:pt idx="44">
                  <c:v> </c:v>
                </c:pt>
              </c:strCache>
            </c:strRef>
          </c:cat>
          <c:val>
            <c:numRef>
              <c:f>Sheet1!$C$2:$C$46</c:f>
              <c:numCache>
                <c:formatCode>General</c:formatCode>
                <c:ptCount val="45"/>
                <c:pt idx="0">
                  <c:v>2.04</c:v>
                </c:pt>
                <c:pt idx="1">
                  <c:v>2.04</c:v>
                </c:pt>
                <c:pt idx="2">
                  <c:v>2.04</c:v>
                </c:pt>
                <c:pt idx="3">
                  <c:v>2.04</c:v>
                </c:pt>
                <c:pt idx="4">
                  <c:v>2.04</c:v>
                </c:pt>
                <c:pt idx="5">
                  <c:v>2.04</c:v>
                </c:pt>
                <c:pt idx="6">
                  <c:v>2.04</c:v>
                </c:pt>
                <c:pt idx="7">
                  <c:v>2.04</c:v>
                </c:pt>
                <c:pt idx="8">
                  <c:v>2.04</c:v>
                </c:pt>
                <c:pt idx="9">
                  <c:v>2.04</c:v>
                </c:pt>
                <c:pt idx="10">
                  <c:v>2.04</c:v>
                </c:pt>
                <c:pt idx="11">
                  <c:v>2.04</c:v>
                </c:pt>
                <c:pt idx="12">
                  <c:v>2.04</c:v>
                </c:pt>
                <c:pt idx="13">
                  <c:v>2.04</c:v>
                </c:pt>
                <c:pt idx="14">
                  <c:v>2.04</c:v>
                </c:pt>
                <c:pt idx="15">
                  <c:v>2.04</c:v>
                </c:pt>
                <c:pt idx="16">
                  <c:v>2.04</c:v>
                </c:pt>
                <c:pt idx="17">
                  <c:v>2.04</c:v>
                </c:pt>
                <c:pt idx="18">
                  <c:v>2.04</c:v>
                </c:pt>
                <c:pt idx="19">
                  <c:v>2.04</c:v>
                </c:pt>
                <c:pt idx="20">
                  <c:v>2.04</c:v>
                </c:pt>
                <c:pt idx="21">
                  <c:v>2.04</c:v>
                </c:pt>
                <c:pt idx="22">
                  <c:v>2.04</c:v>
                </c:pt>
                <c:pt idx="23">
                  <c:v>2.04</c:v>
                </c:pt>
                <c:pt idx="24">
                  <c:v>2.04</c:v>
                </c:pt>
                <c:pt idx="25">
                  <c:v>2.04</c:v>
                </c:pt>
                <c:pt idx="26">
                  <c:v>2.04</c:v>
                </c:pt>
                <c:pt idx="27">
                  <c:v>2.04</c:v>
                </c:pt>
                <c:pt idx="28">
                  <c:v>2.04</c:v>
                </c:pt>
                <c:pt idx="29">
                  <c:v>2.04</c:v>
                </c:pt>
                <c:pt idx="30">
                  <c:v>2.04</c:v>
                </c:pt>
                <c:pt idx="31">
                  <c:v>2.04</c:v>
                </c:pt>
                <c:pt idx="32">
                  <c:v>2.04</c:v>
                </c:pt>
                <c:pt idx="33">
                  <c:v>2.04</c:v>
                </c:pt>
                <c:pt idx="34">
                  <c:v>2.04</c:v>
                </c:pt>
                <c:pt idx="35">
                  <c:v>2.04</c:v>
                </c:pt>
                <c:pt idx="36">
                  <c:v>2.04</c:v>
                </c:pt>
                <c:pt idx="37">
                  <c:v>2.04</c:v>
                </c:pt>
                <c:pt idx="38">
                  <c:v>2.04</c:v>
                </c:pt>
                <c:pt idx="39">
                  <c:v>2.04</c:v>
                </c:pt>
                <c:pt idx="40">
                  <c:v>2.04</c:v>
                </c:pt>
                <c:pt idx="41">
                  <c:v>2.04</c:v>
                </c:pt>
                <c:pt idx="42">
                  <c:v>2.04</c:v>
                </c:pt>
                <c:pt idx="43">
                  <c:v>2.04</c:v>
                </c:pt>
                <c:pt idx="44">
                  <c:v>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766-7A42-9A40-67AEEE07BC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C8CA8"/>
            </a:solidFill>
          </a:ln>
        </c:spPr>
        <c:txPr>
          <a:bodyPr rot="-5400000" vert="horz"/>
          <a:lstStyle/>
          <a:p>
            <a:pPr>
              <a:defRPr sz="10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"/>
          <c:min val="0"/>
        </c:scaling>
        <c:delete val="0"/>
        <c:axPos val="l"/>
        <c:majorGridlines>
          <c:spPr>
            <a:ln w="6350">
              <a:solidFill>
                <a:srgbClr val="333B4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  <c:majorUnit val="5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C7D2E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CBBAD-33FD-2F4E-BB39-0722A060C76B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28BA8-23EA-EC4D-AF93-1B2AED76EF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4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123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962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760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3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410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4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0672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055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28BA8-23EA-EC4D-AF93-1B2AED76EF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605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6415506" y="-2228631"/>
            <a:ext cx="16021044" cy="136779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itle"/>
          <p:cNvSpPr txBox="1"/>
          <p:nvPr/>
        </p:nvSpPr>
        <p:spPr>
          <a:xfrm>
            <a:off x="609600" y="2450000"/>
            <a:ext cx="109728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09600" y="3700000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 dirty="0">
                <a:solidFill>
                  <a:srgbClr val="C7D2E3"/>
                </a:solidFill>
              </a:rPr>
              <a:t>As of 10-0</a:t>
            </a:r>
            <a:r>
              <a:rPr lang="en-US" sz="2000" b="0" i="0" dirty="0">
                <a:solidFill>
                  <a:srgbClr val="C7D2E3"/>
                </a:solidFill>
              </a:rPr>
              <a:t>5</a:t>
            </a:r>
            <a:r>
              <a:rPr sz="2000" b="0" i="0" dirty="0">
                <a:solidFill>
                  <a:srgbClr val="C7D2E3"/>
                </a:solidFill>
              </a:rPr>
              <a:t>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200" b="1" i="0" dirty="0">
                <a:solidFill>
                  <a:srgbClr val="38BDF8"/>
                </a:solidFill>
              </a:rPr>
              <a:t>SUMMARY</a:t>
            </a:r>
            <a:endParaRPr sz="1200" b="1" i="0" dirty="0">
              <a:solidFill>
                <a:srgbClr val="38BDF8"/>
              </a:solidFill>
            </a:endParaRP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What We Offer: Agent Validation, Made Defensible</a:t>
            </a:r>
          </a:p>
        </p:txBody>
      </p:sp>
      <p:sp>
        <p:nvSpPr>
          <p:cNvPr id="8" name="Intro"/>
          <p:cNvSpPr txBox="1"/>
          <p:nvPr/>
        </p:nvSpPr>
        <p:spPr>
          <a:xfrm>
            <a:off x="609600" y="1650000"/>
            <a:ext cx="6900000" cy="1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 i="0">
                <a:solidFill>
                  <a:srgbClr val="C7D2E3"/>
                </a:solidFill>
              </a:rPr>
              <a:t>How do you know your agent is doing what it's supposed to? For most teams, the honest answer is a gut check, not a number.</a:t>
            </a:r>
          </a:p>
        </p:txBody>
      </p:sp>
      <p:sp>
        <p:nvSpPr>
          <p:cNvPr id="9" name="Tagline"/>
          <p:cNvSpPr txBox="1"/>
          <p:nvPr/>
        </p:nvSpPr>
        <p:spPr>
          <a:xfrm>
            <a:off x="609600" y="2950000"/>
            <a:ext cx="69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Point it at a trace, get back a defensible answer.</a:t>
            </a:r>
          </a:p>
        </p:txBody>
      </p:sp>
      <p:sp>
        <p:nvSpPr>
          <p:cNvPr id="10" name="Positioning"/>
          <p:cNvSpPr txBox="1"/>
          <p:nvPr/>
        </p:nvSpPr>
        <p:spPr>
          <a:xfrm>
            <a:off x="609600" y="4000000"/>
            <a:ext cx="69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1">
                <a:solidFill>
                  <a:srgbClr val="C7D2E3"/>
                </a:solidFill>
              </a:rPr>
              <a:t>Easy to start, with smart defaults that work for most teams. Not the top-tier data-science scorer.</a:t>
            </a:r>
          </a:p>
        </p:txBody>
      </p:sp>
      <p:sp>
        <p:nvSpPr>
          <p:cNvPr id="11" name="Problem"/>
          <p:cNvSpPr txBox="1"/>
          <p:nvPr/>
        </p:nvSpPr>
        <p:spPr>
          <a:xfrm>
            <a:off x="609600" y="4800000"/>
            <a:ext cx="69000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 dirty="0">
                <a:solidFill>
                  <a:srgbClr val="C7D2E3"/>
                </a:solidFill>
              </a:rPr>
              <a:t>The problem</a:t>
            </a:r>
            <a:r>
              <a:rPr sz="1500" b="0" i="0" dirty="0">
                <a:solidFill>
                  <a:srgbClr val="C7D2E3"/>
                </a:solidFill>
              </a:rPr>
              <a:t>: customers don't know what to test, how, or whether it's enough. Fear leads to ship paralysis. Other tools say go learn to be a data scientist.</a:t>
            </a:r>
          </a:p>
        </p:txBody>
      </p:sp>
      <p:sp>
        <p:nvSpPr>
          <p:cNvPr id="12" name="So what card"/>
          <p:cNvSpPr/>
          <p:nvPr/>
        </p:nvSpPr>
        <p:spPr>
          <a:xfrm>
            <a:off x="7809600" y="1650000"/>
            <a:ext cx="3772800" cy="310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o what"/>
          <p:cNvSpPr txBox="1"/>
          <p:nvPr/>
        </p:nvSpPr>
        <p:spPr>
          <a:xfrm>
            <a:off x="8059600" y="1900000"/>
            <a:ext cx="3272800" cy="2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38BDF8"/>
                </a:solidFill>
              </a:rPr>
              <a:t>So what:</a:t>
            </a:r>
          </a:p>
          <a:p>
            <a:r>
              <a:rPr sz="2200" b="1" i="0">
                <a:solidFill>
                  <a:srgbClr val="FFFFFF"/>
                </a:solidFill>
              </a:rPr>
              <a:t>someone has to decide whether each agent can go to production. Today, they have no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Trace in, zero setup</a:t>
            </a:r>
          </a:p>
          <a:p>
            <a:r>
              <a:rPr sz="1600" b="0" i="0">
                <a:solidFill>
                  <a:srgbClr val="C7D2E3"/>
                </a:solidFill>
              </a:rPr>
              <a:t>any agent, any vendor, any framework. AgentScore picks the right evals from 40+ for you. No data science required.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0-100 score + verdict</a:t>
            </a:r>
          </a:p>
          <a:p>
            <a:r>
              <a:rPr sz="1600" b="0" i="0">
                <a:solidFill>
                  <a:srgbClr val="C7D2E3"/>
                </a:solidFill>
              </a:rPr>
              <a:t>a ship / warn / block call that answers "can this go to production?"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Root-cause attribution</a:t>
            </a:r>
          </a:p>
          <a:p>
            <a:r>
              <a:rPr sz="1600" b="0" i="0">
                <a:solidFill>
                  <a:srgbClr val="C7D2E3"/>
                </a:solidFill>
              </a:rPr>
              <a:t>down to the span, with a suggested fix.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Tiered evidence model</a:t>
            </a:r>
          </a:p>
          <a:p>
            <a:r>
              <a:rPr sz="1600" b="0" i="0">
                <a:solidFill>
                  <a:srgbClr val="C7D2E3"/>
                </a:solidFill>
              </a:rPr>
              <a:t>deterministic checks, a judge with confidence intervals, golden-dataset back-testing. Audit-ready, not a black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Customer Value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Ship in days, not weeks</a:t>
            </a:r>
          </a:p>
          <a:p>
            <a:r>
              <a:rPr sz="1600" b="0" i="0">
                <a:solidFill>
                  <a:srgbClr val="C7D2E3"/>
                </a:solidFill>
              </a:rPr>
              <a:t>know when you're ready, instead of running on vibes. Teams with evals upgrade in days. Teams without face weeks of testing.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A defensible verdict</a:t>
            </a:r>
          </a:p>
          <a:p>
            <a:r>
              <a:rPr sz="1600" b="0" i="0">
                <a:solidFill>
                  <a:srgbClr val="C7D2E3"/>
                </a:solidFill>
              </a:rPr>
              <a:t>replaces "seems fine to me" with one ship / warn / block call leadership can act on, on one yardstick across every team.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A fix, not just a flag</a:t>
            </a:r>
          </a:p>
          <a:p>
            <a:r>
              <a:rPr sz="1600" b="0" i="0">
                <a:solidFill>
                  <a:srgbClr val="C7D2E3"/>
                </a:solidFill>
              </a:rPr>
              <a:t>root-cause attribution down to the span turns debugging into a fix, not a re-run.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No AI team required</a:t>
            </a:r>
          </a:p>
          <a:p>
            <a:r>
              <a:rPr sz="1600" b="0" i="0">
                <a:solidFill>
                  <a:srgbClr val="C7D2E3"/>
                </a:solidFill>
              </a:rPr>
              <a:t>zero-setup profiling gives rigorous coverage without in-house eval expertise.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WHAT WE OFFER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Where Tricentis Wins</a:t>
            </a:r>
          </a:p>
        </p:txBody>
      </p:sp>
      <p:sp>
        <p:nvSpPr>
          <p:cNvPr id="8" name="Card 1"/>
          <p:cNvSpPr/>
          <p:nvPr/>
        </p:nvSpPr>
        <p:spPr>
          <a:xfrm>
            <a:off x="6096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ard text 1"/>
          <p:cNvSpPr txBox="1"/>
          <p:nvPr/>
        </p:nvSpPr>
        <p:spPr>
          <a:xfrm>
            <a:off x="8296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We own the gatekeepers</a:t>
            </a:r>
          </a:p>
          <a:p>
            <a:r>
              <a:rPr sz="1600" b="0" i="0">
                <a:solidFill>
                  <a:srgbClr val="C7D2E3"/>
                </a:solidFill>
              </a:rPr>
              <a:t>the people who decide whether an agent can go to production are already Tricentis customers. No one is serving them with a tool.</a:t>
            </a:r>
          </a:p>
        </p:txBody>
      </p:sp>
      <p:sp>
        <p:nvSpPr>
          <p:cNvPr id="10" name="Card 2"/>
          <p:cNvSpPr/>
          <p:nvPr/>
        </p:nvSpPr>
        <p:spPr>
          <a:xfrm>
            <a:off x="6221000" y="16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rd text 2"/>
          <p:cNvSpPr txBox="1"/>
          <p:nvPr/>
        </p:nvSpPr>
        <p:spPr>
          <a:xfrm>
            <a:off x="6441000" y="18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We complete the quality loop</a:t>
            </a:r>
          </a:p>
          <a:p>
            <a:r>
              <a:rPr sz="1600" b="0" i="0">
                <a:solidFill>
                  <a:srgbClr val="C7D2E3"/>
                </a:solidFill>
              </a:rPr>
              <a:t>Tosca and qTest cover code. AgentScore extends the same trust to the agents that code powers.</a:t>
            </a:r>
          </a:p>
        </p:txBody>
      </p:sp>
      <p:sp>
        <p:nvSpPr>
          <p:cNvPr id="12" name="Card 3"/>
          <p:cNvSpPr/>
          <p:nvPr/>
        </p:nvSpPr>
        <p:spPr>
          <a:xfrm>
            <a:off x="6096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 text 3"/>
          <p:cNvSpPr txBox="1"/>
          <p:nvPr/>
        </p:nvSpPr>
        <p:spPr>
          <a:xfrm>
            <a:off x="8296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Competitors prove the demand</a:t>
            </a:r>
          </a:p>
          <a:p>
            <a:r>
              <a:rPr sz="1600" b="0" i="0">
                <a:solidFill>
                  <a:srgbClr val="C7D2E3"/>
                </a:solidFill>
              </a:rPr>
              <a:t>rivals already charge a premium for eval runs, but they serve expert eval engineers. We serve the people who sign off on production.</a:t>
            </a:r>
          </a:p>
        </p:txBody>
      </p:sp>
      <p:sp>
        <p:nvSpPr>
          <p:cNvPr id="14" name="Card 4"/>
          <p:cNvSpPr/>
          <p:nvPr/>
        </p:nvSpPr>
        <p:spPr>
          <a:xfrm>
            <a:off x="6221000" y="4050000"/>
            <a:ext cx="5361400" cy="215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rd text 4"/>
          <p:cNvSpPr txBox="1"/>
          <p:nvPr/>
        </p:nvSpPr>
        <p:spPr>
          <a:xfrm>
            <a:off x="6441000" y="4250000"/>
            <a:ext cx="4921400" cy="18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FFFFFF"/>
                </a:solidFill>
              </a:rPr>
              <a:t>Market signal</a:t>
            </a:r>
          </a:p>
          <a:p>
            <a:r>
              <a:rPr sz="1600" b="0" i="0">
                <a:solidFill>
                  <a:srgbClr val="C7D2E3"/>
                </a:solidFill>
              </a:rPr>
              <a:t>5% to 40% of enterprise apps get task-specific agents (2025 to end of 2026). Only 1 in 5 companies has a mature governance model for autonomous agents. 40%+ of agentic AI projects will be canceled by 2027 (Gartner).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Five ready for beta; two blockers hold them</a:t>
            </a:r>
          </a:p>
        </p:txBody>
      </p:sp>
      <p:sp>
        <p:nvSpPr>
          <p:cNvPr id="8" name="Ready card"/>
          <p:cNvSpPr/>
          <p:nvPr/>
        </p:nvSpPr>
        <p:spPr>
          <a:xfrm>
            <a:off x="609600" y="1650000"/>
            <a:ext cx="3600000" cy="350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ady text"/>
          <p:cNvSpPr txBox="1"/>
          <p:nvPr/>
        </p:nvSpPr>
        <p:spPr>
          <a:xfrm>
            <a:off x="909600" y="1900000"/>
            <a:ext cx="3000000" cy="31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9600" b="1">
                <a:solidFill>
                  <a:srgbClr val="4ADE80"/>
                </a:solidFill>
              </a:rPr>
              <a:t>5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</a:rPr>
              <a:t>companies ready for beta today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C7D2E3"/>
                </a:solidFill>
              </a:rPr>
              <a:t>Wolters Kluwer, Tritusa, Aptiv, L'Oreal, Accenture</a:t>
            </a:r>
          </a:p>
        </p:txBody>
      </p:sp>
      <p:sp>
        <p:nvSpPr>
          <p:cNvPr id="10" name="Blocker card 1"/>
          <p:cNvSpPr/>
          <p:nvPr/>
        </p:nvSpPr>
        <p:spPr>
          <a:xfrm>
            <a:off x="4459600" y="1650000"/>
            <a:ext cx="7122800" cy="1625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locker text 1"/>
          <p:cNvSpPr txBox="1"/>
          <p:nvPr/>
        </p:nvSpPr>
        <p:spPr>
          <a:xfrm>
            <a:off x="4759600" y="1870000"/>
            <a:ext cx="6522800" cy="132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87171"/>
                </a:solidFill>
              </a:rPr>
              <a:t>BLOCKER 1</a:t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</a:rPr>
              <a:t>Production database</a:t>
            </a:r>
          </a:p>
          <a:p>
            <a:pPr>
              <a:spcAft>
                <a:spcPts val="0"/>
              </a:spcAft>
            </a:pPr>
            <a:r>
              <a:rPr sz="1700" b="0">
                <a:solidFill>
                  <a:srgbClr val="C7D2E3"/>
                </a:solidFill>
              </a:rPr>
              <a:t>SRE is still working to stabilize the database for the move to production.</a:t>
            </a:r>
          </a:p>
        </p:txBody>
      </p:sp>
      <p:sp>
        <p:nvSpPr>
          <p:cNvPr id="12" name="Blocker card 2"/>
          <p:cNvSpPr/>
          <p:nvPr/>
        </p:nvSpPr>
        <p:spPr>
          <a:xfrm>
            <a:off x="4459600" y="3525000"/>
            <a:ext cx="7122800" cy="1625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locker text 2"/>
          <p:cNvSpPr txBox="1"/>
          <p:nvPr/>
        </p:nvSpPr>
        <p:spPr>
          <a:xfrm>
            <a:off x="4759600" y="3745000"/>
            <a:ext cx="6522800" cy="11746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 dirty="0">
                <a:solidFill>
                  <a:srgbClr val="F87171"/>
                </a:solidFill>
              </a:rPr>
              <a:t>BLOCKER 2</a:t>
            </a:r>
          </a:p>
          <a:p>
            <a:pPr>
              <a:spcAft>
                <a:spcPts val="600"/>
              </a:spcAft>
            </a:pPr>
            <a:r>
              <a:rPr sz="2200" b="1" dirty="0">
                <a:solidFill>
                  <a:srgbClr val="FFFFFF"/>
                </a:solidFill>
              </a:rPr>
              <a:t>API gateway</a:t>
            </a:r>
          </a:p>
          <a:p>
            <a:pPr>
              <a:spcAft>
                <a:spcPts val="0"/>
              </a:spcAft>
            </a:pPr>
            <a:r>
              <a:rPr sz="1700" b="0" dirty="0">
                <a:solidFill>
                  <a:srgbClr val="C7D2E3"/>
                </a:solidFill>
              </a:rPr>
              <a:t>The gateway has to be promoted to production to provide access to the </a:t>
            </a:r>
            <a:r>
              <a:rPr sz="1700" b="0" dirty="0" err="1">
                <a:solidFill>
                  <a:srgbClr val="C7D2E3"/>
                </a:solidFill>
              </a:rPr>
              <a:t>backoffice</a:t>
            </a:r>
            <a:r>
              <a:rPr sz="1700" b="0" dirty="0">
                <a:solidFill>
                  <a:srgbClr val="C7D2E3"/>
                </a:solidFill>
              </a:rPr>
              <a:t>.</a:t>
            </a:r>
            <a:r>
              <a:rPr lang="en-US" sz="1700" b="0" dirty="0">
                <a:solidFill>
                  <a:srgbClr val="C7D2E3"/>
                </a:solidFill>
              </a:rPr>
              <a:t> </a:t>
            </a:r>
            <a:r>
              <a:rPr lang="en-US" sz="1700" dirty="0">
                <a:solidFill>
                  <a:srgbClr val="C7D2E3"/>
                </a:solidFill>
              </a:rPr>
              <a:t>The Sephirot team is looking into this.</a:t>
            </a:r>
            <a:endParaRPr sz="1700" b="0" dirty="0">
              <a:solidFill>
                <a:srgbClr val="C7D2E3"/>
              </a:solidFill>
            </a:endParaRPr>
          </a:p>
        </p:txBody>
      </p:sp>
      <p:sp>
        <p:nvSpPr>
          <p:cNvPr id="14" name="Takeaway"/>
          <p:cNvSpPr txBox="1"/>
          <p:nvPr/>
        </p:nvSpPr>
        <p:spPr>
          <a:xfrm>
            <a:off x="609600" y="5480000"/>
            <a:ext cx="10972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</a:rPr>
              <a:t>Demand is not the constraint. The move to production 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3482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78 interested, 5 ready for beta, none live</a:t>
            </a:r>
          </a:p>
        </p:txBody>
      </p:sp>
      <p:sp>
        <p:nvSpPr>
          <p:cNvPr id="523" name="Bullets"/>
          <p:cNvSpPr txBox="1"/>
          <p:nvPr/>
        </p:nvSpPr>
        <p:spPr>
          <a:xfrm>
            <a:off x="609600" y="4860000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Clr>
                <a:srgbClr val="38BDF8"/>
              </a:buClr>
              <a:buFont typeface="Arial"/>
              <a:buChar char="•"/>
            </a:pPr>
            <a:r>
              <a:rPr sz="1600" b="0" i="0" dirty="0">
                <a:solidFill>
                  <a:srgbClr val="FFFFFF"/>
                </a:solidFill>
              </a:rPr>
              <a:t>The signal is strong inbound and consistent praise for root caus</a:t>
            </a:r>
            <a:r>
              <a:rPr lang="en-US" sz="1600" b="0" i="0">
                <a:solidFill>
                  <a:srgbClr val="FFFFFF"/>
                </a:solidFill>
              </a:rPr>
              <a:t>e attribution</a:t>
            </a:r>
            <a:endParaRPr sz="1600" b="0" i="0" dirty="0">
              <a:solidFill>
                <a:srgbClr val="FFFFFF"/>
              </a:solidFill>
            </a:endParaRPr>
          </a:p>
        </p:txBody>
      </p:sp>
      <p:sp>
        <p:nvSpPr>
          <p:cNvPr id="501" name="Flow replied"/>
          <p:cNvSpPr/>
          <p:nvPr/>
        </p:nvSpPr>
        <p:spPr>
          <a:xfrm>
            <a:off x="729600" y="2200000"/>
            <a:ext cx="2210000" cy="393400"/>
          </a:xfrm>
          <a:custGeom>
            <a:avLst/>
            <a:gdLst/>
            <a:ahLst/>
            <a:cxnLst/>
            <a:rect l="0" t="0" r="r" b="b"/>
            <a:pathLst>
              <a:path w="2210000" h="3934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393400"/>
                </a:lnTo>
                <a:cubicBezTo>
                  <a:pt x="1105000" y="393400"/>
                  <a:pt x="1105000" y="393400"/>
                  <a:pt x="0" y="393400"/>
                </a:cubicBezTo>
                <a:close/>
              </a:path>
            </a:pathLst>
          </a:custGeom>
          <a:solidFill>
            <a:srgbClr val="38BDF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" name="Flow no reply"/>
          <p:cNvSpPr/>
          <p:nvPr/>
        </p:nvSpPr>
        <p:spPr>
          <a:xfrm>
            <a:off x="729600" y="2593400"/>
            <a:ext cx="2210000" cy="2088400"/>
          </a:xfrm>
          <a:custGeom>
            <a:avLst/>
            <a:gdLst/>
            <a:ahLst/>
            <a:cxnLst/>
            <a:rect l="0" t="0" r="r" b="b"/>
            <a:pathLst>
              <a:path w="2210000" h="20884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2088400"/>
                </a:lnTo>
                <a:cubicBezTo>
                  <a:pt x="1105000" y="2088400"/>
                  <a:pt x="1105000" y="1798400"/>
                  <a:pt x="0" y="17984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" name="Flow demos"/>
          <p:cNvSpPr/>
          <p:nvPr/>
        </p:nvSpPr>
        <p:spPr>
          <a:xfrm>
            <a:off x="3059600" y="2200000"/>
            <a:ext cx="2210000" cy="337200"/>
          </a:xfrm>
          <a:custGeom>
            <a:avLst/>
            <a:gdLst/>
            <a:ahLst/>
            <a:cxnLst/>
            <a:rect l="0" t="0" r="r" b="b"/>
            <a:pathLst>
              <a:path w="2210000" h="3372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337200"/>
                </a:lnTo>
                <a:cubicBezTo>
                  <a:pt x="1105000" y="337200"/>
                  <a:pt x="1105000" y="337200"/>
                  <a:pt x="0" y="337200"/>
                </a:cubicBezTo>
                <a:close/>
              </a:path>
            </a:pathLst>
          </a:custGeom>
          <a:solidFill>
            <a:srgbClr val="2DD4BF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" name="Flow replied no demo"/>
          <p:cNvSpPr/>
          <p:nvPr/>
        </p:nvSpPr>
        <p:spPr>
          <a:xfrm>
            <a:off x="3059600" y="2537200"/>
            <a:ext cx="2210000" cy="346200"/>
          </a:xfrm>
          <a:custGeom>
            <a:avLst/>
            <a:gdLst/>
            <a:ahLst/>
            <a:cxnLst/>
            <a:rect l="0" t="0" r="r" b="b"/>
            <a:pathLst>
              <a:path w="2210000" h="3462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346200"/>
                </a:lnTo>
                <a:cubicBezTo>
                  <a:pt x="1105000" y="346200"/>
                  <a:pt x="1105000" y="56200"/>
                  <a:pt x="0" y="562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" name="Flow pending beta"/>
          <p:cNvSpPr/>
          <p:nvPr/>
        </p:nvSpPr>
        <p:spPr>
          <a:xfrm>
            <a:off x="5389600" y="2200000"/>
            <a:ext cx="2210000" cy="140500"/>
          </a:xfrm>
          <a:custGeom>
            <a:avLst/>
            <a:gdLst/>
            <a:ahLst/>
            <a:cxnLst/>
            <a:rect l="0" t="0" r="r" b="b"/>
            <a:pathLst>
              <a:path w="2210000" h="140500">
                <a:moveTo>
                  <a:pt x="0" y="0"/>
                </a:moveTo>
                <a:cubicBezTo>
                  <a:pt x="1105000" y="0"/>
                  <a:pt x="1105000" y="0"/>
                  <a:pt x="2210000" y="0"/>
                </a:cubicBezTo>
                <a:lnTo>
                  <a:pt x="2210000" y="140500"/>
                </a:lnTo>
                <a:cubicBezTo>
                  <a:pt x="1105000" y="140500"/>
                  <a:pt x="1105000" y="140500"/>
                  <a:pt x="0" y="140500"/>
                </a:cubicBezTo>
                <a:close/>
              </a:path>
            </a:pathLst>
          </a:custGeom>
          <a:solidFill>
            <a:srgbClr val="4ADE80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Flow demo not in beta"/>
          <p:cNvSpPr/>
          <p:nvPr/>
        </p:nvSpPr>
        <p:spPr>
          <a:xfrm>
            <a:off x="5389600" y="2340500"/>
            <a:ext cx="2210000" cy="486700"/>
          </a:xfrm>
          <a:custGeom>
            <a:avLst/>
            <a:gdLst/>
            <a:ahLst/>
            <a:cxnLst/>
            <a:rect l="0" t="0" r="r" b="b"/>
            <a:pathLst>
              <a:path w="2210000" h="486700">
                <a:moveTo>
                  <a:pt x="0" y="0"/>
                </a:moveTo>
                <a:cubicBezTo>
                  <a:pt x="1105000" y="0"/>
                  <a:pt x="1105000" y="290000"/>
                  <a:pt x="2210000" y="290000"/>
                </a:cubicBezTo>
                <a:lnTo>
                  <a:pt x="2210000" y="486700"/>
                </a:lnTo>
                <a:cubicBezTo>
                  <a:pt x="1105000" y="486700"/>
                  <a:pt x="1105000" y="196700"/>
                  <a:pt x="0" y="196700"/>
                </a:cubicBezTo>
                <a:close/>
              </a:path>
            </a:pathLst>
          </a:custGeom>
          <a:solidFill>
            <a:srgbClr val="7C8CA8">
              <a:alpha val="5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Node interested"/>
          <p:cNvSpPr/>
          <p:nvPr/>
        </p:nvSpPr>
        <p:spPr>
          <a:xfrm>
            <a:off x="609600" y="2200000"/>
            <a:ext cx="120000" cy="2191800"/>
          </a:xfrm>
          <a:prstGeom prst="rect">
            <a:avLst/>
          </a:prstGeom>
          <a:solidFill>
            <a:srgbClr val="1D6FD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8" name="Node replied"/>
          <p:cNvSpPr/>
          <p:nvPr/>
        </p:nvSpPr>
        <p:spPr>
          <a:xfrm>
            <a:off x="2939600" y="2200000"/>
            <a:ext cx="120000" cy="393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9" name="Node no reply"/>
          <p:cNvSpPr/>
          <p:nvPr/>
        </p:nvSpPr>
        <p:spPr>
          <a:xfrm>
            <a:off x="2939600" y="2883400"/>
            <a:ext cx="120000" cy="17984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Node demos"/>
          <p:cNvSpPr/>
          <p:nvPr/>
        </p:nvSpPr>
        <p:spPr>
          <a:xfrm>
            <a:off x="5269600" y="2200000"/>
            <a:ext cx="120000" cy="3372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Node replied no demo"/>
          <p:cNvSpPr/>
          <p:nvPr/>
        </p:nvSpPr>
        <p:spPr>
          <a:xfrm>
            <a:off x="5269600" y="2827200"/>
            <a:ext cx="120000" cy="562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Node pending"/>
          <p:cNvSpPr/>
          <p:nvPr/>
        </p:nvSpPr>
        <p:spPr>
          <a:xfrm>
            <a:off x="7599600" y="2200000"/>
            <a:ext cx="120000" cy="1405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Node not in beta"/>
          <p:cNvSpPr/>
          <p:nvPr/>
        </p:nvSpPr>
        <p:spPr>
          <a:xfrm>
            <a:off x="7599600" y="2630500"/>
            <a:ext cx="120000" cy="196700"/>
          </a:xfrm>
          <a:prstGeom prst="rect">
            <a:avLst/>
          </a:prstGeom>
          <a:solidFill>
            <a:srgbClr val="7C8C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Label interested"/>
          <p:cNvSpPr txBox="1"/>
          <p:nvPr/>
        </p:nvSpPr>
        <p:spPr>
          <a:xfrm>
            <a:off x="60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Interested: 78</a:t>
            </a:r>
          </a:p>
        </p:txBody>
      </p:sp>
      <p:sp>
        <p:nvSpPr>
          <p:cNvPr id="525" name="Label replied"/>
          <p:cNvSpPr txBox="1"/>
          <p:nvPr/>
        </p:nvSpPr>
        <p:spPr>
          <a:xfrm>
            <a:off x="293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Replied: 14</a:t>
            </a:r>
          </a:p>
        </p:txBody>
      </p:sp>
      <p:sp>
        <p:nvSpPr>
          <p:cNvPr id="526" name="Label no reply"/>
          <p:cNvSpPr txBox="1"/>
          <p:nvPr/>
        </p:nvSpPr>
        <p:spPr>
          <a:xfrm>
            <a:off x="3149600" y="3689528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 dirty="0">
                <a:solidFill>
                  <a:srgbClr val="C7D2E3"/>
                </a:solidFill>
              </a:rPr>
              <a:t>No reply: 64</a:t>
            </a:r>
          </a:p>
        </p:txBody>
      </p:sp>
      <p:sp>
        <p:nvSpPr>
          <p:cNvPr id="527" name="Label demos"/>
          <p:cNvSpPr txBox="1"/>
          <p:nvPr/>
        </p:nvSpPr>
        <p:spPr>
          <a:xfrm>
            <a:off x="526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Demos given: 10 (+2 scheduled)</a:t>
            </a:r>
          </a:p>
        </p:txBody>
      </p:sp>
      <p:sp>
        <p:nvSpPr>
          <p:cNvPr id="528" name="Label no demo"/>
          <p:cNvSpPr txBox="1"/>
          <p:nvPr/>
        </p:nvSpPr>
        <p:spPr>
          <a:xfrm>
            <a:off x="5459230" y="2762093"/>
            <a:ext cx="190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 dirty="0">
                <a:solidFill>
                  <a:srgbClr val="C7D2E3"/>
                </a:solidFill>
              </a:rPr>
              <a:t>Replied, no</a:t>
            </a:r>
            <a:endParaRPr lang="en-US" sz="1200" b="0" i="0" dirty="0">
              <a:solidFill>
                <a:srgbClr val="C7D2E3"/>
              </a:solidFill>
            </a:endParaRPr>
          </a:p>
          <a:p>
            <a:r>
              <a:rPr sz="1200" b="0" i="0" dirty="0">
                <a:solidFill>
                  <a:srgbClr val="C7D2E3"/>
                </a:solidFill>
              </a:rPr>
              <a:t>demo yet: 2</a:t>
            </a:r>
          </a:p>
        </p:txBody>
      </p:sp>
      <p:sp>
        <p:nvSpPr>
          <p:cNvPr id="529" name="Label pending"/>
          <p:cNvSpPr txBox="1"/>
          <p:nvPr/>
        </p:nvSpPr>
        <p:spPr>
          <a:xfrm>
            <a:off x="7599600" y="1780000"/>
            <a:ext cx="1900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Pending betas: 5</a:t>
            </a:r>
          </a:p>
        </p:txBody>
      </p:sp>
      <p:sp>
        <p:nvSpPr>
          <p:cNvPr id="530" name="Label not in beta"/>
          <p:cNvSpPr txBox="1"/>
          <p:nvPr/>
        </p:nvSpPr>
        <p:spPr>
          <a:xfrm>
            <a:off x="7789230" y="26253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C7D2E3"/>
                </a:solidFill>
              </a:rPr>
              <a:t>Demo done, not in beta: 5 (+2 scheduled)</a:t>
            </a:r>
          </a:p>
        </p:txBody>
      </p:sp>
      <p:sp>
        <p:nvSpPr>
          <p:cNvPr id="531" name="Label active"/>
          <p:cNvSpPr txBox="1"/>
          <p:nvPr/>
        </p:nvSpPr>
        <p:spPr>
          <a:xfrm>
            <a:off x="9929600" y="1780000"/>
            <a:ext cx="1900000" cy="23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</a:rPr>
              <a:t>Active betas: 0</a:t>
            </a:r>
          </a:p>
        </p:txBody>
      </p:sp>
      <p:sp>
        <p:nvSpPr>
          <p:cNvPr id="532" name="Active placeholder"/>
          <p:cNvSpPr/>
          <p:nvPr/>
        </p:nvSpPr>
        <p:spPr>
          <a:xfrm>
            <a:off x="9929600" y="2200000"/>
            <a:ext cx="1650000" cy="337200"/>
          </a:xfrm>
          <a:prstGeom prst="roundRect">
            <a:avLst/>
          </a:prstGeom>
          <a:noFill/>
          <a:ln w="19050">
            <a:solidFill>
              <a:srgbClr val="4ADE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ADE80"/>
                </a:solidFill>
              </a:rPr>
              <a:t>None live yet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8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10 demos: 5 pending beta, 5 working on gaps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113672"/>
              </p:ext>
            </p:extLst>
          </p:nvPr>
        </p:nvGraphicFramePr>
        <p:xfrm>
          <a:off x="609600" y="1500000"/>
          <a:ext cx="10972800" cy="4492000"/>
        </p:xfrm>
        <a:graphic>
          <a:graphicData uri="http://schemas.openxmlformats.org/drawingml/2006/table">
            <a:tbl>
              <a:tblPr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2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Account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Stage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What they want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Blocker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Next step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Wolters Kluwer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DE80"/>
                          </a:solidFill>
                        </a:rPr>
                        <a:t>Pending beta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Score agents outside Tricentis (FAB, Copilot)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Wants a pilot tenant and fleet-level scoring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Onboard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Tritusa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DE80"/>
                          </a:solidFill>
                        </a:rPr>
                        <a:t>Pending beta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Evaluate client agents for their assurance practice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Compliance flagging, alerting, co-sell answer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Onboard; answer co-sell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Aptiv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DE80"/>
                          </a:solidFill>
                        </a:rPr>
                        <a:t>Pending beta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Replace manual evals (Copilot Studio, Foundry, Gemini)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Needs onboarding requirements for architecture review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dirty="0">
                          <a:solidFill>
                            <a:srgbClr val="FFFFFF"/>
                          </a:solidFill>
                        </a:rPr>
                        <a:t>Onboard; s</a:t>
                      </a:r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end requirements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L'Oreal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DE80"/>
                          </a:solidFill>
                        </a:rPr>
                        <a:t>Pending beta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Replace manual eval of an </a:t>
                      </a:r>
                      <a:r>
                        <a:rPr lang="en-US" sz="1000" b="0" dirty="0">
                          <a:solidFill>
                            <a:srgbClr val="FFFFFF"/>
                          </a:solidFill>
                        </a:rPr>
                        <a:t>elastic search</a:t>
                      </a:r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 reconciliation agent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Needs a how-it-works video for their manager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FFFFFF"/>
                          </a:solidFill>
                        </a:rPr>
                        <a:t>Onboard</a:t>
                      </a:r>
                      <a:endParaRPr sz="1000" b="0" dirty="0">
                        <a:solidFill>
                          <a:srgbClr val="FFFFFF"/>
                        </a:solidFill>
                      </a:endParaRP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Accenture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DE80"/>
                          </a:solidFill>
                        </a:rPr>
                        <a:t>Pending beta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Agentic-AI testing for clients; delivers Meta POC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HCL and Accenture separately building a competing framework for Meta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Onboard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8BDF8"/>
                          </a:solidFill>
                        </a:rPr>
                        <a:t>Demo given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Test 4-5 supply chain agents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Self-hosted in Meta's AWS, internal LLM judge, legal review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Await Accenture evaluation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BearingPoint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8BDF8"/>
                          </a:solidFill>
                        </a:rPr>
                        <a:t>Demo given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Score their own qTest ATC agent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Tricentis agents hidden for IP; manager decision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Await manager decision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Workday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8BDF8"/>
                          </a:solidFill>
                        </a:rPr>
                        <a:t>Demo given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Validate Workday and Agentforce agents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QA does not see a testing tool; building own Agent Passport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Fix positioning and demo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Eaton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8BDF8"/>
                          </a:solidFill>
                        </a:rPr>
                        <a:t>Demo given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CI/CD quality gate for custom AI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CI/CD gate in progress; data-handling answer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Send answers and collateral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Love's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8BDF8"/>
                          </a:solidFill>
                        </a:rPr>
                        <a:t>Demo given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Tosca on-prem MCP; no agent evals yet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AgentScore is cloud only; they run on-prem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Send on-prem follow-up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Freddie Mac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94A3B8"/>
                          </a:solidFill>
                        </a:rPr>
                        <a:t>Sales conversation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Common yardstick for internal agents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None stated; no beta scheduled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Re-engage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9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Two demos this week; 64 await follow-up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9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llets"/>
          <p:cNvSpPr txBox="1"/>
          <p:nvPr/>
        </p:nvSpPr>
        <p:spPr>
          <a:xfrm>
            <a:off x="909600" y="1870000"/>
            <a:ext cx="10372800" cy="349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New Vision Software (Tosca partner): </a:t>
            </a:r>
            <a:r>
              <a:rPr sz="2000" b="0" i="0">
                <a:solidFill>
                  <a:srgbClr val="C7D2E3"/>
                </a:solidFill>
              </a:rPr>
              <a:t>demo scheduled 10-08-2026. Likely resale or an extension of their QA offering to clients.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Merito Solutions (partner): </a:t>
            </a:r>
            <a:r>
              <a:rPr sz="2000" b="0" i="0">
                <a:solidFill>
                  <a:srgbClr val="C7D2E3"/>
                </a:solidFill>
              </a:rPr>
              <a:t>demo scheduled 10-06-2026. Likely resale.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1" i="0">
                <a:solidFill>
                  <a:srgbClr val="FFFFFF"/>
                </a:solidFill>
              </a:rPr>
              <a:t>Stanza (AI-agent vendor): </a:t>
            </a:r>
            <a:r>
              <a:rPr sz="2000" b="0" i="0">
                <a:solidFill>
                  <a:srgbClr val="C7D2E3"/>
                </a:solidFill>
              </a:rPr>
              <a:t>replied. Likely QA of their own agents.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0" i="0">
                <a:solidFill>
                  <a:srgbClr val="C7D2E3"/>
                </a:solidFill>
              </a:rPr>
              <a:t>64 more companies are at "email sent" or "follow-up sent" (09-24-2026 and 10-05-2026), including Merck, Regeneron, McKesson, Boeing, Capgemini, Cummins, Home Depot, HP, Cargill, and Dominion Energy</a:t>
            </a:r>
          </a:p>
          <a:p>
            <a:pPr marL="285750" indent="-285750">
              <a:spcAft>
                <a:spcPts val="1400"/>
              </a:spcAft>
              <a:buClr>
                <a:srgbClr val="38BDF8"/>
              </a:buClr>
              <a:buFont typeface="Arial"/>
              <a:buChar char="•"/>
            </a:pPr>
            <a:r>
              <a:rPr sz="2000" b="0" i="0">
                <a:solidFill>
                  <a:srgbClr val="C7D2E3"/>
                </a:solidFill>
              </a:rPr>
              <a:t>Their use cases are inferred from public information, not confirmed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10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Three gaps hold back the most accounts</a:t>
            </a:r>
          </a:p>
        </p:txBody>
      </p:sp>
      <p:sp>
        <p:nvSpPr>
          <p:cNvPr id="40" name="Bullets"/>
          <p:cNvSpPr txBox="1"/>
          <p:nvPr/>
        </p:nvSpPr>
        <p:spPr>
          <a:xfrm>
            <a:off x="609600" y="1560000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Clr>
                <a:srgbClr val="38BDF8"/>
              </a:buClr>
              <a:buFont typeface="Arial"/>
              <a:buChar char="•"/>
            </a:pPr>
            <a:r>
              <a:rPr sz="1600" b="0" i="0" dirty="0">
                <a:solidFill>
                  <a:srgbClr val="FFFFFF"/>
                </a:solidFill>
              </a:rPr>
              <a:t>What already works: the ship/warn/block verdict and root cause (Workday, Wolters Kluwer, Aptiv, L'Oreal).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108835"/>
              </p:ext>
            </p:extLst>
          </p:nvPr>
        </p:nvGraphicFramePr>
        <p:xfrm>
          <a:off x="609600" y="2150000"/>
          <a:ext cx="10972800" cy="3900000"/>
        </p:xfrm>
        <a:graphic>
          <a:graphicData uri="http://schemas.openxmlformats.org/drawingml/2006/table">
            <a:tbl>
              <a:tblPr/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7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Gap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Accounts held back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Count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Status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RBAC / SSO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Wolters Kluwer, Tritusa, BearingPoint, Accenture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BBF24"/>
                          </a:solidFill>
                        </a:rPr>
                        <a:t>Not built yet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Fleet-level scoring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Wolters Kluwer, Freddie Mac, Meta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BBF24"/>
                          </a:solidFill>
                        </a:rPr>
                        <a:t>Not built yet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Scenario-bank simulation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Meta, L'Oreal, Tritusa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4A3B8"/>
                          </a:solidFill>
                        </a:rPr>
                        <a:t>Not offered: we score organic traces only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On-prem / self-hosted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Meta, Love's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8BDF8"/>
                          </a:solidFill>
                        </a:rPr>
                        <a:t>Feasibility review </a:t>
                      </a:r>
                      <a:r>
                        <a:rPr lang="en-US" sz="1100" b="0">
                          <a:solidFill>
                            <a:srgbClr val="38BDF8"/>
                          </a:solidFill>
                        </a:rPr>
                        <a:t>in progress</a:t>
                      </a:r>
                      <a:endParaRPr sz="1100" b="0" dirty="0">
                        <a:solidFill>
                          <a:srgbClr val="38BDF8"/>
                        </a:solidFill>
                      </a:endParaRP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Compliance and PII validation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Tritusa, Eaton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BBF24"/>
                          </a:solidFill>
                        </a:rPr>
                        <a:t>Not built yet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 exportable traces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Aptiv, BearingPoint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4A3B8"/>
                          </a:solidFill>
                        </a:rPr>
                        <a:t>Platform limit (Google-managed agents; Tricentis IP)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CI/CD quality gate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Eaton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8BDF8"/>
                          </a:solidFill>
                        </a:rPr>
                        <a:t>In progress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 dirty="0">
                <a:solidFill>
                  <a:srgbClr val="FFFFFF"/>
                </a:solidFill>
              </a:rPr>
              <a:t>Two Transform events drove 58% of signups</a:t>
            </a:r>
          </a:p>
        </p:txBody>
      </p:sp>
      <p:graphicFrame>
        <p:nvGraphicFramePr>
          <p:cNvPr id="12" name="Signups chart"/>
          <p:cNvGraphicFramePr>
            <a:graphicFrameLocks noGrp="1"/>
          </p:cNvGraphicFramePr>
          <p:nvPr/>
        </p:nvGraphicFramePr>
        <p:xfrm>
          <a:off x="609600" y="1500000"/>
          <a:ext cx="10972800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Event Dallas"/>
          <p:cNvSpPr txBox="1"/>
          <p:nvPr/>
        </p:nvSpPr>
        <p:spPr>
          <a:xfrm>
            <a:off x="1672054" y="176400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F87171"/>
                </a:solidFill>
              </a:rPr>
              <a:t>Transform Dallas (08-20-2026)</a:t>
            </a:r>
          </a:p>
        </p:txBody>
      </p:sp>
      <p:sp>
        <p:nvSpPr>
          <p:cNvPr id="10" name="Event Singapore"/>
          <p:cNvSpPr txBox="1"/>
          <p:nvPr/>
        </p:nvSpPr>
        <p:spPr>
          <a:xfrm>
            <a:off x="8089923" y="3350000"/>
            <a:ext cx="2600000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F87171"/>
                </a:solidFill>
              </a:rPr>
              <a:t>Transform Singapore (09-17-2026)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609600" y="5620000"/>
            <a:ext cx="109728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i="0">
                <a:solidFill>
                  <a:srgbClr val="C7D2E3"/>
                </a:solidFill>
              </a:rPr>
              <a:t>92 signups total. 38 on 08-20-2026 (34 in about 3 minutes) and 15 on 09-17-2026 (Singapore event). Source: External Interest log (Labs form submissions).</a:t>
            </a:r>
          </a:p>
        </p:txBody>
      </p:sp>
      <p:sp>
        <p:nvSpPr>
          <p:cNvPr id="13" name="Average label"/>
          <p:cNvSpPr txBox="1"/>
          <p:nvPr/>
        </p:nvSpPr>
        <p:spPr>
          <a:xfrm>
            <a:off x="8872672" y="3973120"/>
            <a:ext cx="2600000" cy="25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i="1">
                <a:solidFill>
                  <a:srgbClr val="C7D2E3"/>
                </a:solidFill>
              </a:rPr>
              <a:t>Average: 2.0 per day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14 of 78 replied; 5 of 10 demos pending beta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609600" y="1650000"/>
          <a:ext cx="10972800" cy="3640000"/>
        </p:xfrm>
        <a:graphic>
          <a:graphicData uri="http://schemas.openxmlformats.org/drawingml/2006/table">
            <a:tbl>
              <a:tblPr/>
              <a:tblGrid>
                <a:gridCol w="5136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7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8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Step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Count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38BDF8"/>
                          </a:solidFill>
                        </a:rPr>
                        <a:t>Rate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Companies interested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78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Replied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14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18% of interested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Demo given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10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71% of replied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Demo scheduled (Merito 10-06, New Vision 10-08)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2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Pending beta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5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50% of demos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Active beta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C7D2E3"/>
                          </a:solidFill>
                        </a:rPr>
                        <a:t>0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PIPELINE STATUS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 dirty="0">
                <a:solidFill>
                  <a:srgbClr val="FFFFFF"/>
                </a:solidFill>
              </a:rPr>
              <a:t>Next: go live, then onboard five companies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045006"/>
              </p:ext>
            </p:extLst>
          </p:nvPr>
        </p:nvGraphicFramePr>
        <p:xfrm>
          <a:off x="609600" y="1650000"/>
          <a:ext cx="10972800" cy="4240000"/>
        </p:xfrm>
        <a:graphic>
          <a:graphicData uri="http://schemas.openxmlformats.org/drawingml/2006/table">
            <a:tbl>
              <a:tblPr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7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#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Action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Target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What it unblocks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Push to production (database and API gateway)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ASAP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FFFFFF"/>
                          </a:solidFill>
                        </a:rPr>
                        <a:t>All five pending betas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Fix Tosca Cloud trial sign-in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ASAP, before onboarding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FFFFFF"/>
                          </a:solidFill>
                        </a:rPr>
                        <a:t>Trial users can get in</a:t>
                      </a:r>
                      <a:r>
                        <a:rPr lang="en-US" sz="1200" b="0" dirty="0">
                          <a:solidFill>
                            <a:srgbClr val="FFFFFF"/>
                          </a:solidFill>
                        </a:rPr>
                        <a:t> easier</a:t>
                      </a:r>
                      <a:endParaRPr sz="1200" b="0" dirty="0">
                        <a:solidFill>
                          <a:srgbClr val="FFFFFF"/>
                        </a:solidFill>
                      </a:endParaRP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Onboard the five ready companies (Wolters Kluwer, Tritusa, Aptiv, L'Oreal, Accenture)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After go-live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First active betas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FFFFFF"/>
                          </a:solidFill>
                        </a:rPr>
                        <a:t>Onboard internal users (ATA up first)</a:t>
                      </a:r>
                      <a:endParaRPr sz="1200" b="0" dirty="0">
                        <a:solidFill>
                          <a:srgbClr val="FFFFFF"/>
                        </a:solidFill>
                      </a:endParaRP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ASAP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FFFFFF"/>
                          </a:solidFill>
                        </a:rPr>
                        <a:t>Additional feedback sources</a:t>
                      </a:r>
                      <a:endParaRPr sz="1200" b="0" dirty="0">
                        <a:solidFill>
                          <a:srgbClr val="FFFFFF"/>
                        </a:solidFill>
                      </a:endParaRP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Re-engage the rest of the pipeline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After onboarding starts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More demos and betas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Collect beta feedback and build the onboarding MCP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</a:rPr>
                        <a:t>As betas come online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FFFFFF"/>
                          </a:solidFill>
                        </a:rPr>
                        <a:t>Self-serve onboarding</a:t>
                      </a:r>
                    </a:p>
                  </a:txBody>
                  <a:tcPr marL="100000" marR="100000" marT="30000" marB="30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itle"/>
          <p:cNvSpPr txBox="1"/>
          <p:nvPr/>
        </p:nvSpPr>
        <p:spPr>
          <a:xfrm>
            <a:off x="609600" y="29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 dirty="0">
                <a:solidFill>
                  <a:srgbClr val="FFFFFF"/>
                </a:solidFill>
              </a:rPr>
              <a:t>Appendix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SIGNUP FUNNEL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 dirty="0">
                <a:solidFill>
                  <a:srgbClr val="FFFFFF"/>
                </a:solidFill>
              </a:rPr>
              <a:t>Signup to demo: 10 days, mostly awaiting reply</a:t>
            </a:r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609600" y="1650000"/>
          <a:ext cx="10972800" cy="3600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2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Account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Signup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Company responded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Signup to 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</a:rPr>
                        <a:t>Response to demo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Aptiv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09-25-2026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 day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L'Oreal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09-17-2026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 day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BearingPoint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09-18-2026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09-23-2026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9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5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Wolters Kluwer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08-31-2026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early Sept (not logged)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about 12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not logged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Tritusa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08-24-2026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08-26-2026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09-11-2026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16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Love's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10-02-2026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43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8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Merito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09-24-2026 (replied)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10-06-2026 (scheduled)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47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12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New Vision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08-20-2026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09-28-2026 (booked)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10-08-2026 (scheduled)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49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 days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4072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Eaton (referral)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n/a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invite 09-21-2026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10-01-2026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10 days from invite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7D2E3"/>
                          </a:solidFill>
                        </a:rPr>
                        <a:t>n/a</a:t>
                      </a:r>
                    </a:p>
                  </a:txBody>
                  <a:tcPr marL="100000" marR="100000" marT="55000" marB="55000" anchor="ctr">
                    <a:lnL w="9525" cap="flat" cmpd="sng" algn="ctr">
                      <a:solidFill>
                        <a:srgbClr val="333B4A"/>
                      </a:solidFill>
                      <a:prstDash val="solid"/>
                    </a:lnL>
                    <a:lnR w="9525" cap="flat" cmpd="sng" algn="ctr">
                      <a:solidFill>
                        <a:srgbClr val="333B4A"/>
                      </a:solidFill>
                      <a:prstDash val="solid"/>
                    </a:lnR>
                    <a:lnT w="9525" cap="flat" cmpd="sng" algn="ctr">
                      <a:solidFill>
                        <a:srgbClr val="333B4A"/>
                      </a:solidFill>
                      <a:prstDash val="solid"/>
                    </a:lnT>
                    <a:lnB w="9525" cap="flat" cmpd="sng" algn="ctr">
                      <a:solidFill>
                        <a:srgbClr val="333B4A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Note"/>
          <p:cNvSpPr txBox="1"/>
          <p:nvPr/>
        </p:nvSpPr>
        <p:spPr>
          <a:xfrm>
            <a:off x="609600" y="5500000"/>
            <a:ext cx="10972800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C7D2E3"/>
                </a:solidFill>
              </a:rPr>
              <a:t>Median signup to demo across the six held demos from form signups: about 10 days. Median from the company's response to the demo: about 5 days. The lag is in getting the response.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Wolters Kluwer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22515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Score agents outside the Tricentis ecosystem (their internal "FAB" platform, GitHub Copilot) to steer people to sanctioned tooling.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08-20-2026. Welcome email the same day. Meeting booked 08-31-2026. Demo in early September (exact date not logged).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LLM before/after benchmarking and the dual access model (embedded in AI Workspace plus standalone) landed strongly. Per-agent scoring is "a proof of concept, not the product they need," so they want fleet-level scoring. RBAC/SSO is a "big concern."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A pilot tenant (their top priority) and a date for bulk/fleet scoring, which they targeted for end of September.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18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Pending beta: Tritusa (AU, gold-sponsor partner)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6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Evaluate client-built agents (a Copilot Studio agent and an AI Workspace MCP+A2A agent) and arm their evals-and-assurance advisory practice.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08-24-2026. Welcome email 08-25-2026. Demo 09-11-2026, after scheduling friction including a 9-day gap on our side (08-31-2026 to 09-09-2026).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907358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4037358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4037358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Strong. They presented an autonomous QA agent at Transatlantic 26 Singapore the week of 09-15-2026 and expected trust and compliance questions.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7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7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7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Open: compliance flagging for bank/pharma clients, alerting, bulk export, and a partner co-sell answer. On 09-24-2026 we told them select beta is "the next week or two."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19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Aptiv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8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Streamline a manual eval practice for agents on Copilot Studio, Azure Foundry, and Gemini/ADK. Multi-persona call (Tricentis tool owner plus the data and AI team).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09-23-2026. Welcome email 2 hours later. Demo 09-25-2026.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218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Two-line OTel, tool-call-level root cause, golden-dataset regression, and the three-tier eval model all landed. Hard wall: Gemini Enterprise/Dialogflow agents and Google-managed NL2SQL agents expose no traces at all, which we acknowledged as a likely gap.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03603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166039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166039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Us. They need onboarding requirements for their architecture review board before a POC. Our reply on 10-01-2026 said we are "wrapping up a few final items."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20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Pending beta: L'Oreal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088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Replace manual evaluation of a live ELK reconciliation agent, then run a self-driven POC to build an internal pitch. Signed up after the Transform Singapore event.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Signed up 09-17-2026. Welcome email 18 hours later. They replied 09-23-2026 (6 days later). Demo 09-24-2026.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Positive on replacing the manual process. Asked for on-demand batch test prompts (we said no, we only score organic traces), self-service access for Workspace agents, and faster trial access.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1732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303200"/>
            <a:ext cx="19000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303200"/>
            <a:ext cx="84228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Us, for a short how-it-works video for their manager.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54799" y="-2486900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21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Pending beta: Accenture (5 contacts across entities)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8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Extend their quality engineering practice into agentic-AI testing for clients. Also the SI delivering the Meta POC.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Form submissions 08-20-2026 to 09-22-2026. Meta POC thread since 09-10-2026. We confirmed moving forward on 09-15-2026, and a call was set for the following Monday.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Engaged on the Meta POC (asked about install steps, team needed, and the business use case). Demo held.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Risk: HCL and Accenture are both partners separately tasked by Meta to build a competing framework.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10849414" y="-5183314"/>
            <a:ext cx="21866993" cy="17876267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22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000" b="1" i="0" dirty="0">
                <a:solidFill>
                  <a:srgbClr val="FFFFFF"/>
                </a:solidFill>
              </a:rPr>
              <a:t>Demo Done</a:t>
            </a:r>
            <a:r>
              <a:rPr sz="3000" b="1" i="0" dirty="0">
                <a:solidFill>
                  <a:srgbClr val="FFFFFF"/>
                </a:solidFill>
              </a:rPr>
              <a:t>: Meta (sales-sourced; POC scoping)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392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Test 4-5 production agents in the autonomous supply chain (order management is the flagship).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Demo 08-11-2026. POC scoping call 09-11-2026 via a delivery partner.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3892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51920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51920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Urgent need and strong pull. Gated by self-hosted deployment in Meta's AWS, pointing the judge at Meta's internal LLMs, and scenario-bank simulation. Legal review of making Labs software downloadable is in progress.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868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9984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998400"/>
            <a:ext cx="8422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000" dirty="0">
                <a:solidFill>
                  <a:srgbClr val="E2E8F0"/>
                </a:solidFill>
              </a:rPr>
              <a:t>Accenture evaluation on effectiveness and viability of </a:t>
            </a:r>
            <a:r>
              <a:rPr lang="en-US" sz="2000" dirty="0" err="1">
                <a:solidFill>
                  <a:srgbClr val="E2E8F0"/>
                </a:solidFill>
              </a:rPr>
              <a:t>AgentScore</a:t>
            </a:r>
            <a:endParaRPr sz="2000" b="0" i="0" dirty="0">
              <a:solidFill>
                <a:srgbClr val="E2E8F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53140" y="-7668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23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BearingPoint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7832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Run AgentScore on their own QTest ATC test-generation agent, and have an answer for clients who ask "how do you know the agent works."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Signed up 09-14-2026. Welcome email 09-17-2026. Demo 09-23-2026.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Matches the partner/SI lens. The wall: Tricentis's own agents are not visible in AgentScore for IP reasons.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Their manager's decision on bringing agents into the beta (slides sent 09-25-2026).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53140" y="-1152000"/>
            <a:ext cx="9885719" cy="9180000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24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Workday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392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Validate Workday and Salesforce Agentforce agents (delivery director plus senior QA).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519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6496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649600"/>
            <a:ext cx="842280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2000" b="0" i="0" dirty="0">
                <a:solidFill>
                  <a:srgbClr val="E2E8F0"/>
                </a:solidFill>
              </a:rPr>
              <a:t>07-24-2026 demo, which was done before the company signed up via Labs. </a:t>
            </a:r>
            <a:r>
              <a:rPr lang="en-US" sz="2000" dirty="0">
                <a:solidFill>
                  <a:srgbClr val="E2E8F0"/>
                </a:solidFill>
              </a:rPr>
              <a:t>Form </a:t>
            </a:r>
            <a:r>
              <a:rPr sz="2000" b="0" i="0" dirty="0">
                <a:solidFill>
                  <a:srgbClr val="E2E8F0"/>
                </a:solidFill>
              </a:rPr>
              <a:t>signup was 08-28-2026 and the welcome email 08-31-2026. 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Mixed. "Knowing what to measure" and root cause landed. The QA persona never accepted it as a "testing tool" (raised four times).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868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9984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9984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Us. No next call committed. We need to fix positioning and the demo first. Workday is also building its own Agent Passport.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32538" y="-2234167"/>
            <a:ext cx="13858624" cy="11831801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25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Sales conversation: Freddie Mac (sales-sourced; replied)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34784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7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Audit the quality of internally built agents. The product team and the AI accelerator team build overlapping agents with no shared yardstick.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244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544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544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Sales conversation 08-28-2026.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940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824000"/>
            <a:ext cx="19000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824000"/>
            <a:ext cx="8422800" cy="66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The ship/warn/block verdict is what they reacted to most directly.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456360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4693600"/>
            <a:ext cx="19000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4693600"/>
            <a:ext cx="8422800" cy="36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i="0">
                <a:solidFill>
                  <a:srgbClr val="E2E8F0"/>
                </a:solidFill>
              </a:rPr>
              <a:t>No beta scheduled.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5359967" y="-1409287"/>
            <a:ext cx="15138584" cy="1237579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26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</a:rPr>
              <a:t>Demo done: Eaton (internal referral; demo 10-01-2026)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45375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1035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1035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Establish quality engineering practices for custom AI built mostly on Azure AI Foundry and Palantir Foundry. Headline requirement: automated testing as a CI/CD quality gate. Three agent classes (RAG, workflow, research) each need their own definition of "good."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88536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3015360"/>
            <a:ext cx="1900000" cy="54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3015360"/>
            <a:ext cx="8422800" cy="54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Invite 09-21-2026 (they first heard of AgentScore at Transform in Singapore). Demo 10-01-2026 with the quality lead and a technical stakeholder.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3304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63040"/>
            <a:ext cx="19000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63040"/>
            <a:ext cx="8422800" cy="127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Editable success criteria and profiles, weighted dimensions, tool-use/MCP/agent-to-agent scoring, version-tagged runs, and golden-dataset-from-real-traces all landed. Gaps: CI/CD gate is in progress (the deciding item), cloud hosting only, no upfront golden-dataset upload, adversarial testing is roadmap only. Palantir Foundry compatibility was never answered.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112240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242240"/>
            <a:ext cx="1900000" cy="791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242240"/>
            <a:ext cx="8422800" cy="791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E2E8F0"/>
                </a:solidFill>
              </a:rPr>
              <a:t>Us. A data-handling answer (what goes to the LLM judge, PII redaction), overview collateral, and a comparison against Azure AI Foundry's built-in evals. No beta date set.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734347" y="-3133816"/>
            <a:ext cx="8840293" cy="8199372"/>
          </a:xfrm>
          <a:prstGeom prst="rect">
            <a:avLst/>
          </a:prstGeom>
        </p:spPr>
      </p:pic>
      <p:sp>
        <p:nvSpPr>
          <p:cNvPr id="3" name="Header"/>
          <p:cNvSpPr txBox="1"/>
          <p:nvPr/>
        </p:nvSpPr>
        <p:spPr>
          <a:xfrm>
            <a:off x="4300000" y="413549"/>
            <a:ext cx="3592000" cy="21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AgentScore: Overview and Beta Progress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042400" y="413549"/>
            <a:ext cx="2540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7C8CA8"/>
                </a:solidFill>
              </a:rPr>
              <a:t>27</a:t>
            </a:r>
          </a:p>
        </p:txBody>
      </p:sp>
      <p:sp>
        <p:nvSpPr>
          <p:cNvPr id="5" name="Footer rule"/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Kicker"/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38BDF8"/>
                </a:solidFill>
              </a:rPr>
              <a:t>APPENDIX: ACCOUNT DETAIL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609600" y="800000"/>
            <a:ext cx="10972800" cy="55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</a:rPr>
              <a:t>Demo done: Love's (demo 10-02-2026)</a:t>
            </a:r>
          </a:p>
        </p:txBody>
      </p:sp>
      <p:sp>
        <p:nvSpPr>
          <p:cNvPr id="8" name="Card"/>
          <p:cNvSpPr/>
          <p:nvPr/>
        </p:nvSpPr>
        <p:spPr>
          <a:xfrm>
            <a:off x="609600" y="1650000"/>
            <a:ext cx="10972800" cy="4514719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w label"/>
          <p:cNvSpPr txBox="1"/>
          <p:nvPr/>
        </p:nvSpPr>
        <p:spPr>
          <a:xfrm>
            <a:off x="859600" y="1780000"/>
            <a:ext cx="19000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Use case:</a:t>
            </a:r>
          </a:p>
        </p:txBody>
      </p:sp>
      <p:sp>
        <p:nvSpPr>
          <p:cNvPr id="10" name="Row text"/>
          <p:cNvSpPr txBox="1"/>
          <p:nvPr/>
        </p:nvSpPr>
        <p:spPr>
          <a:xfrm>
            <a:off x="2909600" y="1780000"/>
            <a:ext cx="8422800" cy="9286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Not an agent-evaluation pull yet. They run on-prem Tosca and are testing the Tosca on-prem MCP with Claude on a test box. They evaluate no other AI agents today.</a:t>
            </a:r>
          </a:p>
        </p:txBody>
      </p:sp>
      <p:sp>
        <p:nvSpPr>
          <p:cNvPr id="11" name="Rule"/>
          <p:cNvSpPr/>
          <p:nvPr/>
        </p:nvSpPr>
        <p:spPr>
          <a:xfrm>
            <a:off x="859600" y="277867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w label"/>
          <p:cNvSpPr txBox="1"/>
          <p:nvPr/>
        </p:nvSpPr>
        <p:spPr>
          <a:xfrm>
            <a:off x="859600" y="290867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When we talked:</a:t>
            </a:r>
          </a:p>
        </p:txBody>
      </p:sp>
      <p:sp>
        <p:nvSpPr>
          <p:cNvPr id="13" name="Row text"/>
          <p:cNvSpPr txBox="1"/>
          <p:nvPr/>
        </p:nvSpPr>
        <p:spPr>
          <a:xfrm>
            <a:off x="2909600" y="290867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Signed up 08-20-2026. Booked a slot 09-24-2026 (after the follow-up). Demo 10-02-2026.</a:t>
            </a:r>
          </a:p>
        </p:txBody>
      </p:sp>
      <p:sp>
        <p:nvSpPr>
          <p:cNvPr id="14" name="Rule"/>
          <p:cNvSpPr/>
          <p:nvPr/>
        </p:nvSpPr>
        <p:spPr>
          <a:xfrm>
            <a:off x="859600" y="36177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w label"/>
          <p:cNvSpPr txBox="1"/>
          <p:nvPr/>
        </p:nvSpPr>
        <p:spPr>
          <a:xfrm>
            <a:off x="859600" y="3747799"/>
            <a:ext cx="1900000" cy="150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Reaction:</a:t>
            </a:r>
          </a:p>
        </p:txBody>
      </p:sp>
      <p:sp>
        <p:nvSpPr>
          <p:cNvPr id="16" name="Row text"/>
          <p:cNvSpPr txBox="1"/>
          <p:nvPr/>
        </p:nvSpPr>
        <p:spPr>
          <a:xfrm>
            <a:off x="2909600" y="3747799"/>
            <a:ext cx="8422800" cy="150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Genuinely interested ("it is interesting, though") but the blocker was plain: AgentScore is cloud only and Love's is on-prem, so "we probably can't do much with it currently." A customer-run container with a customer-configured judge LLM might be an option.</a:t>
            </a:r>
          </a:p>
        </p:txBody>
      </p:sp>
      <p:sp>
        <p:nvSpPr>
          <p:cNvPr id="17" name="Rule"/>
          <p:cNvSpPr/>
          <p:nvPr/>
        </p:nvSpPr>
        <p:spPr>
          <a:xfrm>
            <a:off x="859600" y="5325599"/>
            <a:ext cx="10472800" cy="19050"/>
          </a:xfrm>
          <a:prstGeom prst="rect">
            <a:avLst/>
          </a:prstGeom>
          <a:solidFill>
            <a:srgbClr val="33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w label"/>
          <p:cNvSpPr txBox="1"/>
          <p:nvPr/>
        </p:nvSpPr>
        <p:spPr>
          <a:xfrm>
            <a:off x="859600" y="5455599"/>
            <a:ext cx="19000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 i="0">
                <a:solidFill>
                  <a:srgbClr val="38BDF8"/>
                </a:solidFill>
              </a:rPr>
              <a:t>Waiting on:</a:t>
            </a:r>
          </a:p>
        </p:txBody>
      </p:sp>
      <p:sp>
        <p:nvSpPr>
          <p:cNvPr id="19" name="Row text"/>
          <p:cNvSpPr txBox="1"/>
          <p:nvPr/>
        </p:nvSpPr>
        <p:spPr>
          <a:xfrm>
            <a:off x="2909600" y="5455599"/>
            <a:ext cx="8422800" cy="63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0" i="0">
                <a:solidFill>
                  <a:srgbClr val="E2E8F0"/>
                </a:solidFill>
              </a:rPr>
              <a:t>Us. A follow-up describing what an on-prem or container deployment would look like.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6169</TotalTime>
  <Words>3078</Words>
  <Application>Microsoft Macintosh PowerPoint</Application>
  <PresentationFormat>Widescreen</PresentationFormat>
  <Paragraphs>462</Paragraphs>
  <Slides>26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111</cp:revision>
  <dcterms:created xsi:type="dcterms:W3CDTF">2026-09-22T20:53:22Z</dcterms:created>
  <dcterms:modified xsi:type="dcterms:W3CDTF">2026-10-05T19:11:41Z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1.0.153</vt:lpwstr>
  </property>
  <property fmtid="{D5CDD505-2E9C-101B-9397-08002B2CF9AE}" pid="3" name="OfficeCLI.LastModified">
    <vt:lpwstr>2026-10-01T20:17:46Z</vt:lpwstr>
  </property>
</Properties>
</file>