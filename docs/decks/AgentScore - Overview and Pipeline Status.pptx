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83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8" r:id="rId24"/>
    <p:sldId id="279" r:id="rId25"/>
    <p:sldId id="280" r:id="rId26"/>
    <p:sldId id="281" r:id="rId27"/>
    <p:sldId id="28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05"/>
    <p:restoredTop sz="82170"/>
  </p:normalViewPr>
  <p:slideViewPr>
    <p:cSldViewPr snapToGrid="0">
      <p:cViewPr varScale="1">
        <p:scale>
          <a:sx n="114" d="100"/>
          <a:sy n="114" d="100"/>
        </p:scale>
        <p:origin x="7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5"/>
          <c:y val="0.04"/>
          <c:w val="0.94"/>
          <c:h val="0.8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Signups</c:v>
                </c:pt>
              </c:strCache>
            </c:strRef>
          </c:tx>
          <c:spPr>
            <a:solidFill>
              <a:srgbClr val="38BDF8"/>
            </a:solidFill>
          </c:spPr>
          <c:invertIfNegative val="1"/>
          <c:dPt>
            <c:idx val="1"/>
            <c:invertIfNegative val="1"/>
            <c:bubble3D val="0"/>
            <c:spPr>
              <a:solidFill>
                <a:srgbClr val="F87171"/>
              </a:solidFill>
            </c:spPr>
            <c:extLst>
              <c:ext xmlns:c16="http://schemas.microsoft.com/office/drawing/2014/chart" uri="{C3380CC4-5D6E-409C-BE32-E72D297353CC}">
                <c16:uniqueId val="{00000001-62E6-3E4C-920E-BED66183232F}"/>
              </c:ext>
            </c:extLst>
          </c:dPt>
          <c:dPt>
            <c:idx val="29"/>
            <c:invertIfNegative val="1"/>
            <c:bubble3D val="0"/>
            <c:spPr>
              <a:solidFill>
                <a:srgbClr val="F87171"/>
              </a:solidFill>
            </c:spPr>
            <c:extLst>
              <c:ext xmlns:c16="http://schemas.microsoft.com/office/drawing/2014/chart" uri="{C3380CC4-5D6E-409C-BE32-E72D297353CC}">
                <c16:uniqueId val="{00000003-62E6-3E4C-920E-BED66183232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Sheet1!$A$2:$A$46</c:f>
              <c:strCache>
                <c:ptCount val="45"/>
                <c:pt idx="0">
                  <c:v>08-19-2026</c:v>
                </c:pt>
                <c:pt idx="1">
                  <c:v>08-20-2026</c:v>
                </c:pt>
                <c:pt idx="2">
                  <c:v>08-21-2026</c:v>
                </c:pt>
                <c:pt idx="3">
                  <c:v>08-22-2026</c:v>
                </c:pt>
                <c:pt idx="4">
                  <c:v>08-23-2026</c:v>
                </c:pt>
                <c:pt idx="5">
                  <c:v>08-24-2026</c:v>
                </c:pt>
                <c:pt idx="6">
                  <c:v>08-25-2026</c:v>
                </c:pt>
                <c:pt idx="7">
                  <c:v>08-26-2026</c:v>
                </c:pt>
                <c:pt idx="8">
                  <c:v>08-27-2026</c:v>
                </c:pt>
                <c:pt idx="9">
                  <c:v>08-28-2026</c:v>
                </c:pt>
                <c:pt idx="10">
                  <c:v>08-29-2026</c:v>
                </c:pt>
                <c:pt idx="11">
                  <c:v>08-30-2026</c:v>
                </c:pt>
                <c:pt idx="12">
                  <c:v>08-31-2026</c:v>
                </c:pt>
                <c:pt idx="13">
                  <c:v>09-01-2026</c:v>
                </c:pt>
                <c:pt idx="14">
                  <c:v>09-02-2026</c:v>
                </c:pt>
                <c:pt idx="15">
                  <c:v>09-03-2026</c:v>
                </c:pt>
                <c:pt idx="16">
                  <c:v>09-04-2026</c:v>
                </c:pt>
                <c:pt idx="17">
                  <c:v>09-05-2026</c:v>
                </c:pt>
                <c:pt idx="18">
                  <c:v>09-06-2026</c:v>
                </c:pt>
                <c:pt idx="19">
                  <c:v>09-07-2026</c:v>
                </c:pt>
                <c:pt idx="20">
                  <c:v>09-08-2026</c:v>
                </c:pt>
                <c:pt idx="21">
                  <c:v>09-09-2026</c:v>
                </c:pt>
                <c:pt idx="22">
                  <c:v>09-10-2026</c:v>
                </c:pt>
                <c:pt idx="23">
                  <c:v>09-11-2026</c:v>
                </c:pt>
                <c:pt idx="24">
                  <c:v>09-12-2026</c:v>
                </c:pt>
                <c:pt idx="25">
                  <c:v>09-13-2026</c:v>
                </c:pt>
                <c:pt idx="26">
                  <c:v>09-14-2026</c:v>
                </c:pt>
                <c:pt idx="27">
                  <c:v>09-15-2026</c:v>
                </c:pt>
                <c:pt idx="28">
                  <c:v>09-16-2026</c:v>
                </c:pt>
                <c:pt idx="29">
                  <c:v>09-17-2026</c:v>
                </c:pt>
                <c:pt idx="30">
                  <c:v>09-18-2026</c:v>
                </c:pt>
                <c:pt idx="31">
                  <c:v>09-19-2026</c:v>
                </c:pt>
                <c:pt idx="32">
                  <c:v>09-20-2026</c:v>
                </c:pt>
                <c:pt idx="33">
                  <c:v>09-21-2026</c:v>
                </c:pt>
                <c:pt idx="34">
                  <c:v>09-22-2026</c:v>
                </c:pt>
                <c:pt idx="35">
                  <c:v>09-23-2026</c:v>
                </c:pt>
                <c:pt idx="36">
                  <c:v>09-24-2026</c:v>
                </c:pt>
                <c:pt idx="37">
                  <c:v>09-25-2026</c:v>
                </c:pt>
                <c:pt idx="38">
                  <c:v>09-26-2026</c:v>
                </c:pt>
                <c:pt idx="39">
                  <c:v>09-27-2026</c:v>
                </c:pt>
                <c:pt idx="40">
                  <c:v>09-28-2026</c:v>
                </c:pt>
                <c:pt idx="41">
                  <c:v>09-29-2026</c:v>
                </c:pt>
                <c:pt idx="42">
                  <c:v>09-30-2026</c:v>
                </c:pt>
                <c:pt idx="43">
                  <c:v>10-01-2026</c:v>
                </c:pt>
                <c:pt idx="44">
                  <c:v>10-02-2026</c:v>
                </c:pt>
              </c:strCache>
            </c:strRef>
          </c:cat>
          <c:val>
            <c:numRef>
              <c:f>Sheet1!$B$2:$B$46</c:f>
              <c:numCache>
                <c:formatCode>General</c:formatCode>
                <c:ptCount val="45"/>
                <c:pt idx="0">
                  <c:v>1</c:v>
                </c:pt>
                <c:pt idx="1">
                  <c:v>38</c:v>
                </c:pt>
                <c:pt idx="2">
                  <c:v>3</c:v>
                </c:pt>
                <c:pt idx="3">
                  <c:v>1</c:v>
                </c:pt>
                <c:pt idx="4">
                  <c:v>0</c:v>
                </c:pt>
                <c:pt idx="5">
                  <c:v>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4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3</c:v>
                </c:pt>
                <c:pt idx="27">
                  <c:v>1</c:v>
                </c:pt>
                <c:pt idx="28">
                  <c:v>2</c:v>
                </c:pt>
                <c:pt idx="29">
                  <c:v>15</c:v>
                </c:pt>
                <c:pt idx="30">
                  <c:v>0</c:v>
                </c:pt>
                <c:pt idx="31">
                  <c:v>0</c:v>
                </c:pt>
                <c:pt idx="32">
                  <c:v>1</c:v>
                </c:pt>
                <c:pt idx="33">
                  <c:v>3</c:v>
                </c:pt>
                <c:pt idx="34">
                  <c:v>1</c:v>
                </c:pt>
                <c:pt idx="35">
                  <c:v>2</c:v>
                </c:pt>
                <c:pt idx="36">
                  <c:v>2</c:v>
                </c:pt>
                <c:pt idx="37">
                  <c:v>0</c:v>
                </c:pt>
                <c:pt idx="38">
                  <c:v>1</c:v>
                </c:pt>
                <c:pt idx="39">
                  <c:v>0</c:v>
                </c:pt>
                <c:pt idx="40">
                  <c:v>1</c:v>
                </c:pt>
                <c:pt idx="41">
                  <c:v>0</c:v>
                </c:pt>
                <c:pt idx="42">
                  <c:v>0</c:v>
                </c:pt>
                <c:pt idx="43">
                  <c:v>1</c:v>
                </c:pt>
                <c:pt idx="44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62E6-3E4C-920E-BED66183232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7C8CA8"/>
            </a:solidFill>
          </a:ln>
        </c:spPr>
        <c:txPr>
          <a:bodyPr rot="-5400000" vert="horz"/>
          <a:lstStyle/>
          <a:p>
            <a:pPr>
              <a:defRPr sz="8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0"/>
          <c:min val="0"/>
        </c:scaling>
        <c:delete val="0"/>
        <c:axPos val="l"/>
        <c:majorGridlines>
          <c:spPr>
            <a:ln w="6350">
              <a:solidFill>
                <a:srgbClr val="333B4A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  <c:majorUnit val="5"/>
      </c:valAx>
    </c:plotArea>
    <c:plotVisOnly val="1"/>
    <c:dispBlanksAs val="gap"/>
    <c:showDLblsOverMax val="1"/>
  </c:chart>
  <c:txPr>
    <a:bodyPr/>
    <a:lstStyle/>
    <a:p>
      <a:pPr>
        <a:defRPr sz="1000">
          <a:solidFill>
            <a:srgbClr val="C7D2E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CBBAD-33FD-2F4E-BB39-0722A060C76B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228BA8-23EA-EC4D-AF93-1B2AED76EF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54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6054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503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1410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0672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540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FAE0-F4E0-CEAE-23A0-0D28BB38BC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31CCF5-E1BF-C36F-A99E-01EE6A8A21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E06FAE-2D8D-6B3C-9674-FA8157B28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9D2D0F-4B6C-1F35-3401-B82FA3BFC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7C6C1-CB75-67F0-4FFD-A3F1202EB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02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523BB-854A-96CB-3D66-0D625A95D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77BC4-C8EA-DA3E-B307-AD6CE22D9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9D01B-0DA5-F742-26CF-97E0950C8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97FC3A-5084-867C-202E-F2074475C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80788-E3FD-BDA8-3F03-55A48A2DB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769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FB972-6810-58AE-1F77-BDC7208CB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C1333-AF2E-C68A-5792-C9696B3D4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64B06-9F91-B01C-9770-DD7F2AD99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25FC9-11DA-21DF-F249-61F761D6E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AAF2D-AA01-EE25-C798-CD06B3275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304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F6F36-C318-5984-7209-F6AC6E98E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80D6D-6609-9A4A-2DE0-03BCDD2AE9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1F07FC-F5BD-A244-9FFA-DE1D457B66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D07EC2-F282-CC55-4219-D00897E73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888BEA-1924-4890-8C12-F2354CCFD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5DC71F-0805-CBEF-FAC9-91472ADE9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6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7F14D-C7C3-7343-904F-8EC85D2FE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84075A-259E-D38E-5A0C-289044DF8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FC0B20-3FC3-22CE-9D73-FAB5A22D16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A36C62-C037-0670-1B05-C71BC96D4C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2D17E7-7622-8C4B-2DCC-EED76151F2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273540-8D11-504E-F815-D3DE32032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17B639-AF11-E877-E751-891242D3E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0AF645-9489-AF9D-226B-964962C49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35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0CEC7-8A5A-9D03-93FC-9CD9EAA70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84E5FC-6AD1-9423-58F7-BB1A48BC7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137E19-F6E2-42D7-75CA-E3435AC76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C7DE6D-C513-A2CF-FB4A-D2A39742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037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1A6ACA-6AAA-3D0F-9BC5-BA831C954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82EE78-0F60-EA6F-F1A3-A88736203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5AA21-CAB5-E2C0-F217-7B59DE91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935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D55C1-A17E-4F39-9113-7F3B891BA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CE697-90AF-B692-CFCE-EF75EE29B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ED8F9-25EB-D3E5-008E-DF551D9FC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952F05-6A15-A549-B10E-D3887A736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58AF6-31CF-EC3C-FBB1-0A06EB275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A935C-6C90-7589-7BF5-E600D9D02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12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A33BD-9B53-1442-3A59-CCB8B79B4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5195F-58CB-8F0C-3DF3-8987A81991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CF699E-030C-1266-3E60-6EF19EF37C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AB5F0-1D00-C64E-A648-B36B4F213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350428-00E6-A309-A181-43D3D4902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D58407-DCED-D16C-4051-13006AA6E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10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700DF-CFAA-FFB7-6561-F14F361C2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A3629-1925-6F83-BB05-7AF09FE23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3592D-D6B1-6A5A-1FED-6EABE2198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450C7-FC53-CC4D-EA56-970893AC6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67D38-4B6A-37AC-7CB8-4985D9D6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713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B65176-BB0C-DC8F-AEE8-A3CE0A7A3E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F79006-8278-4573-F3B2-7C0AF63CF9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84971-5476-3856-53ED-FC3642260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F51308-D79A-920D-D339-B0C21D945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64555-B321-2D8E-42B5-C6DE07E81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534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2D8B37-CF10-112F-9310-5E360FD03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E01F68-8441-6CCA-84D3-D8CDAC829E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B8BB3-F9E3-BE88-3A0C-8078415E8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30B95-2533-D7C5-295E-649A36D61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20D95-C1E7-6C31-D385-146413DD83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49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6415506" y="-2228631"/>
            <a:ext cx="16021044" cy="13677967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itle"/>
          <p:cNvSpPr txBox="1"/>
          <p:nvPr/>
        </p:nvSpPr>
        <p:spPr>
          <a:xfrm>
            <a:off x="609600" y="2450000"/>
            <a:ext cx="1097280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609600" y="3700000"/>
            <a:ext cx="109728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 dirty="0">
                <a:solidFill>
                  <a:srgbClr val="C7D2E3"/>
                </a:solidFill>
              </a:rPr>
              <a:t>As of 10-0</a:t>
            </a:r>
            <a:r>
              <a:rPr lang="en-US" sz="2000" b="0" i="0" dirty="0">
                <a:solidFill>
                  <a:srgbClr val="C7D2E3"/>
                </a:solidFill>
              </a:rPr>
              <a:t>5</a:t>
            </a:r>
            <a:r>
              <a:rPr sz="2000" b="0" i="0" dirty="0">
                <a:solidFill>
                  <a:srgbClr val="C7D2E3"/>
                </a:solidFill>
              </a:rPr>
              <a:t>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5359967" y="-1409287"/>
            <a:ext cx="15138584" cy="12375792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WHAT WE OFFER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</a:rPr>
              <a:t>What We Offer: Agent Validation, Made Defensible</a:t>
            </a:r>
          </a:p>
        </p:txBody>
      </p:sp>
      <p:sp>
        <p:nvSpPr>
          <p:cNvPr id="8" name="Intro"/>
          <p:cNvSpPr txBox="1"/>
          <p:nvPr/>
        </p:nvSpPr>
        <p:spPr>
          <a:xfrm>
            <a:off x="609600" y="1650000"/>
            <a:ext cx="6900000" cy="11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0" i="0">
                <a:solidFill>
                  <a:srgbClr val="C7D2E3"/>
                </a:solidFill>
              </a:rPr>
              <a:t>How do you know your agent is doing what it's supposed to? For most teams, the honest answer is a gut check, not a number.</a:t>
            </a:r>
          </a:p>
        </p:txBody>
      </p:sp>
      <p:sp>
        <p:nvSpPr>
          <p:cNvPr id="9" name="Tagline"/>
          <p:cNvSpPr txBox="1"/>
          <p:nvPr/>
        </p:nvSpPr>
        <p:spPr>
          <a:xfrm>
            <a:off x="609600" y="2950000"/>
            <a:ext cx="69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</a:rPr>
              <a:t>Point it at a trace, get back a defensible answer.</a:t>
            </a:r>
          </a:p>
        </p:txBody>
      </p:sp>
      <p:sp>
        <p:nvSpPr>
          <p:cNvPr id="10" name="Positioning"/>
          <p:cNvSpPr txBox="1"/>
          <p:nvPr/>
        </p:nvSpPr>
        <p:spPr>
          <a:xfrm>
            <a:off x="609600" y="4000000"/>
            <a:ext cx="69000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1">
                <a:solidFill>
                  <a:srgbClr val="C7D2E3"/>
                </a:solidFill>
              </a:rPr>
              <a:t>Easy to start, with smart defaults that work for most teams. Not the top-tier data-science scorer.</a:t>
            </a:r>
          </a:p>
        </p:txBody>
      </p:sp>
      <p:sp>
        <p:nvSpPr>
          <p:cNvPr id="11" name="Problem"/>
          <p:cNvSpPr txBox="1"/>
          <p:nvPr/>
        </p:nvSpPr>
        <p:spPr>
          <a:xfrm>
            <a:off x="609600" y="4800000"/>
            <a:ext cx="6900000" cy="11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0" i="0">
                <a:solidFill>
                  <a:srgbClr val="C7D2E3"/>
                </a:solidFill>
              </a:rPr>
              <a:t>The problem: customers don't know what to test, how, or whether it's enough. Fear leads to ship paralysis. Other tools say go learn to be a data scientist.</a:t>
            </a:r>
          </a:p>
        </p:txBody>
      </p:sp>
      <p:sp>
        <p:nvSpPr>
          <p:cNvPr id="12" name="So what card"/>
          <p:cNvSpPr/>
          <p:nvPr/>
        </p:nvSpPr>
        <p:spPr>
          <a:xfrm>
            <a:off x="7809600" y="1650000"/>
            <a:ext cx="3772800" cy="310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o what"/>
          <p:cNvSpPr txBox="1"/>
          <p:nvPr/>
        </p:nvSpPr>
        <p:spPr>
          <a:xfrm>
            <a:off x="8059600" y="1900000"/>
            <a:ext cx="3272800" cy="2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38BDF8"/>
                </a:solidFill>
              </a:rPr>
              <a:t>So what:</a:t>
            </a:r>
          </a:p>
          <a:p>
            <a:r>
              <a:rPr sz="2200" b="1" i="0">
                <a:solidFill>
                  <a:srgbClr val="FFFFFF"/>
                </a:solidFill>
              </a:rPr>
              <a:t>someone has to decide whether each agent can go to production. Today, they have no tool.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734347" y="-3133816"/>
            <a:ext cx="8840293" cy="8199372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3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WHAT WE OFFER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What AgentScore Is</a:t>
            </a:r>
          </a:p>
        </p:txBody>
      </p:sp>
      <p:sp>
        <p:nvSpPr>
          <p:cNvPr id="8" name="Card 1"/>
          <p:cNvSpPr/>
          <p:nvPr/>
        </p:nvSpPr>
        <p:spPr>
          <a:xfrm>
            <a:off x="609600" y="16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Card text 1"/>
          <p:cNvSpPr txBox="1"/>
          <p:nvPr/>
        </p:nvSpPr>
        <p:spPr>
          <a:xfrm>
            <a:off x="829600" y="18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Trace in, zero setup</a:t>
            </a:r>
          </a:p>
          <a:p>
            <a:r>
              <a:rPr sz="1600" b="0" i="0">
                <a:solidFill>
                  <a:srgbClr val="C7D2E3"/>
                </a:solidFill>
              </a:rPr>
              <a:t>any agent, any vendor, any framework. AgentScore picks the right evals from 40+ for you. No data science required.</a:t>
            </a:r>
          </a:p>
        </p:txBody>
      </p:sp>
      <p:sp>
        <p:nvSpPr>
          <p:cNvPr id="10" name="Card 2"/>
          <p:cNvSpPr/>
          <p:nvPr/>
        </p:nvSpPr>
        <p:spPr>
          <a:xfrm>
            <a:off x="6221000" y="16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Card text 2"/>
          <p:cNvSpPr txBox="1"/>
          <p:nvPr/>
        </p:nvSpPr>
        <p:spPr>
          <a:xfrm>
            <a:off x="6441000" y="18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0-100 score + verdict</a:t>
            </a:r>
          </a:p>
          <a:p>
            <a:r>
              <a:rPr sz="1600" b="0" i="0">
                <a:solidFill>
                  <a:srgbClr val="C7D2E3"/>
                </a:solidFill>
              </a:rPr>
              <a:t>a ship / warn / block call that answers "can this go to production?"</a:t>
            </a:r>
          </a:p>
        </p:txBody>
      </p:sp>
      <p:sp>
        <p:nvSpPr>
          <p:cNvPr id="12" name="Card 3"/>
          <p:cNvSpPr/>
          <p:nvPr/>
        </p:nvSpPr>
        <p:spPr>
          <a:xfrm>
            <a:off x="609600" y="40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ard text 3"/>
          <p:cNvSpPr txBox="1"/>
          <p:nvPr/>
        </p:nvSpPr>
        <p:spPr>
          <a:xfrm>
            <a:off x="829600" y="42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Root-cause attribution</a:t>
            </a:r>
          </a:p>
          <a:p>
            <a:r>
              <a:rPr sz="1600" b="0" i="0">
                <a:solidFill>
                  <a:srgbClr val="C7D2E3"/>
                </a:solidFill>
              </a:rPr>
              <a:t>down to the span, with a suggested fix.</a:t>
            </a:r>
          </a:p>
        </p:txBody>
      </p:sp>
      <p:sp>
        <p:nvSpPr>
          <p:cNvPr id="14" name="Card 4"/>
          <p:cNvSpPr/>
          <p:nvPr/>
        </p:nvSpPr>
        <p:spPr>
          <a:xfrm>
            <a:off x="6221000" y="40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ard text 4"/>
          <p:cNvSpPr txBox="1"/>
          <p:nvPr/>
        </p:nvSpPr>
        <p:spPr>
          <a:xfrm>
            <a:off x="6441000" y="42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Tiered evidence model</a:t>
            </a:r>
          </a:p>
          <a:p>
            <a:r>
              <a:rPr sz="1600" b="0" i="0">
                <a:solidFill>
                  <a:srgbClr val="C7D2E3"/>
                </a:solidFill>
              </a:rPr>
              <a:t>deterministic checks, a judge with confidence intervals, golden-dataset back-testing. Audit-ready, not a black box.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54799" y="-2486900"/>
            <a:ext cx="13858624" cy="11831801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4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WHAT WE OFFER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Customer Value</a:t>
            </a:r>
          </a:p>
        </p:txBody>
      </p:sp>
      <p:sp>
        <p:nvSpPr>
          <p:cNvPr id="8" name="Card 1"/>
          <p:cNvSpPr/>
          <p:nvPr/>
        </p:nvSpPr>
        <p:spPr>
          <a:xfrm>
            <a:off x="609600" y="16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Card text 1"/>
          <p:cNvSpPr txBox="1"/>
          <p:nvPr/>
        </p:nvSpPr>
        <p:spPr>
          <a:xfrm>
            <a:off x="829600" y="18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Ship in days, not weeks</a:t>
            </a:r>
          </a:p>
          <a:p>
            <a:r>
              <a:rPr sz="1600" b="0" i="0">
                <a:solidFill>
                  <a:srgbClr val="C7D2E3"/>
                </a:solidFill>
              </a:rPr>
              <a:t>know when you're ready, instead of running on vibes. Teams with evals upgrade in days. Teams without face weeks of testing.</a:t>
            </a:r>
          </a:p>
        </p:txBody>
      </p:sp>
      <p:sp>
        <p:nvSpPr>
          <p:cNvPr id="10" name="Card 2"/>
          <p:cNvSpPr/>
          <p:nvPr/>
        </p:nvSpPr>
        <p:spPr>
          <a:xfrm>
            <a:off x="6221000" y="16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Card text 2"/>
          <p:cNvSpPr txBox="1"/>
          <p:nvPr/>
        </p:nvSpPr>
        <p:spPr>
          <a:xfrm>
            <a:off x="6441000" y="18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A defensible verdict</a:t>
            </a:r>
          </a:p>
          <a:p>
            <a:r>
              <a:rPr sz="1600" b="0" i="0">
                <a:solidFill>
                  <a:srgbClr val="C7D2E3"/>
                </a:solidFill>
              </a:rPr>
              <a:t>replaces "seems fine to me" with one ship / warn / block call leadership can act on, on one yardstick across every team.</a:t>
            </a:r>
          </a:p>
        </p:txBody>
      </p:sp>
      <p:sp>
        <p:nvSpPr>
          <p:cNvPr id="12" name="Card 3"/>
          <p:cNvSpPr/>
          <p:nvPr/>
        </p:nvSpPr>
        <p:spPr>
          <a:xfrm>
            <a:off x="609600" y="40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ard text 3"/>
          <p:cNvSpPr txBox="1"/>
          <p:nvPr/>
        </p:nvSpPr>
        <p:spPr>
          <a:xfrm>
            <a:off x="829600" y="42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A fix, not just a flag</a:t>
            </a:r>
          </a:p>
          <a:p>
            <a:r>
              <a:rPr sz="1600" b="0" i="0">
                <a:solidFill>
                  <a:srgbClr val="C7D2E3"/>
                </a:solidFill>
              </a:rPr>
              <a:t>root-cause attribution down to the span turns debugging into a fix, not a re-run.</a:t>
            </a:r>
          </a:p>
        </p:txBody>
      </p:sp>
      <p:sp>
        <p:nvSpPr>
          <p:cNvPr id="14" name="Card 4"/>
          <p:cNvSpPr/>
          <p:nvPr/>
        </p:nvSpPr>
        <p:spPr>
          <a:xfrm>
            <a:off x="6221000" y="40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ard text 4"/>
          <p:cNvSpPr txBox="1"/>
          <p:nvPr/>
        </p:nvSpPr>
        <p:spPr>
          <a:xfrm>
            <a:off x="6441000" y="42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No AI team required</a:t>
            </a:r>
          </a:p>
          <a:p>
            <a:r>
              <a:rPr sz="1600" b="0" i="0">
                <a:solidFill>
                  <a:srgbClr val="C7D2E3"/>
                </a:solidFill>
              </a:rPr>
              <a:t>zero-setup profiling gives rigorous coverage without in-house eval expertise.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10849414" y="-5183314"/>
            <a:ext cx="21866993" cy="17876267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5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WHAT WE OFFER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Where Tricentis Wins</a:t>
            </a:r>
          </a:p>
        </p:txBody>
      </p:sp>
      <p:sp>
        <p:nvSpPr>
          <p:cNvPr id="8" name="Card 1"/>
          <p:cNvSpPr/>
          <p:nvPr/>
        </p:nvSpPr>
        <p:spPr>
          <a:xfrm>
            <a:off x="609600" y="16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Card text 1"/>
          <p:cNvSpPr txBox="1"/>
          <p:nvPr/>
        </p:nvSpPr>
        <p:spPr>
          <a:xfrm>
            <a:off x="829600" y="18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We own the gatekeepers</a:t>
            </a:r>
          </a:p>
          <a:p>
            <a:r>
              <a:rPr sz="1600" b="0" i="0">
                <a:solidFill>
                  <a:srgbClr val="C7D2E3"/>
                </a:solidFill>
              </a:rPr>
              <a:t>the people who decide whether an agent can go to production are already Tricentis customers. No one is serving them with a tool.</a:t>
            </a:r>
          </a:p>
        </p:txBody>
      </p:sp>
      <p:sp>
        <p:nvSpPr>
          <p:cNvPr id="10" name="Card 2"/>
          <p:cNvSpPr/>
          <p:nvPr/>
        </p:nvSpPr>
        <p:spPr>
          <a:xfrm>
            <a:off x="6221000" y="16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Card text 2"/>
          <p:cNvSpPr txBox="1"/>
          <p:nvPr/>
        </p:nvSpPr>
        <p:spPr>
          <a:xfrm>
            <a:off x="6441000" y="18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We complete the quality loop</a:t>
            </a:r>
          </a:p>
          <a:p>
            <a:r>
              <a:rPr sz="1600" b="0" i="0">
                <a:solidFill>
                  <a:srgbClr val="C7D2E3"/>
                </a:solidFill>
              </a:rPr>
              <a:t>Tosca and qTest cover code. AgentScore extends the same trust to the agents that code powers.</a:t>
            </a:r>
          </a:p>
        </p:txBody>
      </p:sp>
      <p:sp>
        <p:nvSpPr>
          <p:cNvPr id="12" name="Card 3"/>
          <p:cNvSpPr/>
          <p:nvPr/>
        </p:nvSpPr>
        <p:spPr>
          <a:xfrm>
            <a:off x="609600" y="40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ard text 3"/>
          <p:cNvSpPr txBox="1"/>
          <p:nvPr/>
        </p:nvSpPr>
        <p:spPr>
          <a:xfrm>
            <a:off x="829600" y="42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Competitors prove the demand</a:t>
            </a:r>
          </a:p>
          <a:p>
            <a:r>
              <a:rPr sz="1600" b="0" i="0">
                <a:solidFill>
                  <a:srgbClr val="C7D2E3"/>
                </a:solidFill>
              </a:rPr>
              <a:t>rivals already charge a premium for eval runs, but they serve expert eval engineers. We serve the people who sign off on production.</a:t>
            </a:r>
          </a:p>
        </p:txBody>
      </p:sp>
      <p:sp>
        <p:nvSpPr>
          <p:cNvPr id="14" name="Card 4"/>
          <p:cNvSpPr/>
          <p:nvPr/>
        </p:nvSpPr>
        <p:spPr>
          <a:xfrm>
            <a:off x="6221000" y="40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ard text 4"/>
          <p:cNvSpPr txBox="1"/>
          <p:nvPr/>
        </p:nvSpPr>
        <p:spPr>
          <a:xfrm>
            <a:off x="6441000" y="42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Market signal</a:t>
            </a:r>
          </a:p>
          <a:p>
            <a:r>
              <a:rPr sz="1600" b="0" i="0">
                <a:solidFill>
                  <a:srgbClr val="C7D2E3"/>
                </a:solidFill>
              </a:rPr>
              <a:t>5% to 40% of enterprise apps get task-specific agents (2025 to end of 2026). Only 1 in 5 companies has a mature governance model for autonomous agents. 40%+ of agentic AI projects will be canceled by 2027 (Gartner).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53140" y="-3482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6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Status Update: Where the Pipeline Stands</a:t>
            </a:r>
          </a:p>
        </p:txBody>
      </p:sp>
      <p:sp>
        <p:nvSpPr>
          <p:cNvPr id="523" name="Bullets"/>
          <p:cNvSpPr txBox="1"/>
          <p:nvPr/>
        </p:nvSpPr>
        <p:spPr>
          <a:xfrm>
            <a:off x="609600" y="4860000"/>
            <a:ext cx="109728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spcAft>
                <a:spcPts val="600"/>
              </a:spcAft>
              <a:buClr>
                <a:srgbClr val="38BDF8"/>
              </a:buClr>
              <a:buFont typeface="Arial"/>
              <a:buChar char="•"/>
            </a:pPr>
            <a:r>
              <a:rPr sz="1600" b="0" i="0">
                <a:solidFill>
                  <a:srgbClr val="FFFFFF"/>
                </a:solidFill>
              </a:rPr>
              <a:t>The signal is strong inbound and consistent praise for root cause</a:t>
            </a:r>
          </a:p>
          <a:p>
            <a:pPr marL="285750" indent="-285750">
              <a:spcAft>
                <a:spcPts val="600"/>
              </a:spcAft>
              <a:buClr>
                <a:srgbClr val="38BDF8"/>
              </a:buClr>
              <a:buFont typeface="Arial"/>
              <a:buChar char="•"/>
            </a:pPr>
            <a:r>
              <a:rPr sz="1600" b="0" i="0">
                <a:solidFill>
                  <a:srgbClr val="FFFFFF"/>
                </a:solidFill>
              </a:rPr>
              <a:t>The named blockers are what stand between this pipeline and signed contracts</a:t>
            </a:r>
          </a:p>
        </p:txBody>
      </p:sp>
      <p:sp>
        <p:nvSpPr>
          <p:cNvPr id="501" name="Flow replied"/>
          <p:cNvSpPr/>
          <p:nvPr/>
        </p:nvSpPr>
        <p:spPr>
          <a:xfrm>
            <a:off x="729600" y="2050000"/>
            <a:ext cx="2210000" cy="393400"/>
          </a:xfrm>
          <a:custGeom>
            <a:avLst/>
            <a:gdLst/>
            <a:ahLst/>
            <a:cxnLst/>
            <a:rect l="0" t="0" r="r" b="b"/>
            <a:pathLst>
              <a:path w="2210000" h="393400">
                <a:moveTo>
                  <a:pt x="0" y="0"/>
                </a:moveTo>
                <a:cubicBezTo>
                  <a:pt x="1105000" y="0"/>
                  <a:pt x="1105000" y="0"/>
                  <a:pt x="2210000" y="0"/>
                </a:cubicBezTo>
                <a:lnTo>
                  <a:pt x="2210000" y="393400"/>
                </a:lnTo>
                <a:cubicBezTo>
                  <a:pt x="1105000" y="393400"/>
                  <a:pt x="1105000" y="393400"/>
                  <a:pt x="0" y="393400"/>
                </a:cubicBezTo>
                <a:close/>
              </a:path>
            </a:pathLst>
          </a:custGeom>
          <a:solidFill>
            <a:srgbClr val="38BDF8">
              <a:alpha val="5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" name="Flow no reply"/>
          <p:cNvSpPr/>
          <p:nvPr/>
        </p:nvSpPr>
        <p:spPr>
          <a:xfrm>
            <a:off x="729600" y="2443400"/>
            <a:ext cx="2210000" cy="2088400"/>
          </a:xfrm>
          <a:custGeom>
            <a:avLst/>
            <a:gdLst/>
            <a:ahLst/>
            <a:cxnLst/>
            <a:rect l="0" t="0" r="r" b="b"/>
            <a:pathLst>
              <a:path w="2210000" h="2088400">
                <a:moveTo>
                  <a:pt x="0" y="0"/>
                </a:moveTo>
                <a:cubicBezTo>
                  <a:pt x="1105000" y="0"/>
                  <a:pt x="1105000" y="290000"/>
                  <a:pt x="2210000" y="290000"/>
                </a:cubicBezTo>
                <a:lnTo>
                  <a:pt x="2210000" y="2088400"/>
                </a:lnTo>
                <a:cubicBezTo>
                  <a:pt x="1105000" y="2088400"/>
                  <a:pt x="1105000" y="1798400"/>
                  <a:pt x="0" y="1798400"/>
                </a:cubicBezTo>
                <a:close/>
              </a:path>
            </a:pathLst>
          </a:custGeom>
          <a:solidFill>
            <a:srgbClr val="7C8CA8">
              <a:alpha val="5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" name="Flow demos"/>
          <p:cNvSpPr/>
          <p:nvPr/>
        </p:nvSpPr>
        <p:spPr>
          <a:xfrm>
            <a:off x="3059600" y="2050000"/>
            <a:ext cx="2210000" cy="337200"/>
          </a:xfrm>
          <a:custGeom>
            <a:avLst/>
            <a:gdLst/>
            <a:ahLst/>
            <a:cxnLst/>
            <a:rect l="0" t="0" r="r" b="b"/>
            <a:pathLst>
              <a:path w="2210000" h="337200">
                <a:moveTo>
                  <a:pt x="0" y="0"/>
                </a:moveTo>
                <a:cubicBezTo>
                  <a:pt x="1105000" y="0"/>
                  <a:pt x="1105000" y="0"/>
                  <a:pt x="2210000" y="0"/>
                </a:cubicBezTo>
                <a:lnTo>
                  <a:pt x="2210000" y="337200"/>
                </a:lnTo>
                <a:cubicBezTo>
                  <a:pt x="1105000" y="337200"/>
                  <a:pt x="1105000" y="337200"/>
                  <a:pt x="0" y="337200"/>
                </a:cubicBezTo>
                <a:close/>
              </a:path>
            </a:pathLst>
          </a:custGeom>
          <a:solidFill>
            <a:srgbClr val="2DD4BF">
              <a:alpha val="5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" name="Flow replied no demo"/>
          <p:cNvSpPr/>
          <p:nvPr/>
        </p:nvSpPr>
        <p:spPr>
          <a:xfrm>
            <a:off x="3059600" y="2387200"/>
            <a:ext cx="2210000" cy="346200"/>
          </a:xfrm>
          <a:custGeom>
            <a:avLst/>
            <a:gdLst/>
            <a:ahLst/>
            <a:cxnLst/>
            <a:rect l="0" t="0" r="r" b="b"/>
            <a:pathLst>
              <a:path w="2210000" h="346200">
                <a:moveTo>
                  <a:pt x="0" y="0"/>
                </a:moveTo>
                <a:cubicBezTo>
                  <a:pt x="1105000" y="0"/>
                  <a:pt x="1105000" y="290000"/>
                  <a:pt x="2210000" y="290000"/>
                </a:cubicBezTo>
                <a:lnTo>
                  <a:pt x="2210000" y="346200"/>
                </a:lnTo>
                <a:cubicBezTo>
                  <a:pt x="1105000" y="346200"/>
                  <a:pt x="1105000" y="56200"/>
                  <a:pt x="0" y="56200"/>
                </a:cubicBezTo>
                <a:close/>
              </a:path>
            </a:pathLst>
          </a:custGeom>
          <a:solidFill>
            <a:srgbClr val="7C8CA8">
              <a:alpha val="5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" name="Flow pending beta"/>
          <p:cNvSpPr/>
          <p:nvPr/>
        </p:nvSpPr>
        <p:spPr>
          <a:xfrm>
            <a:off x="5389600" y="2050000"/>
            <a:ext cx="2210000" cy="140500"/>
          </a:xfrm>
          <a:custGeom>
            <a:avLst/>
            <a:gdLst/>
            <a:ahLst/>
            <a:cxnLst/>
            <a:rect l="0" t="0" r="r" b="b"/>
            <a:pathLst>
              <a:path w="2210000" h="140500">
                <a:moveTo>
                  <a:pt x="0" y="0"/>
                </a:moveTo>
                <a:cubicBezTo>
                  <a:pt x="1105000" y="0"/>
                  <a:pt x="1105000" y="0"/>
                  <a:pt x="2210000" y="0"/>
                </a:cubicBezTo>
                <a:lnTo>
                  <a:pt x="2210000" y="140500"/>
                </a:lnTo>
                <a:cubicBezTo>
                  <a:pt x="1105000" y="140500"/>
                  <a:pt x="1105000" y="140500"/>
                  <a:pt x="0" y="140500"/>
                </a:cubicBezTo>
                <a:close/>
              </a:path>
            </a:pathLst>
          </a:custGeom>
          <a:solidFill>
            <a:srgbClr val="4ADE80">
              <a:alpha val="5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6" name="Flow demo not in beta"/>
          <p:cNvSpPr/>
          <p:nvPr/>
        </p:nvSpPr>
        <p:spPr>
          <a:xfrm>
            <a:off x="5389600" y="2190500"/>
            <a:ext cx="2210000" cy="486700"/>
          </a:xfrm>
          <a:custGeom>
            <a:avLst/>
            <a:gdLst/>
            <a:ahLst/>
            <a:cxnLst/>
            <a:rect l="0" t="0" r="r" b="b"/>
            <a:pathLst>
              <a:path w="2210000" h="486700">
                <a:moveTo>
                  <a:pt x="0" y="0"/>
                </a:moveTo>
                <a:cubicBezTo>
                  <a:pt x="1105000" y="0"/>
                  <a:pt x="1105000" y="290000"/>
                  <a:pt x="2210000" y="290000"/>
                </a:cubicBezTo>
                <a:lnTo>
                  <a:pt x="2210000" y="486700"/>
                </a:lnTo>
                <a:cubicBezTo>
                  <a:pt x="1105000" y="486700"/>
                  <a:pt x="1105000" y="196700"/>
                  <a:pt x="0" y="196700"/>
                </a:cubicBezTo>
                <a:close/>
              </a:path>
            </a:pathLst>
          </a:custGeom>
          <a:solidFill>
            <a:srgbClr val="7C8CA8">
              <a:alpha val="5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7" name="Node interested"/>
          <p:cNvSpPr/>
          <p:nvPr/>
        </p:nvSpPr>
        <p:spPr>
          <a:xfrm>
            <a:off x="609600" y="2050000"/>
            <a:ext cx="120000" cy="2191800"/>
          </a:xfrm>
          <a:prstGeom prst="rect">
            <a:avLst/>
          </a:prstGeom>
          <a:solidFill>
            <a:srgbClr val="1D6FD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8" name="Node replied"/>
          <p:cNvSpPr/>
          <p:nvPr/>
        </p:nvSpPr>
        <p:spPr>
          <a:xfrm>
            <a:off x="2939600" y="2050000"/>
            <a:ext cx="120000" cy="3934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9" name="Node no reply"/>
          <p:cNvSpPr/>
          <p:nvPr/>
        </p:nvSpPr>
        <p:spPr>
          <a:xfrm>
            <a:off x="2939600" y="2733400"/>
            <a:ext cx="120000" cy="1798400"/>
          </a:xfrm>
          <a:prstGeom prst="rect">
            <a:avLst/>
          </a:prstGeom>
          <a:solidFill>
            <a:srgbClr val="7C8C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0" name="Node demos"/>
          <p:cNvSpPr/>
          <p:nvPr/>
        </p:nvSpPr>
        <p:spPr>
          <a:xfrm>
            <a:off x="5269600" y="2050000"/>
            <a:ext cx="120000" cy="3372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1" name="Node replied no demo"/>
          <p:cNvSpPr/>
          <p:nvPr/>
        </p:nvSpPr>
        <p:spPr>
          <a:xfrm>
            <a:off x="5269600" y="2677200"/>
            <a:ext cx="120000" cy="56200"/>
          </a:xfrm>
          <a:prstGeom prst="rect">
            <a:avLst/>
          </a:prstGeom>
          <a:solidFill>
            <a:srgbClr val="7C8C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2" name="Node pending"/>
          <p:cNvSpPr/>
          <p:nvPr/>
        </p:nvSpPr>
        <p:spPr>
          <a:xfrm>
            <a:off x="7599600" y="2050000"/>
            <a:ext cx="120000" cy="1405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3" name="Node not in beta"/>
          <p:cNvSpPr/>
          <p:nvPr/>
        </p:nvSpPr>
        <p:spPr>
          <a:xfrm>
            <a:off x="7599600" y="2480500"/>
            <a:ext cx="120000" cy="196700"/>
          </a:xfrm>
          <a:prstGeom prst="rect">
            <a:avLst/>
          </a:prstGeom>
          <a:solidFill>
            <a:srgbClr val="7C8C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4" name="Node active"/>
          <p:cNvSpPr/>
          <p:nvPr/>
        </p:nvSpPr>
        <p:spPr>
          <a:xfrm>
            <a:off x="9929600" y="2050000"/>
            <a:ext cx="120000" cy="12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4" name="Label interested"/>
          <p:cNvSpPr txBox="1"/>
          <p:nvPr/>
        </p:nvSpPr>
        <p:spPr>
          <a:xfrm>
            <a:off x="609600" y="1780000"/>
            <a:ext cx="1900000" cy="2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FFFFFF"/>
                </a:solidFill>
              </a:rPr>
              <a:t>Interested: 78</a:t>
            </a:r>
          </a:p>
        </p:txBody>
      </p:sp>
      <p:sp>
        <p:nvSpPr>
          <p:cNvPr id="525" name="Label replied"/>
          <p:cNvSpPr txBox="1"/>
          <p:nvPr/>
        </p:nvSpPr>
        <p:spPr>
          <a:xfrm>
            <a:off x="2939600" y="1780000"/>
            <a:ext cx="1900000" cy="2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FFFFFF"/>
                </a:solidFill>
              </a:rPr>
              <a:t>Replied: 14</a:t>
            </a:r>
          </a:p>
        </p:txBody>
      </p:sp>
      <p:sp>
        <p:nvSpPr>
          <p:cNvPr id="526" name="Label no reply"/>
          <p:cNvSpPr txBox="1"/>
          <p:nvPr/>
        </p:nvSpPr>
        <p:spPr>
          <a:xfrm>
            <a:off x="3149600" y="3539528"/>
            <a:ext cx="1900000" cy="2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 i="0" dirty="0">
                <a:solidFill>
                  <a:srgbClr val="C7D2E3"/>
                </a:solidFill>
              </a:rPr>
              <a:t>No reply: 64</a:t>
            </a:r>
          </a:p>
        </p:txBody>
      </p:sp>
      <p:sp>
        <p:nvSpPr>
          <p:cNvPr id="527" name="Label demos"/>
          <p:cNvSpPr txBox="1"/>
          <p:nvPr/>
        </p:nvSpPr>
        <p:spPr>
          <a:xfrm>
            <a:off x="5269600" y="1780000"/>
            <a:ext cx="1900000" cy="2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FFFFFF"/>
                </a:solidFill>
              </a:rPr>
              <a:t>Demos: 12</a:t>
            </a:r>
          </a:p>
        </p:txBody>
      </p:sp>
      <p:sp>
        <p:nvSpPr>
          <p:cNvPr id="528" name="Label no demo"/>
          <p:cNvSpPr txBox="1"/>
          <p:nvPr/>
        </p:nvSpPr>
        <p:spPr>
          <a:xfrm>
            <a:off x="5459230" y="2612093"/>
            <a:ext cx="1900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 i="0" dirty="0">
                <a:solidFill>
                  <a:srgbClr val="C7D2E3"/>
                </a:solidFill>
              </a:rPr>
              <a:t>Replied, no</a:t>
            </a:r>
            <a:endParaRPr lang="en-US" sz="1200" b="0" i="0" dirty="0">
              <a:solidFill>
                <a:srgbClr val="C7D2E3"/>
              </a:solidFill>
            </a:endParaRPr>
          </a:p>
          <a:p>
            <a:r>
              <a:rPr sz="1200" b="0" i="0" dirty="0">
                <a:solidFill>
                  <a:srgbClr val="C7D2E3"/>
                </a:solidFill>
              </a:rPr>
              <a:t>demo yet: 2</a:t>
            </a:r>
          </a:p>
        </p:txBody>
      </p:sp>
      <p:sp>
        <p:nvSpPr>
          <p:cNvPr id="529" name="Label pending"/>
          <p:cNvSpPr txBox="1"/>
          <p:nvPr/>
        </p:nvSpPr>
        <p:spPr>
          <a:xfrm>
            <a:off x="7599600" y="1780000"/>
            <a:ext cx="1900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FFFFFF"/>
                </a:solidFill>
              </a:rPr>
              <a:t>Pending betas: 5</a:t>
            </a:r>
          </a:p>
        </p:txBody>
      </p:sp>
      <p:sp>
        <p:nvSpPr>
          <p:cNvPr id="530" name="Label not in beta"/>
          <p:cNvSpPr txBox="1"/>
          <p:nvPr/>
        </p:nvSpPr>
        <p:spPr>
          <a:xfrm>
            <a:off x="7789230" y="2475300"/>
            <a:ext cx="1900000" cy="2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 i="0">
                <a:solidFill>
                  <a:srgbClr val="C7D2E3"/>
                </a:solidFill>
              </a:rPr>
              <a:t>Demo done, not in beta: 7</a:t>
            </a:r>
          </a:p>
        </p:txBody>
      </p:sp>
      <p:sp>
        <p:nvSpPr>
          <p:cNvPr id="531" name="Label active"/>
          <p:cNvSpPr txBox="1"/>
          <p:nvPr/>
        </p:nvSpPr>
        <p:spPr>
          <a:xfrm>
            <a:off x="9929600" y="1780000"/>
            <a:ext cx="1900000" cy="2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FFFFFF"/>
                </a:solidFill>
              </a:rPr>
              <a:t>Active betas: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53140" y="-11520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7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Five Companies Are Ready for Beta</a:t>
            </a:r>
          </a:p>
        </p:txBody>
      </p:sp>
      <p:sp>
        <p:nvSpPr>
          <p:cNvPr id="8" name="Ready card"/>
          <p:cNvSpPr/>
          <p:nvPr/>
        </p:nvSpPr>
        <p:spPr>
          <a:xfrm>
            <a:off x="609600" y="1650000"/>
            <a:ext cx="3600000" cy="350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ady text"/>
          <p:cNvSpPr txBox="1"/>
          <p:nvPr/>
        </p:nvSpPr>
        <p:spPr>
          <a:xfrm>
            <a:off x="909600" y="1900000"/>
            <a:ext cx="3000000" cy="31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9600" b="1">
                <a:solidFill>
                  <a:srgbClr val="4ADE80"/>
                </a:solidFill>
              </a:rPr>
              <a:t>5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FFFFFF"/>
                </a:solidFill>
              </a:rPr>
              <a:t>companies ready for beta today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C7D2E3"/>
                </a:solidFill>
              </a:rPr>
              <a:t>Wolters Kluwer, Tritusa, Aptiv, L'Oreal, Accenture</a:t>
            </a:r>
          </a:p>
        </p:txBody>
      </p:sp>
      <p:sp>
        <p:nvSpPr>
          <p:cNvPr id="10" name="Blocker card 1"/>
          <p:cNvSpPr/>
          <p:nvPr/>
        </p:nvSpPr>
        <p:spPr>
          <a:xfrm>
            <a:off x="4459600" y="1650000"/>
            <a:ext cx="7122800" cy="1625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locker text 1"/>
          <p:cNvSpPr txBox="1"/>
          <p:nvPr/>
        </p:nvSpPr>
        <p:spPr>
          <a:xfrm>
            <a:off x="4759600" y="1870000"/>
            <a:ext cx="6522800" cy="132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87171"/>
                </a:solidFill>
              </a:rPr>
              <a:t>BLOCKER 1</a:t>
            </a:r>
          </a:p>
          <a:p>
            <a:pPr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</a:rPr>
              <a:t>Production database</a:t>
            </a:r>
          </a:p>
          <a:p>
            <a:pPr>
              <a:spcAft>
                <a:spcPts val="0"/>
              </a:spcAft>
            </a:pPr>
            <a:r>
              <a:rPr sz="1700" b="0">
                <a:solidFill>
                  <a:srgbClr val="C7D2E3"/>
                </a:solidFill>
              </a:rPr>
              <a:t>SRE is still working to stabilize the database for the move to production.</a:t>
            </a:r>
          </a:p>
        </p:txBody>
      </p:sp>
      <p:sp>
        <p:nvSpPr>
          <p:cNvPr id="12" name="Blocker card 2"/>
          <p:cNvSpPr/>
          <p:nvPr/>
        </p:nvSpPr>
        <p:spPr>
          <a:xfrm>
            <a:off x="4459600" y="3525000"/>
            <a:ext cx="7122800" cy="1625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locker text 2"/>
          <p:cNvSpPr txBox="1"/>
          <p:nvPr/>
        </p:nvSpPr>
        <p:spPr>
          <a:xfrm>
            <a:off x="4759600" y="3745000"/>
            <a:ext cx="6522800" cy="11746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 dirty="0">
                <a:solidFill>
                  <a:srgbClr val="F87171"/>
                </a:solidFill>
              </a:rPr>
              <a:t>BLOCKER 2</a:t>
            </a:r>
          </a:p>
          <a:p>
            <a:pPr>
              <a:spcAft>
                <a:spcPts val="600"/>
              </a:spcAft>
            </a:pPr>
            <a:r>
              <a:rPr sz="2200" b="1" dirty="0">
                <a:solidFill>
                  <a:srgbClr val="FFFFFF"/>
                </a:solidFill>
              </a:rPr>
              <a:t>API gateway</a:t>
            </a:r>
          </a:p>
          <a:p>
            <a:pPr>
              <a:spcAft>
                <a:spcPts val="0"/>
              </a:spcAft>
            </a:pPr>
            <a:r>
              <a:rPr sz="1700" b="0" dirty="0">
                <a:solidFill>
                  <a:srgbClr val="C7D2E3"/>
                </a:solidFill>
              </a:rPr>
              <a:t>The gateway has to be promoted to production to provide access to the </a:t>
            </a:r>
            <a:r>
              <a:rPr sz="1700" b="0" dirty="0" err="1">
                <a:solidFill>
                  <a:srgbClr val="C7D2E3"/>
                </a:solidFill>
              </a:rPr>
              <a:t>backoffice</a:t>
            </a:r>
            <a:r>
              <a:rPr sz="1700" b="0" dirty="0">
                <a:solidFill>
                  <a:srgbClr val="C7D2E3"/>
                </a:solidFill>
              </a:rPr>
              <a:t>.</a:t>
            </a:r>
            <a:r>
              <a:rPr lang="en-US" sz="1700" b="0" dirty="0">
                <a:solidFill>
                  <a:srgbClr val="C7D2E3"/>
                </a:solidFill>
              </a:rPr>
              <a:t> </a:t>
            </a:r>
            <a:r>
              <a:rPr lang="en-US" sz="1700" dirty="0">
                <a:solidFill>
                  <a:srgbClr val="C7D2E3"/>
                </a:solidFill>
              </a:rPr>
              <a:t>The Sephirot team is looking </a:t>
            </a:r>
            <a:r>
              <a:rPr lang="en-US" sz="1700">
                <a:solidFill>
                  <a:srgbClr val="C7D2E3"/>
                </a:solidFill>
              </a:rPr>
              <a:t>into this.</a:t>
            </a:r>
            <a:endParaRPr sz="1700" b="0" dirty="0">
              <a:solidFill>
                <a:srgbClr val="C7D2E3"/>
              </a:solidFill>
            </a:endParaRPr>
          </a:p>
        </p:txBody>
      </p:sp>
      <p:sp>
        <p:nvSpPr>
          <p:cNvPr id="14" name="Takeaway"/>
          <p:cNvSpPr txBox="1"/>
          <p:nvPr/>
        </p:nvSpPr>
        <p:spPr>
          <a:xfrm>
            <a:off x="609600" y="5480000"/>
            <a:ext cx="10972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</a:rPr>
              <a:t>Demand is not the constraint. The move to production 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53140" y="-11520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8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Pending beta: Wolters Kluwer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225159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Score agents outside the Tricentis ecosystem (their internal "FAB" platform, GitHub Copilot) to steer people to sanctioned tooling.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77867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908679"/>
            <a:ext cx="19000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908679"/>
            <a:ext cx="84228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Signed up 08-20-2026. Welcome email the same day. Meeting booked 08-31-2026. Demo in early September (exact date not logged).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1779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747799"/>
            <a:ext cx="1900000" cy="1218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747799"/>
            <a:ext cx="8422800" cy="1218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LLM before/after benchmarking and the dual access model (embedded in AI Workspace plus standalone) landed strongly. Per-agent scoring is "a proof of concept, not the product they need," so they want fleet-level scoring. RBAC/SSO is a "big concern."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503603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5166039"/>
            <a:ext cx="19000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5166039"/>
            <a:ext cx="84228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A pilot tenant (their top priority) and a date for bulk/fleet scoring, which they targeted for end of September.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332538" y="-2234167"/>
            <a:ext cx="13858624" cy="11831801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9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</a:rPr>
              <a:t>Pending beta: Tritusa (AU, gold-sponsor partner)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514716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Evaluate client-built agents (a Copilot Studio agent and an AI Workspace MCP+A2A agent) and arm their evals-and-assurance advisory practice.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77867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908679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908679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Signed up 08-24-2026. Welcome email 08-25-2026. Demo 09-11-2026, after scheduling friction including a 9-day gap on our side (08-31-2026 to 09-09-2026).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907358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4037358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4037358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Strong. They presented an autonomous QA agent at Transatlantic 26 Singapore the week of 09-15-2026 and expected trust and compliance questions.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5036037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5166037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5166037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Open: compliance flagging for bank/pharma clients, alerting, bulk export, and a partner co-sell answer. On 09-24-2026 we told them select beta is "the next week or two."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5359967" y="-1409287"/>
            <a:ext cx="15138584" cy="12375792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10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Pending beta: Aptiv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514718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Streamline a manual eval practice for agents on Copilot Studio, Azure Foundry, and Gemini/ADK. Multi-persona call (Tricentis tool owner plus the data and AI team).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77867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908679"/>
            <a:ext cx="19000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908679"/>
            <a:ext cx="84228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Signed up 09-23-2026. Welcome email 2 hours later. Demo 09-25-2026.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1779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747799"/>
            <a:ext cx="1900000" cy="1218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747799"/>
            <a:ext cx="8422800" cy="1218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Two-line OTel, tool-call-level root cause, golden-dataset regression, and the three-tier eval model all landed. Hard wall: Gemini Enterprise/Dialogflow agents and Google-managed NL2SQL agents expose no traces at all, which we acknowledged as a likely gap.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503603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5166039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5166039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Us. They need onboarding requirements for their architecture review board before a POC. Our reply on 10-01-2026 said we are "wrapping up a few final items."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734347" y="-3133816"/>
            <a:ext cx="8840293" cy="8199372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11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Pending beta: L'Oreal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088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Replace manual evaluation of a live ELK reconciliation agent, then run a self-driven POC to build an internal pitch. Signed up after the Transform Singapore event.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8244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9544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9544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Signed up 09-17-2026. Welcome email 18 hours later. They replied 09-23-2026 (6 days later). Demo 09-24-2026.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940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824000"/>
            <a:ext cx="1900000" cy="127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824000"/>
            <a:ext cx="8422800" cy="127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Positive on replacing the manual process. Asked for on-demand batch test prompts (we said no, we only score organic traces), self-service access for Workspace agents, and faster trial access.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51732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5303200"/>
            <a:ext cx="1900000" cy="36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5303200"/>
            <a:ext cx="8422800" cy="36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Us, for a short how-it-works video for their manager.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54799" y="-2486900"/>
            <a:ext cx="13858624" cy="11831801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12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</a:rPr>
              <a:t>Pending beta: Accenture (5 contacts across entities)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37832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Extend their quality engineering practice into agentic-AI testing for clients. Also the SI delivering the Meta POC.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5196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6496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649600"/>
            <a:ext cx="84228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Form submissions 08-20-2026 to 09-22-2026. Meta POC thread since 09-10-2026. We confirmed moving forward on 09-15-2026, and a call was set for the following Monday.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940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8240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8240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Engaged on the Meta POC (asked about install steps, team needed, and the business use case). No separate demo logged.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45636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46936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46936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Risk: HCL and Accenture are both partners separately tasked by Meta to build a competing framework.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10849414" y="-5183314"/>
            <a:ext cx="21866993" cy="17876267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13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3000" b="1" i="0" dirty="0">
                <a:solidFill>
                  <a:srgbClr val="FFFFFF"/>
                </a:solidFill>
              </a:rPr>
              <a:t>Demo Done</a:t>
            </a:r>
            <a:r>
              <a:rPr sz="3000" b="1" i="0" dirty="0">
                <a:solidFill>
                  <a:srgbClr val="FFFFFF"/>
                </a:solidFill>
              </a:rPr>
              <a:t>: Meta (sales-sourced; POC scoping)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392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Test 4-5 production agents in the autonomous supply chain (order management is the flagship).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5196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6496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6496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Demo 08-11-2026. POC scoping call 09-11-2026 via a delivery partner.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3892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519200"/>
            <a:ext cx="1900000" cy="127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519200"/>
            <a:ext cx="8422800" cy="127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Urgent need and strong pull. Gated by self-hosted deployment in Meta's AWS, pointing the judge at Meta's internal LLMs, and scenario-bank simulation. Legal review of making Labs software downloadable is in progress.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48684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49984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4998400"/>
            <a:ext cx="84228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000" dirty="0">
                <a:solidFill>
                  <a:srgbClr val="E2E8F0"/>
                </a:solidFill>
              </a:rPr>
              <a:t>Accenture evaluation on effectiveness and viability of </a:t>
            </a:r>
            <a:r>
              <a:rPr lang="en-US" sz="2000" dirty="0" err="1">
                <a:solidFill>
                  <a:srgbClr val="E2E8F0"/>
                </a:solidFill>
              </a:rPr>
              <a:t>AgentScore</a:t>
            </a:r>
            <a:endParaRPr sz="2000" b="0" i="0" dirty="0">
              <a:solidFill>
                <a:srgbClr val="E2E8F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53140" y="-7668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14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Demo done: BearingPoint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37832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Run AgentScore on their own QTest ATC test-generation agent, and have an answer for clients who ask "how do you know the agent works."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8244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9544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9544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Signed up 09-14-2026. Welcome email 09-17-2026. Demo 09-23-2026.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940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8240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8240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Matches the partner/SI lens. The wall: Tricentis's own agents are not visible in AgentScore for IP reasons.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45636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46936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46936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Their manager's decision on bringing agents into the beta (slides sent 09-25-2026).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3140" y="-11520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15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Demo done: Workday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392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Validate Workday and Salesforce Agentforce agents (delivery director plus senior QA).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5196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6496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649600"/>
            <a:ext cx="8422800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000" b="0" i="0" dirty="0">
                <a:solidFill>
                  <a:srgbClr val="E2E8F0"/>
                </a:solidFill>
              </a:rPr>
              <a:t>07-24-2026 demo, which was done before the company signed up via Labs. </a:t>
            </a:r>
            <a:r>
              <a:rPr lang="en-US" sz="2000" dirty="0">
                <a:solidFill>
                  <a:srgbClr val="E2E8F0"/>
                </a:solidFill>
              </a:rPr>
              <a:t>Form </a:t>
            </a:r>
            <a:r>
              <a:rPr sz="2000" b="0" i="0" dirty="0">
                <a:solidFill>
                  <a:srgbClr val="E2E8F0"/>
                </a:solidFill>
              </a:rPr>
              <a:t>signup was 08-28-2026 and the welcome email 08-31-2026. 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940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8240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824000"/>
            <a:ext cx="84228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Mixed. "Knowing what to measure" and root cause landed. The QA persona never accepted it as a "testing tool" (raised four times).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48684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49984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4998400"/>
            <a:ext cx="84228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Us. No next call committed. We need to fix positioning and the demo first. Workday is also building its own Agent Passport.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332538" y="-2234167"/>
            <a:ext cx="13858624" cy="11831801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16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</a:rPr>
              <a:t>Demo done: Freddie Mac (sales-sourced; replied)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34784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Audit the quality of internally built agents. The product team and the AI accelerator team build overlapping agents with no shared yardstick.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8244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9544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9544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Sales conversation 08-28-2026.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940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8240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8240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The ship/warn/block verdict is what they reacted to most directly.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45636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4693600"/>
            <a:ext cx="1900000" cy="36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4693600"/>
            <a:ext cx="8422800" cy="36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No beta scheduled.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5359967" y="-1409287"/>
            <a:ext cx="15138584" cy="12375792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17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</a:rPr>
              <a:t>Demo done: Eaton (internal referral; demo 10-01-2026)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453759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1035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1035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E2E8F0"/>
                </a:solidFill>
              </a:rPr>
              <a:t>Establish quality engineering practices for custom AI built mostly on Azure AI Foundry and Palantir Foundry. Headline requirement: automated testing as a CI/CD quality gate. Three agent classes (RAG, workflow, research) each need their own definition of "good."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88536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3015360"/>
            <a:ext cx="1900000" cy="54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3015360"/>
            <a:ext cx="8422800" cy="54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E2E8F0"/>
                </a:solidFill>
              </a:rPr>
              <a:t>Invite 09-21-2026 (they first heard of AgentScore at Transform in Singapore). Demo 10-01-2026 with the quality lead and a technical stakeholder.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3304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763040"/>
            <a:ext cx="1900000" cy="127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763040"/>
            <a:ext cx="8422800" cy="127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E2E8F0"/>
                </a:solidFill>
              </a:rPr>
              <a:t>Editable success criteria and profiles, weighted dimensions, tool-use/MCP/agent-to-agent scoring, version-tagged runs, and golden-dataset-from-real-traces all landed. Gaps: CI/CD gate is in progress (the deciding item), cloud hosting only, no upfront golden-dataset upload, adversarial testing is roadmap only. Palantir Foundry compatibility was never answered.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511224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5242240"/>
            <a:ext cx="1900000" cy="791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5242240"/>
            <a:ext cx="8422800" cy="791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E2E8F0"/>
                </a:solidFill>
              </a:rPr>
              <a:t>Us. A data-handling answer (what goes to the LLM judge, PII redaction), overview collateral, and a comparison against Azure AI Foundry's built-in evals. No beta date set.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734347" y="-3133816"/>
            <a:ext cx="8840293" cy="8199372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18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Demo done: Love's (demo 10-02-2026)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514719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Not an agent-evaluation pull yet. They run on-prem Tosca and are testing the Tosca on-prem MCP with Claude on a test box. They evaluate no other AI agents today.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77867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908679"/>
            <a:ext cx="19000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908679"/>
            <a:ext cx="84228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Signed up 08-20-2026. Booked a slot 09-24-2026 (after the follow-up). Demo 10-02-2026.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1779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747799"/>
            <a:ext cx="1900000" cy="1507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747799"/>
            <a:ext cx="8422800" cy="1507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Genuinely interested ("it is interesting, though") but the blocker was plain: AgentScore is cloud only and Love's is on-prem, so "we probably can't do much with it currently." A customer-run container with a customer-configured judge LLM might be an option.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532559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5455599"/>
            <a:ext cx="19000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5455599"/>
            <a:ext cx="84228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Us. A follow-up describing what an on-prem or container deployment would look like.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54799" y="-2486900"/>
            <a:ext cx="13858624" cy="11831801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19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Other Warm Accounts and Other Interest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37932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llets"/>
          <p:cNvSpPr txBox="1"/>
          <p:nvPr/>
        </p:nvSpPr>
        <p:spPr>
          <a:xfrm>
            <a:off x="909600" y="1870000"/>
            <a:ext cx="10372800" cy="349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38BDF8"/>
              </a:buClr>
              <a:buFont typeface="Arial"/>
              <a:buChar char="•"/>
            </a:pPr>
            <a:r>
              <a:rPr sz="2000" b="1" i="0">
                <a:solidFill>
                  <a:srgbClr val="FFFFFF"/>
                </a:solidFill>
              </a:rPr>
              <a:t>New Vision Software (Tosca partner): </a:t>
            </a:r>
            <a:r>
              <a:rPr sz="2000" b="0" i="0">
                <a:solidFill>
                  <a:srgbClr val="C7D2E3"/>
                </a:solidFill>
              </a:rPr>
              <a:t>demo scheduled 10-08-2026. Likely resale or an extension of their QA offering to clients.</a:t>
            </a:r>
          </a:p>
          <a:p>
            <a:pPr marL="285750" indent="-285750">
              <a:spcAft>
                <a:spcPts val="1400"/>
              </a:spcAft>
              <a:buClr>
                <a:srgbClr val="38BDF8"/>
              </a:buClr>
              <a:buFont typeface="Arial"/>
              <a:buChar char="•"/>
            </a:pPr>
            <a:r>
              <a:rPr sz="2000" b="1" i="0">
                <a:solidFill>
                  <a:srgbClr val="FFFFFF"/>
                </a:solidFill>
              </a:rPr>
              <a:t>Merito Solutions (partner): </a:t>
            </a:r>
            <a:r>
              <a:rPr sz="2000" b="0" i="0">
                <a:solidFill>
                  <a:srgbClr val="C7D2E3"/>
                </a:solidFill>
              </a:rPr>
              <a:t>demo scheduled 10-06-2026. Likely resale.</a:t>
            </a:r>
          </a:p>
          <a:p>
            <a:pPr marL="285750" indent="-285750">
              <a:spcAft>
                <a:spcPts val="1400"/>
              </a:spcAft>
              <a:buClr>
                <a:srgbClr val="38BDF8"/>
              </a:buClr>
              <a:buFont typeface="Arial"/>
              <a:buChar char="•"/>
            </a:pPr>
            <a:r>
              <a:rPr sz="2000" b="1" i="0">
                <a:solidFill>
                  <a:srgbClr val="FFFFFF"/>
                </a:solidFill>
              </a:rPr>
              <a:t>Stanza (AI-agent vendor): </a:t>
            </a:r>
            <a:r>
              <a:rPr sz="2000" b="0" i="0">
                <a:solidFill>
                  <a:srgbClr val="C7D2E3"/>
                </a:solidFill>
              </a:rPr>
              <a:t>replied. Likely QA of their own agents.</a:t>
            </a:r>
          </a:p>
          <a:p>
            <a:pPr marL="285750" indent="-285750">
              <a:spcAft>
                <a:spcPts val="1400"/>
              </a:spcAft>
              <a:buClr>
                <a:srgbClr val="38BDF8"/>
              </a:buClr>
              <a:buFont typeface="Arial"/>
              <a:buChar char="•"/>
            </a:pPr>
            <a:r>
              <a:rPr sz="2000" b="0" i="0">
                <a:solidFill>
                  <a:srgbClr val="C7D2E3"/>
                </a:solidFill>
              </a:rPr>
              <a:t>64 more companies are at "email sent" or "follow-up sent" (09-24-2026 and 10-05-2026), including Merck, Regeneron, McKesson, Boeing, Capgemini, Cummins, Home Depot, HP, Cargill, and Dominion Energy</a:t>
            </a:r>
          </a:p>
          <a:p>
            <a:pPr marL="285750" indent="-285750">
              <a:spcAft>
                <a:spcPts val="1400"/>
              </a:spcAft>
              <a:buClr>
                <a:srgbClr val="38BDF8"/>
              </a:buClr>
              <a:buFont typeface="Arial"/>
              <a:buChar char="•"/>
            </a:pPr>
            <a:r>
              <a:rPr sz="2000" b="0" i="0">
                <a:solidFill>
                  <a:srgbClr val="C7D2E3"/>
                </a:solidFill>
              </a:rPr>
              <a:t>Their use cases are inferred from public information, not confirmed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-10849414" y="-5183314"/>
            <a:ext cx="21866993" cy="17876267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20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Needs by Theme</a:t>
            </a:r>
          </a:p>
        </p:txBody>
      </p:sp>
      <p:sp>
        <p:nvSpPr>
          <p:cNvPr id="8" name="Card 1"/>
          <p:cNvSpPr/>
          <p:nvPr/>
        </p:nvSpPr>
        <p:spPr>
          <a:xfrm>
            <a:off x="609600" y="16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Card text 1"/>
          <p:cNvSpPr txBox="1"/>
          <p:nvPr/>
        </p:nvSpPr>
        <p:spPr>
          <a:xfrm>
            <a:off x="829600" y="18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Ship/no-ship verdict and root cause (Workday, Wolters Kluwer, Aptiv, L'Oreal)</a:t>
            </a:r>
          </a:p>
          <a:p>
            <a:r>
              <a:rPr sz="1600" b="0" i="0">
                <a:solidFill>
                  <a:srgbClr val="C7D2E3"/>
                </a:solidFill>
              </a:rPr>
              <a:t>closest to sellable today</a:t>
            </a:r>
          </a:p>
        </p:txBody>
      </p:sp>
      <p:sp>
        <p:nvSpPr>
          <p:cNvPr id="10" name="Card 2"/>
          <p:cNvSpPr/>
          <p:nvPr/>
        </p:nvSpPr>
        <p:spPr>
          <a:xfrm>
            <a:off x="6221000" y="16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Card text 2"/>
          <p:cNvSpPr txBox="1"/>
          <p:nvPr/>
        </p:nvSpPr>
        <p:spPr>
          <a:xfrm>
            <a:off x="6441000" y="18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Fleet-level governance (Freddie Mac, Wolters Kluwer, Meta)</a:t>
            </a:r>
          </a:p>
          <a:p>
            <a:r>
              <a:rPr sz="1600" b="0" i="0">
                <a:solidFill>
                  <a:srgbClr val="C7D2E3"/>
                </a:solidFill>
              </a:rPr>
              <a:t>fleet-level scoring is not built yet</a:t>
            </a:r>
          </a:p>
        </p:txBody>
      </p:sp>
      <p:sp>
        <p:nvSpPr>
          <p:cNvPr id="12" name="Card 3"/>
          <p:cNvSpPr/>
          <p:nvPr/>
        </p:nvSpPr>
        <p:spPr>
          <a:xfrm>
            <a:off x="609600" y="40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ard text 3"/>
          <p:cNvSpPr txBox="1"/>
          <p:nvPr/>
        </p:nvSpPr>
        <p:spPr>
          <a:xfrm>
            <a:off x="829600" y="42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SI and partner evidence for client agents (Tritusa, BearingPoint, Accenture)</a:t>
            </a:r>
          </a:p>
          <a:p>
            <a:r>
              <a:rPr sz="1600" b="0" i="0">
                <a:solidFill>
                  <a:srgbClr val="C7D2E3"/>
                </a:solidFill>
              </a:rPr>
              <a:t>they want RBAC/SSO and co-sell collateral</a:t>
            </a:r>
          </a:p>
        </p:txBody>
      </p:sp>
      <p:sp>
        <p:nvSpPr>
          <p:cNvPr id="14" name="Card 4"/>
          <p:cNvSpPr/>
          <p:nvPr/>
        </p:nvSpPr>
        <p:spPr>
          <a:xfrm>
            <a:off x="6221000" y="40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ard text 4"/>
          <p:cNvSpPr txBox="1"/>
          <p:nvPr/>
        </p:nvSpPr>
        <p:spPr>
          <a:xfrm>
            <a:off x="6441000" y="4250000"/>
            <a:ext cx="4921400" cy="13798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 b="1" i="0" dirty="0">
                <a:solidFill>
                  <a:srgbClr val="FFFFFF"/>
                </a:solidFill>
              </a:rPr>
              <a:t>Most common requests</a:t>
            </a:r>
            <a:r>
              <a:rPr sz="1900" b="1" i="0" dirty="0">
                <a:solidFill>
                  <a:srgbClr val="FFFFFF"/>
                </a:solidFill>
              </a:rPr>
              <a:t> across accounts</a:t>
            </a:r>
          </a:p>
          <a:p>
            <a:r>
              <a:rPr sz="1600" b="0" i="0" dirty="0">
                <a:solidFill>
                  <a:srgbClr val="C7D2E3"/>
                </a:solidFill>
              </a:rPr>
              <a:t>on-prem (Meta, Love's), RBAC/SSO (Wolters Kluwer), compliance and PII validation (</a:t>
            </a:r>
            <a:r>
              <a:rPr sz="1600" b="0" i="0" dirty="0" err="1">
                <a:solidFill>
                  <a:srgbClr val="C7D2E3"/>
                </a:solidFill>
              </a:rPr>
              <a:t>Tritusa</a:t>
            </a:r>
            <a:r>
              <a:rPr sz="1600" b="0" i="0" dirty="0">
                <a:solidFill>
                  <a:srgbClr val="C7D2E3"/>
                </a:solidFill>
              </a:rPr>
              <a:t>), scenario-bank simulation (Meta, L'Oreal, </a:t>
            </a:r>
            <a:r>
              <a:rPr sz="1600" b="0" i="0" dirty="0" err="1">
                <a:solidFill>
                  <a:srgbClr val="C7D2E3"/>
                </a:solidFill>
              </a:rPr>
              <a:t>Tritusa</a:t>
            </a:r>
            <a:r>
              <a:rPr sz="1600" b="0" i="0" dirty="0">
                <a:solidFill>
                  <a:srgbClr val="C7D2E3"/>
                </a:solidFill>
              </a:rPr>
              <a:t>), and agents with no exportable traces (Aptiv)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53140" y="-7668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21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SIGNUP FUNNEL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Signups per Day: Average</a:t>
            </a:r>
          </a:p>
        </p:txBody>
      </p:sp>
      <p:sp>
        <p:nvSpPr>
          <p:cNvPr id="8" name="Card 1"/>
          <p:cNvSpPr/>
          <p:nvPr/>
        </p:nvSpPr>
        <p:spPr>
          <a:xfrm>
            <a:off x="609600" y="2100000"/>
            <a:ext cx="3490933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Card text 1"/>
          <p:cNvSpPr txBox="1"/>
          <p:nvPr/>
        </p:nvSpPr>
        <p:spPr>
          <a:xfrm>
            <a:off x="829600" y="2300000"/>
            <a:ext cx="3050933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C7D2E3"/>
                </a:solidFill>
              </a:rPr>
              <a:t>About 2.0 signups per day (92 signups over 45 days, 08-19-2026 to 10-02-2026 UTC)</a:t>
            </a:r>
          </a:p>
        </p:txBody>
      </p:sp>
      <p:sp>
        <p:nvSpPr>
          <p:cNvPr id="10" name="Card 2"/>
          <p:cNvSpPr/>
          <p:nvPr/>
        </p:nvSpPr>
        <p:spPr>
          <a:xfrm>
            <a:off x="4350533" y="2100000"/>
            <a:ext cx="3490933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Card text 2"/>
          <p:cNvSpPr txBox="1"/>
          <p:nvPr/>
        </p:nvSpPr>
        <p:spPr>
          <a:xfrm>
            <a:off x="4570533" y="2300000"/>
            <a:ext cx="3050933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C7D2E3"/>
                </a:solidFill>
              </a:rPr>
              <a:t>About 13 signups per week (92 signups over 7 calendar weeks, Monday start; last week is partial)</a:t>
            </a:r>
          </a:p>
        </p:txBody>
      </p:sp>
      <p:sp>
        <p:nvSpPr>
          <p:cNvPr id="12" name="Card 3"/>
          <p:cNvSpPr/>
          <p:nvPr/>
        </p:nvSpPr>
        <p:spPr>
          <a:xfrm>
            <a:off x="8091466" y="2100000"/>
            <a:ext cx="3490933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ard text 3"/>
          <p:cNvSpPr txBox="1"/>
          <p:nvPr/>
        </p:nvSpPr>
        <p:spPr>
          <a:xfrm>
            <a:off x="8311466" y="2300000"/>
            <a:ext cx="3050933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C7D2E3"/>
                </a:solidFill>
              </a:rPr>
              <a:t>Average includes the 08-20-2026 spike (34 signups in about 3 minutes). Daily and weekly detail on the next slides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3140" y="-11520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22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SIGNUP FUNNEL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Signups per Day (08-19-2026 to 10-02-2026, UTC)</a:t>
            </a:r>
          </a:p>
        </p:txBody>
      </p:sp>
      <p:graphicFrame>
        <p:nvGraphicFramePr>
          <p:cNvPr id="8" name="Signups chart"/>
          <p:cNvGraphicFramePr>
            <a:graphicFrameLocks noGrp="1"/>
          </p:cNvGraphicFramePr>
          <p:nvPr/>
        </p:nvGraphicFramePr>
        <p:xfrm>
          <a:off x="609600" y="1500000"/>
          <a:ext cx="10972800" cy="40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Event Dallas"/>
          <p:cNvSpPr txBox="1"/>
          <p:nvPr/>
        </p:nvSpPr>
        <p:spPr>
          <a:xfrm>
            <a:off x="1622054" y="2110000"/>
            <a:ext cx="26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F87171"/>
                </a:solidFill>
              </a:rPr>
              <a:t>Transform Dallas (08-20-2026)</a:t>
            </a:r>
          </a:p>
        </p:txBody>
      </p:sp>
      <p:sp>
        <p:nvSpPr>
          <p:cNvPr id="10" name="Event Singapore"/>
          <p:cNvSpPr txBox="1"/>
          <p:nvPr/>
        </p:nvSpPr>
        <p:spPr>
          <a:xfrm>
            <a:off x="8051074" y="3831050"/>
            <a:ext cx="26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 dirty="0">
                <a:solidFill>
                  <a:srgbClr val="F87171"/>
                </a:solidFill>
              </a:rPr>
              <a:t>Transform Singapore (09-17-2026)</a:t>
            </a:r>
          </a:p>
        </p:txBody>
      </p:sp>
      <p:sp>
        <p:nvSpPr>
          <p:cNvPr id="11" name="Caption"/>
          <p:cNvSpPr txBox="1"/>
          <p:nvPr/>
        </p:nvSpPr>
        <p:spPr>
          <a:xfrm>
            <a:off x="609600" y="5620000"/>
            <a:ext cx="10972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 i="0">
                <a:solidFill>
                  <a:srgbClr val="C7D2E3"/>
                </a:solidFill>
              </a:rPr>
              <a:t>92 signups total. 38 on 08-20-2026 (34 in about 3 minutes) and 15 on 09-17-2026 (Singapore event). Source: External Interest log (Labs form submissions).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5359967" y="-1409287"/>
            <a:ext cx="15138584" cy="12375792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23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SIGNUP FUNNEL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Time to First Response</a:t>
            </a:r>
          </a:p>
        </p:txBody>
      </p:sp>
      <p:graphicFrame>
        <p:nvGraphicFramePr>
          <p:cNvPr id="8" name="Table"/>
          <p:cNvGraphicFramePr>
            <a:graphicFrameLocks noGrp="1"/>
          </p:cNvGraphicFramePr>
          <p:nvPr/>
        </p:nvGraphicFramePr>
        <p:xfrm>
          <a:off x="609600" y="1650000"/>
          <a:ext cx="10972800" cy="3985760"/>
        </p:xfrm>
        <a:graphic>
          <a:graphicData uri="http://schemas.openxmlformats.org/drawingml/2006/table">
            <a:tbl>
              <a:tblPr/>
              <a:tblGrid>
                <a:gridCol w="18508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64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08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3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01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Company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Welcome sent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First response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Time to respond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How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Aptiv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09-23-2026 21:17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09-24-2026 06:49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9.5 hours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Booked a slot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BearingPoint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09-17-2026 20:07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09-18-2026 08:32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12.4 hours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Booked a slot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Tritusa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08-25-2026 16:42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08-26-2026 06:57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14.3 hours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Replied (asked whether Workspace or third-party agents are in scope)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L'Oreal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09-17-2026 20:07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09-23-2026 13:54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5.7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Replied (asked how to access the beta)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Wolters Kluwer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08-20-2026 19:22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08-31-2026 14:01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10.8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Booked a slot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New Vision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08-25-2026 16:42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09-28-2026 08:30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33.7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Booked a slot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Love's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08-20-2026 19:26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09-24-2026 15:17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34.8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Booked a slot; demo held 10-02-2026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Stanza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08-20-2026 19:29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09-24-2026 17:23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34.9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Replied 28 minutes after the 09-24-2026 follow-up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Merito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08-20-2026 19:22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09-24-2026 14:52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35.0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Replied to the 09-24-2026 follow-up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734347" y="-3133816"/>
            <a:ext cx="8840293" cy="8199372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24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SIGNUP FUNNEL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Time to First Response: Summary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524718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llets"/>
          <p:cNvSpPr txBox="1"/>
          <p:nvPr/>
        </p:nvSpPr>
        <p:spPr>
          <a:xfrm>
            <a:off x="909600" y="1870000"/>
            <a:ext cx="10372800" cy="32983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spcAft>
                <a:spcPts val="1330"/>
              </a:spcAft>
              <a:buClr>
                <a:srgbClr val="38BDF8"/>
              </a:buClr>
              <a:buFont typeface="Arial"/>
              <a:buChar char="•"/>
            </a:pPr>
            <a:r>
              <a:rPr sz="1900" b="0" i="0" dirty="0">
                <a:solidFill>
                  <a:srgbClr val="C7D2E3"/>
                </a:solidFill>
              </a:rPr>
              <a:t>9 of roughly 75 form-sourced companies (12%) have responded to </a:t>
            </a:r>
            <a:r>
              <a:rPr lang="en-US" sz="1900" b="0" i="0" dirty="0">
                <a:solidFill>
                  <a:srgbClr val="C7D2E3"/>
                </a:solidFill>
              </a:rPr>
              <a:t>the</a:t>
            </a:r>
            <a:r>
              <a:rPr sz="1900" b="0" i="0" dirty="0">
                <a:solidFill>
                  <a:srgbClr val="C7D2E3"/>
                </a:solidFill>
              </a:rPr>
              <a:t> welcome email</a:t>
            </a:r>
          </a:p>
          <a:p>
            <a:pPr marL="285750" indent="-285750">
              <a:spcAft>
                <a:spcPts val="1330"/>
              </a:spcAft>
              <a:buClr>
                <a:srgbClr val="38BDF8"/>
              </a:buClr>
              <a:buFont typeface="Arial"/>
              <a:buChar char="•"/>
            </a:pPr>
            <a:r>
              <a:rPr sz="1900" b="0" i="0" dirty="0">
                <a:solidFill>
                  <a:srgbClr val="C7D2E3"/>
                </a:solidFill>
              </a:rPr>
              <a:t>Median time to respond is about 10.8 days. Three of nine responded within 15 hours (Aptiv, BearingPoint, </a:t>
            </a:r>
            <a:r>
              <a:rPr sz="1900" b="0" i="0" dirty="0" err="1">
                <a:solidFill>
                  <a:srgbClr val="C7D2E3"/>
                </a:solidFill>
              </a:rPr>
              <a:t>Tritusa</a:t>
            </a:r>
            <a:r>
              <a:rPr sz="1900" b="0" i="0" dirty="0">
                <a:solidFill>
                  <a:srgbClr val="C7D2E3"/>
                </a:solidFill>
              </a:rPr>
              <a:t>). Only four of nine responded in under a week.</a:t>
            </a:r>
          </a:p>
          <a:p>
            <a:pPr marL="285750" indent="-285750">
              <a:spcAft>
                <a:spcPts val="1330"/>
              </a:spcAft>
              <a:buClr>
                <a:srgbClr val="38BDF8"/>
              </a:buClr>
              <a:buFont typeface="Arial"/>
              <a:buChar char="•"/>
            </a:pPr>
            <a:r>
              <a:rPr sz="1900" b="0" i="0" dirty="0">
                <a:solidFill>
                  <a:srgbClr val="C7D2E3"/>
                </a:solidFill>
              </a:rPr>
              <a:t>Four of nine (New Vision, Love's, Stanza, Merito) responded only after the 09-24-2026 follow-up round, 33 to 35 days after the welcome email. The follow-up produced as many responses as the first email did.</a:t>
            </a:r>
          </a:p>
          <a:p>
            <a:pPr marL="285750" indent="-285750">
              <a:spcAft>
                <a:spcPts val="1330"/>
              </a:spcAft>
              <a:buClr>
                <a:srgbClr val="38BDF8"/>
              </a:buClr>
              <a:buFont typeface="Arial"/>
              <a:buChar char="•"/>
            </a:pPr>
            <a:r>
              <a:rPr sz="1900" b="1" i="0" dirty="0">
                <a:solidFill>
                  <a:srgbClr val="FFFFFF"/>
                </a:solidFill>
              </a:rPr>
              <a:t>Not matched: </a:t>
            </a:r>
            <a:r>
              <a:rPr sz="1900" b="0" i="0" dirty="0">
                <a:solidFill>
                  <a:srgbClr val="C7D2E3"/>
                </a:solidFill>
              </a:rPr>
              <a:t>Workday (no reply or booking found) and Accenture (engaged through the Meta thread)</a:t>
            </a:r>
          </a:p>
          <a:p>
            <a:pPr marL="285750" indent="-285750">
              <a:spcAft>
                <a:spcPts val="1330"/>
              </a:spcAft>
              <a:buClr>
                <a:srgbClr val="38BDF8"/>
              </a:buClr>
              <a:buFont typeface="Arial"/>
              <a:buChar char="•"/>
            </a:pPr>
            <a:r>
              <a:rPr sz="1900" b="1" i="0" dirty="0">
                <a:solidFill>
                  <a:srgbClr val="FFFFFF"/>
                </a:solidFill>
              </a:rPr>
              <a:t>Not counted: </a:t>
            </a:r>
            <a:r>
              <a:rPr sz="1900" b="0" i="0" dirty="0">
                <a:solidFill>
                  <a:srgbClr val="C7D2E3"/>
                </a:solidFill>
              </a:rPr>
              <a:t>Meta, Freddie Mac, and Eaton (Sales or referral, not from the welcome email)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554799" y="-2486900"/>
            <a:ext cx="13858624" cy="11831801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25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SIGNUP FUNNEL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Time to Demo</a:t>
            </a:r>
          </a:p>
        </p:txBody>
      </p:sp>
      <p:graphicFrame>
        <p:nvGraphicFramePr>
          <p:cNvPr id="8" name="Table"/>
          <p:cNvGraphicFramePr>
            <a:graphicFrameLocks noGrp="1"/>
          </p:cNvGraphicFramePr>
          <p:nvPr/>
        </p:nvGraphicFramePr>
        <p:xfrm>
          <a:off x="609600" y="1650000"/>
          <a:ext cx="10972800" cy="3600000"/>
        </p:xfrm>
        <a:graphic>
          <a:graphicData uri="http://schemas.openxmlformats.org/drawingml/2006/table">
            <a:tbl>
              <a:tblPr/>
              <a:tblGrid>
                <a:gridCol w="14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2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Account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Signup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Company responded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Demo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Signup to demo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Response to demo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Aptiv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09-23-2026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09-24-2026 (booked)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09-25-2026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2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 day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L'Oreal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09-17-2026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09-23-2026 (replied)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09-24-2026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7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 day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BearingPoint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09-14-2026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09-18-2026 (booked)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09-23-2026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9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5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Wolters Kluwer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08-20-2026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08-31-2026 (booked)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early Sept (not logged)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about 12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not logged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Tritusa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08-24-2026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08-26-2026 (replied)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09-11-2026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18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16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Love's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08-20-2026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09-24-2026 (booked)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10-02-2026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43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8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Merito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08-20-2026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09-24-2026 (replied)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10-06-2026 (scheduled)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47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12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New Vision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08-20-2026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09-28-2026 (booked)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10-08-2026 (scheduled)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49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10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40726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Eaton (referral)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n/a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invite 09-21-2026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10-01-2026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10 days from invite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n/a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Note"/>
          <p:cNvSpPr txBox="1"/>
          <p:nvPr/>
        </p:nvSpPr>
        <p:spPr>
          <a:xfrm>
            <a:off x="609600" y="5500000"/>
            <a:ext cx="10972800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C7D2E3"/>
                </a:solidFill>
              </a:rPr>
              <a:t>Median signup to demo across the six held demos from form signups: about 10 days. Median from the company's response to the demo: about 5 days. The lag is in getting the response.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10849414" y="-5183314"/>
            <a:ext cx="21866993" cy="17876267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26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SIGNUP FUNNEL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Conversion</a:t>
            </a:r>
          </a:p>
        </p:txBody>
      </p:sp>
      <p:graphicFrame>
        <p:nvGraphicFramePr>
          <p:cNvPr id="8" name="Table"/>
          <p:cNvGraphicFramePr>
            <a:graphicFrameLocks noGrp="1"/>
          </p:cNvGraphicFramePr>
          <p:nvPr/>
        </p:nvGraphicFramePr>
        <p:xfrm>
          <a:off x="609600" y="1650000"/>
          <a:ext cx="10972800" cy="3120000"/>
        </p:xfrm>
        <a:graphic>
          <a:graphicData uri="http://schemas.openxmlformats.org/drawingml/2006/table">
            <a:tbl>
              <a:tblPr/>
              <a:tblGrid>
                <a:gridCol w="51362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77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8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38BDF8"/>
                          </a:solidFill>
                        </a:rPr>
                        <a:t>Step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38BDF8"/>
                          </a:solidFill>
                        </a:rPr>
                        <a:t>Count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38BDF8"/>
                          </a:solidFill>
                        </a:rPr>
                        <a:t>Rate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Companies interested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78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Replied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14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18% of interested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Demo held or scheduled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12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86% of replied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Pending beta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5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42% of demos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Active beta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0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3140" y="-7668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27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8" name="Steps card"/>
          <p:cNvSpPr/>
          <p:nvPr/>
        </p:nvSpPr>
        <p:spPr>
          <a:xfrm>
            <a:off x="609600" y="1650000"/>
            <a:ext cx="10972800" cy="4550000"/>
          </a:xfrm>
          <a:prstGeom prst="roundRect">
            <a:avLst>
              <a:gd name="adj" fmla="val 4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tep number 1"/>
          <p:cNvSpPr txBox="1"/>
          <p:nvPr/>
        </p:nvSpPr>
        <p:spPr>
          <a:xfrm>
            <a:off x="909600" y="1650000"/>
            <a:ext cx="700000" cy="6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38BDF8"/>
                </a:solidFill>
              </a:rPr>
              <a:t>1</a:t>
            </a:r>
          </a:p>
        </p:txBody>
      </p:sp>
      <p:sp>
        <p:nvSpPr>
          <p:cNvPr id="10" name="Step text 1"/>
          <p:cNvSpPr txBox="1"/>
          <p:nvPr/>
        </p:nvSpPr>
        <p:spPr>
          <a:xfrm>
            <a:off x="1759600" y="1690000"/>
            <a:ext cx="95228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</a:rPr>
              <a:t>Push to production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C7D2E3"/>
                </a:solidFill>
              </a:rPr>
              <a:t>Expected to be complete today or early tomorrow.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3000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ep number 2"/>
          <p:cNvSpPr txBox="1"/>
          <p:nvPr/>
        </p:nvSpPr>
        <p:spPr>
          <a:xfrm>
            <a:off x="909600" y="2300000"/>
            <a:ext cx="700000" cy="6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38BDF8"/>
                </a:solidFill>
              </a:rPr>
              <a:t>2</a:t>
            </a:r>
          </a:p>
        </p:txBody>
      </p:sp>
      <p:sp>
        <p:nvSpPr>
          <p:cNvPr id="13" name="Step text 2"/>
          <p:cNvSpPr txBox="1"/>
          <p:nvPr/>
        </p:nvSpPr>
        <p:spPr>
          <a:xfrm>
            <a:off x="1759600" y="2340000"/>
            <a:ext cx="95228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</a:rPr>
              <a:t>Onboard the five ready companies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C7D2E3"/>
                </a:solidFill>
              </a:rPr>
              <a:t>Reach back out to Wolters Kluwer, Tritusa, Aptiv, L'Oreal, and Accenture to schedule onboarding immediately.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29500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tep number 5"/>
          <p:cNvSpPr txBox="1"/>
          <p:nvPr/>
        </p:nvSpPr>
        <p:spPr>
          <a:xfrm>
            <a:off x="909600" y="4250000"/>
            <a:ext cx="700000" cy="1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38BDF8"/>
                </a:solidFill>
              </a:rPr>
              <a:t>5</a:t>
            </a:r>
          </a:p>
        </p:txBody>
      </p:sp>
      <p:sp>
        <p:nvSpPr>
          <p:cNvPr id="16" name="Step text 5"/>
          <p:cNvSpPr txBox="1"/>
          <p:nvPr/>
        </p:nvSpPr>
        <p:spPr>
          <a:xfrm>
            <a:off x="1759600" y="4290000"/>
            <a:ext cx="9522800" cy="1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</a:rPr>
              <a:t>Fix sign-in for Tosca Cloud trial users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C7D2E3"/>
                </a:solidFill>
              </a:rPr>
              <a:t>A Tosca Cloud trial login does not get a new user in. Sign-in uses a Tosca gateway (customer_auth_mode = "tosca_gateway"). If no Agent Score tenant is mapped to the user's Tosca tenant name, they get a 403 tenant_not_configured. If they are not yet a member of that tenant, they get a 401 not_admitted. An admin creates and maps external tenants in the back office.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36000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tep number 3"/>
          <p:cNvSpPr txBox="1"/>
          <p:nvPr/>
        </p:nvSpPr>
        <p:spPr>
          <a:xfrm>
            <a:off x="909600" y="2950000"/>
            <a:ext cx="700000" cy="6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38BDF8"/>
                </a:solidFill>
              </a:rPr>
              <a:t>3</a:t>
            </a:r>
          </a:p>
        </p:txBody>
      </p:sp>
      <p:sp>
        <p:nvSpPr>
          <p:cNvPr id="19" name="Step text 3"/>
          <p:cNvSpPr txBox="1"/>
          <p:nvPr/>
        </p:nvSpPr>
        <p:spPr>
          <a:xfrm>
            <a:off x="1759600" y="2990000"/>
            <a:ext cx="95228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</a:rPr>
              <a:t>Re-engage the rest of the pipeline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C7D2E3"/>
                </a:solidFill>
              </a:rPr>
              <a:t>Follow up with the other companies and work to get them onboarded.</a:t>
            </a:r>
          </a:p>
        </p:txBody>
      </p:sp>
      <p:sp>
        <p:nvSpPr>
          <p:cNvPr id="20" name="Rule"/>
          <p:cNvSpPr/>
          <p:nvPr/>
        </p:nvSpPr>
        <p:spPr>
          <a:xfrm>
            <a:off x="859600" y="42500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tep number 4"/>
          <p:cNvSpPr txBox="1"/>
          <p:nvPr/>
        </p:nvSpPr>
        <p:spPr>
          <a:xfrm>
            <a:off x="909600" y="3600000"/>
            <a:ext cx="700000" cy="6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38BDF8"/>
                </a:solidFill>
              </a:rPr>
              <a:t>4</a:t>
            </a:r>
          </a:p>
        </p:txBody>
      </p:sp>
      <p:sp>
        <p:nvSpPr>
          <p:cNvPr id="22" name="Step text 4"/>
          <p:cNvSpPr txBox="1"/>
          <p:nvPr/>
        </p:nvSpPr>
        <p:spPr>
          <a:xfrm>
            <a:off x="1759600" y="3640000"/>
            <a:ext cx="95228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</a:rPr>
              <a:t>Start collecting feedback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C7D2E3"/>
                </a:solidFill>
              </a:rPr>
              <a:t>Gather feedback from beta customers as they come online.</a:t>
            </a:r>
          </a:p>
        </p:txBody>
      </p:sp>
      <p:sp>
        <p:nvSpPr>
          <p:cNvPr id="23" name="Rule"/>
          <p:cNvSpPr/>
          <p:nvPr/>
        </p:nvSpPr>
        <p:spPr>
          <a:xfrm>
            <a:off x="859600" y="55500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tep number 6"/>
          <p:cNvSpPr txBox="1"/>
          <p:nvPr/>
        </p:nvSpPr>
        <p:spPr>
          <a:xfrm>
            <a:off x="909600" y="5550000"/>
            <a:ext cx="700000" cy="6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38BDF8"/>
                </a:solidFill>
              </a:rPr>
              <a:t>6</a:t>
            </a:r>
          </a:p>
        </p:txBody>
      </p:sp>
      <p:sp>
        <p:nvSpPr>
          <p:cNvPr id="25" name="Step text 6"/>
          <p:cNvSpPr txBox="1"/>
          <p:nvPr/>
        </p:nvSpPr>
        <p:spPr>
          <a:xfrm>
            <a:off x="1759600" y="5590000"/>
            <a:ext cx="95228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</a:rPr>
              <a:t>Simplify onboarding with an MCP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C7D2E3"/>
                </a:solidFill>
              </a:rPr>
              <a:t>Building an MCP to simplify the onboarding process and allow two-way communication.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FFFFF"/>
      </a:dk1>
      <a:lt1>
        <a:srgbClr val="0F1E3B"/>
      </a:lt1>
      <a:dk2>
        <a:srgbClr val="C7D2E3"/>
      </a:dk2>
      <a:lt2>
        <a:srgbClr val="16294C"/>
      </a:lt2>
      <a:accent1>
        <a:srgbClr val="F2994A"/>
      </a:accent1>
      <a:accent2>
        <a:srgbClr val="38BDF8"/>
      </a:accent2>
      <a:accent3>
        <a:srgbClr val="E85B5B"/>
      </a:accent3>
      <a:accent4>
        <a:srgbClr val="4ADE80"/>
      </a:accent4>
      <a:accent5>
        <a:srgbClr val="A78BFA"/>
      </a:accent5>
      <a:accent6>
        <a:srgbClr val="94A3B8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5990</TotalTime>
  <Words>3154</Words>
  <Application>Microsoft Macintosh PowerPoint</Application>
  <PresentationFormat>Widescreen</PresentationFormat>
  <Paragraphs>421</Paragraphs>
  <Slides>27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Demers</dc:creator>
  <cp:lastModifiedBy>Andrew Demers</cp:lastModifiedBy>
  <cp:revision>91</cp:revision>
  <dcterms:created xsi:type="dcterms:W3CDTF">2026-09-22T20:53:22Z</dcterms:created>
  <dcterms:modified xsi:type="dcterms:W3CDTF">2026-10-05T15:49:09Z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1.0.153</vt:lpwstr>
  </property>
  <property fmtid="{D5CDD505-2E9C-101B-9397-08002B2CF9AE}" pid="3" name="OfficeCLI.LastModified">
    <vt:lpwstr>2026-10-01T20:17:46Z</vt:lpwstr>
  </property>
</Properties>
</file>