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/>
    <p:restoredTop sz="82181"/>
  </p:normalViewPr>
  <p:slideViewPr>
    <p:cSldViewPr snapToGrid="0">
      <p:cViewPr varScale="1">
        <p:scale>
          <a:sx n="120" d="100"/>
          <a:sy n="120" d="100"/>
        </p:scale>
        <p:origin x="13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CBBAD-33FD-2F4E-BB39-0722A060C76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28BA8-23EA-EC4D-AF93-1B2AED76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4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enterprise is building agents. No one knows if they're any good.</a:t>
            </a:r>
          </a:p>
          <a:p>
            <a:r>
              <a:rPr lang="en-US" dirty="0"/>
              <a:t>Your typical customer is a bank, an insurer, or a tech company building agents internally</a:t>
            </a:r>
          </a:p>
          <a:p>
            <a:r>
              <a:rPr lang="en-US" dirty="0"/>
              <a:t>And they're not sure how to tell if those agents are good or bad.</a:t>
            </a:r>
          </a:p>
          <a:p>
            <a:r>
              <a:rPr lang="en-US" dirty="0"/>
              <a:t>They either ship based on vibes or not at all.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48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Gartner predicts 40% of enterprise apps will feature task-specific AI agents By 2026, up from less than 5% in 2025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(2025, August 26). Gartner. 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www.gartner.com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/newsroom/press-releases/2025-08-26-gartner-predicts-40-percent-of-enterprise-apps-will-feature-task-specific-ai-agents-by-2026-up-from-less-than-5-percent-in-2025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Kandaswamy , R. (2026, April 15).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 Hype cycle for agentic AI | Gartner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Gartner. 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www.gartner.com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/articles/hype-cycle-for-agentic-ai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Applied Team. (2026, April 19).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 adoption 2026: 120+ Enterprise data points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Digitalapplied.Com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www.digitalapplied.com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/blog/ai-agent-adoption-2026-enterprise-data-points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Sharma, N. (2026, August 4).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incidents cost enterprises $2m or more, and the biggest shadow AI culprit is 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CIO Dive. 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www.channeldive.com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/news/enterprise-ai-security-risk-costs-millions/826518/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~$196B by 2033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last updated: 09/27/2026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42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Braintrust Team. (2026, February 17). Braintrust’s series B: Building the infrastructure for production AI. Braintrust. https://www.braintrust.dev/blog/announcing-series-b</a:t>
            </a:r>
          </a:p>
          <a:p>
            <a:r>
              <a:rPr lang="en-US"/>
              <a:t>Nieva, R. (2024, October 15). This AI startup raises $45 million to make sure AI models don’t hallucinate or leak data. Forbes. https://www.forbes.com/sites/richardnieva/2024/10/15/galileo-series-b-45-million-scale-venture-partners/</a:t>
            </a:r>
          </a:p>
          <a:p>
            <a:r>
              <a:rPr lang="en-US"/>
              <a:t>Langfuse raises $4m - langfuse. (2023, November 7). Langfuse.Com. https://langfuse.com/blog/announcing-our-seed-round</a:t>
            </a:r>
          </a:p>
          <a:p>
            <a:r>
              <a:rPr lang="en-US"/>
              <a:t>Temkin, M. (2026, June 25). Patronus AI lands $50m to build ‘digital worlds’ that stress-test AI agents. TechCrunch. https://techcrunch.com/2026/06/25/patronus-ai-lands-50m-to-build-digital-worlds-that-stress-test-ai-agents/</a:t>
            </a:r>
          </a:p>
          <a:p>
            <a:r>
              <a:rPr lang="en-US"/>
              <a:t>Tool Type. (2026, September 9). Model evaluation and benchmarking tools market companies, size &amp; trends 2026-2035. Precedence Research. PrecedenceResearch. https://www.precedenceresearch.com/model-evaluation-and-benchmarking-tools-market</a:t>
            </a:r>
          </a:p>
          <a:p>
            <a:r>
              <a:rPr lang="en-US"/>
              <a:t>Dollar figures on this slide are funding raised, not 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7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4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9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Barot, D. (2026, July 15). The cost of AI agent failures: What breaks and why - </a:t>
            </a:r>
            <a:r>
              <a:rPr lang="en-US" dirty="0" err="1"/>
              <a:t>ContextQA</a:t>
            </a:r>
            <a:r>
              <a:rPr lang="en-US" dirty="0"/>
              <a:t>. </a:t>
            </a:r>
            <a:r>
              <a:rPr lang="en-US" dirty="0" err="1"/>
              <a:t>Contextqa.Com</a:t>
            </a:r>
            <a:r>
              <a:rPr lang="en-US" dirty="0"/>
              <a:t>. https://</a:t>
            </a:r>
            <a:r>
              <a:rPr lang="en-US" dirty="0" err="1"/>
              <a:t>contextqa.com</a:t>
            </a:r>
            <a:r>
              <a:rPr lang="en-US" dirty="0"/>
              <a:t>/blog/cost-of-ai-agent-failures/</a:t>
            </a:r>
          </a:p>
          <a:p>
            <a:endParaRPr lang="en-US" dirty="0"/>
          </a:p>
          <a:p>
            <a:r>
              <a:rPr lang="en-US" dirty="0"/>
              <a:t>Anthropic Engineering. Demystifying evals for AI agents. https://</a:t>
            </a:r>
            <a:r>
              <a:rPr lang="en-US" dirty="0" err="1"/>
              <a:t>www.anthropic.com</a:t>
            </a:r>
            <a:r>
              <a:rPr lang="en-US" dirty="0"/>
              <a:t>/engineering/demystifying-evals-for-ai-agents</a:t>
            </a:r>
          </a:p>
          <a:p>
            <a:r>
              <a:rPr lang="en-US" dirty="0"/>
              <a:t>Pending: the ~7x faster claim needs a source from David. Verify the pull-quote wording against the live post.</a:t>
            </a:r>
          </a:p>
          <a:p>
            <a:r>
              <a:rPr lang="en-US" dirty="0"/>
              <a:t>Moved off slide (for the ROI slide): Labor, ~4.3 hours/week/employee verifying AI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6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each one ties to ROI:</a:t>
            </a:r>
          </a:p>
          <a:p>
            <a:r>
              <a:rPr lang="en-US"/>
              <a:t>Time to production readiness → ROI = velocity. The hard part of building agents is not fixing them, it is knowing when they are ready. Teams with evals upgrade in days; teams without face weeks of testing (Anthropic Engineering, "Demystifying evals for AI agents"). Internal example: ~2.5 months from first agent version to a confident "this works." Turning that into minutes is what our customers care about right now. The ~7x faster claim is pending a source from David.</a:t>
            </a:r>
          </a:p>
          <a:p>
            <a:r>
              <a:rPr lang="en-US"/>
              <a:t>Fewer incidents → ROI = risk avoided. Every flagged issue is a bug, hallucination, or policy violation that didn't reach production. Rawest proof of value: "here's what was happening in the dark before you had this." Fortune 500: ~2.3 AI-driven errors per quarter at $50K-$2.1M each, so preventing even one pays for AgentScore.</a:t>
            </a:r>
          </a:p>
          <a:p>
            <a:r>
              <a:rPr lang="en-US"/>
              <a:t>Dollar-justified budget line → ROI = the dollar figure executives buy on. Turns "we flagged 40 issues" into "we avoided an estimated $2M in incident cost," the number that justifies the subscription price against a budget line.</a:t>
            </a:r>
          </a:p>
          <a:p>
            <a:r>
              <a:rPr lang="en-US"/>
              <a:t>Less engineering time → ROI = time saved on debugging and the cost of the alternative (build vs. buy). A flagged issue with no root cause still costs hours to diagnose; one with root cause goes straight to a fix. Auto-generated evals are the counterfactual to hand-building coverage, and answer "why not just build this ourselves." Labor context: ~4.3 hours/week/employee spent verifying AI outputs.</a:t>
            </a:r>
          </a:p>
          <a:p>
            <a:endParaRPr lang="en-US"/>
          </a:p>
          <a:p>
            <a:r>
              <a:rPr lang="en-US"/>
              <a:t>Together, these map to the four things a buyer pays for: velocity (1), fewer incidents (2), a dollar-justified budget line (3), less engineering time (4).</a:t>
            </a:r>
          </a:p>
          <a:p>
            <a:r>
              <a:rPr lang="en-US"/>
              <a:t>Regression rate was dropped as a standalone card (needs weeks of history, no cross-customer baseline).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94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FAE0-F4E0-CEAE-23A0-0D28BB38B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CCF5-E1BF-C36F-A99E-01EE6A8A2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6FAE-2D8D-6B3C-9674-FA8157B2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2D0F-4B6C-1F35-3401-B82FA3BF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C6C1-CB75-67F0-4FFD-A3F1202E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23BB-854A-96CB-3D66-0D625A95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7BC4-C8EA-DA3E-B307-AD6CE22D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D01B-0DA5-F742-26CF-97E0950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7FC3A-5084-867C-202E-F2074475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80788-E3FD-BDA8-3F03-55A48A2D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B972-6810-58AE-1F77-BDC7208C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1333-AF2E-C68A-5792-C9696B3D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4B06-9F91-B01C-9770-DD7F2AD9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5FC9-11DA-21DF-F249-61F761D6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AF2D-AA01-EE25-C798-CD06B327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6F36-C318-5984-7209-F6AC6E9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0D6D-6609-9A4A-2DE0-03BCDD2A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F07FC-F5BD-A244-9FFA-DE1D457B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07EC2-F282-CC55-4219-D00897E7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88BEA-1924-4890-8C12-F2354CC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DC71F-0805-CBEF-FAC9-91472ADE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14D-C7C3-7343-904F-8EC85D2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075A-259E-D38E-5A0C-289044DF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C0B20-3FC3-22CE-9D73-FAB5A22D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36C62-C037-0670-1B05-C71BC96D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D17E7-7622-8C4B-2DCC-EED76151F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73540-8D11-504E-F815-D3DE3203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7B639-AF11-E877-E751-891242D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AF645-9489-AF9D-226B-964962C4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CEC7-8A5A-9D03-93FC-9CD9EAA7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4E5FC-6AD1-9423-58F7-BB1A48BC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37E19-F6E2-42D7-75CA-E3435AC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DE6D-C513-A2CF-FB4A-D2A39742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3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A6ACA-6AAA-3D0F-9BC5-BA831C9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2EE78-0F60-EA6F-F1A3-A8873620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A21-CAB5-E2C0-F217-7B59DE91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55C1-A17E-4F39-9113-7F3B891B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E697-90AF-B692-CFCE-EF75EE29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D8F9-25EB-D3E5-008E-DF551D9FC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2F05-6A15-A549-B10E-D3887A73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8AF6-31CF-EC3C-FBB1-0A06EB27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A935C-6C90-7589-7BF5-E600D9D0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33BD-9B53-1442-3A59-CCB8B79B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5195F-58CB-8F0C-3DF3-8987A8199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F699E-030C-1266-3E60-6EF19EF3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5F0-1D00-C64E-A648-B36B4F21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0428-00E6-A309-A181-43D3D490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8407-DCED-D16C-4051-13006AA6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1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0DF-CFAA-FFB7-6561-F14F361C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3629-1925-6F83-BB05-7AF09FE23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592D-D6B1-6A5A-1FED-6EABE219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50C7-FC53-CC4D-EA56-970893A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7D38-4B6A-37AC-7CB8-4985D9D6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1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65176-BB0C-DC8F-AEE8-A3CE0A7A3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79006-8278-4573-F3B2-7C0AF63C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4971-5476-3856-53ED-FC36422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308-D79A-920D-D339-B0C21D94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4555-B321-2D8E-42B5-C6DE07E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3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D8B37-CF10-112F-9310-5E360FD0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1F68-8441-6CCA-84D3-D8CDAC829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8BB3-F9E3-BE88-3A0C-8078415E8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7B90-EC0E-BC4E-91B7-09E65585EB38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0B95-2533-D7C5-295E-649A36D61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0D95-C1E7-6C31-D385-146413DD8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93565" y="-2574319"/>
            <a:ext cx="16021044" cy="136779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AA3364-AD53-B420-0BB0-5A2A376D793E}"/>
              </a:ext>
            </a:extLst>
          </p:cNvPr>
          <p:cNvSpPr txBox="1"/>
          <p:nvPr/>
        </p:nvSpPr>
        <p:spPr>
          <a:xfrm>
            <a:off x="609600" y="2235200"/>
            <a:ext cx="109728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4600" b="1">
                <a:solidFill>
                  <a:srgbClr val="FFFFFF"/>
                </a:solidFill>
              </a:rPr>
              <a:t>AgentScore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9102B-51F7-F000-B629-FF9D094982CC}"/>
              </a:ext>
            </a:extLst>
          </p:cNvPr>
          <p:cNvSpPr txBox="1"/>
          <p:nvPr/>
        </p:nvSpPr>
        <p:spPr>
          <a:xfrm>
            <a:off x="609600" y="3251200"/>
            <a:ext cx="10972800" cy="43088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Business Case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14403-6EBF-7240-9744-2DF92AFAAC67}"/>
              </a:ext>
            </a:extLst>
          </p:cNvPr>
          <p:cNvSpPr txBox="1"/>
          <p:nvPr/>
        </p:nvSpPr>
        <p:spPr>
          <a:xfrm>
            <a:off x="609600" y="3784600"/>
            <a:ext cx="10972800" cy="3231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500" i="1" dirty="0">
                <a:solidFill>
                  <a:srgbClr val="A9B8D1"/>
                </a:solidFill>
              </a:rPr>
              <a:t>"Point it at a trace, get back a defensible answer."</a:t>
            </a:r>
          </a:p>
        </p:txBody>
      </p:sp>
      <p:sp>
        <p:nvSpPr>
          <p:cNvPr id="5" name="Shape_64">
            <a:extLst>
              <a:ext uri="{FF2B5EF4-FFF2-40B4-BE49-F238E27FC236}">
                <a16:creationId xmlns:a16="http://schemas.microsoft.com/office/drawing/2014/main" id="{87F68C84-58A6-53C7-664F-76E6EA326090}"/>
              </a:ext>
            </a:extLst>
          </p:cNvPr>
          <p:cNvSpPr/>
          <p:nvPr/>
        </p:nvSpPr>
        <p:spPr>
          <a:xfrm>
            <a:off x="5431124" y="4213865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65C83-DB6E-444F-50F0-B9DB31469C33}"/>
              </a:ext>
            </a:extLst>
          </p:cNvPr>
          <p:cNvSpPr txBox="1"/>
          <p:nvPr/>
        </p:nvSpPr>
        <p:spPr>
          <a:xfrm>
            <a:off x="4800000" y="4133860"/>
            <a:ext cx="2540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b="1" dirty="0">
                <a:solidFill>
                  <a:srgbClr val="C7D2E3"/>
                </a:solidFill>
              </a:rPr>
              <a:t>October 2026</a:t>
            </a:r>
          </a:p>
        </p:txBody>
      </p:sp>
      <p:sp>
        <p:nvSpPr>
          <p:cNvPr id="7" name="Shape_65">
            <a:extLst>
              <a:ext uri="{FF2B5EF4-FFF2-40B4-BE49-F238E27FC236}">
                <a16:creationId xmlns:a16="http://schemas.microsoft.com/office/drawing/2014/main" id="{77BF9CDF-F955-584D-CE74-BAD415210309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92F0C-BBB7-4708-653E-18D9C9E2DE06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215098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40" y="-1152000"/>
            <a:ext cx="9885719" cy="91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E18253-8DD5-9E24-417B-ADA264F429BB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MARKET SIGNAL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21E5F-A444-E5D0-59D3-9C24684F3E18}"/>
              </a:ext>
            </a:extLst>
          </p:cNvPr>
          <p:cNvSpPr txBox="1"/>
          <p:nvPr/>
        </p:nvSpPr>
        <p:spPr>
          <a:xfrm>
            <a:off x="609600" y="762000"/>
            <a:ext cx="109728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</a:rPr>
              <a:t>Agents are being built faster than anyone can validate them.</a:t>
            </a:r>
          </a:p>
        </p:txBody>
      </p:sp>
      <p:sp>
        <p:nvSpPr>
          <p:cNvPr id="5" name="Shape_0">
            <a:extLst>
              <a:ext uri="{FF2B5EF4-FFF2-40B4-BE49-F238E27FC236}">
                <a16:creationId xmlns:a16="http://schemas.microsoft.com/office/drawing/2014/main" id="{5701F67F-C66B-2011-6D60-538665E193A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20C49-54F0-7010-92E5-4E6107A6090E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1">
            <a:extLst>
              <a:ext uri="{FF2B5EF4-FFF2-40B4-BE49-F238E27FC236}">
                <a16:creationId xmlns:a16="http://schemas.microsoft.com/office/drawing/2014/main" id="{6B65D0F8-C21B-F6DC-20B4-D471648A96E1}"/>
              </a:ext>
            </a:extLst>
          </p:cNvPr>
          <p:cNvSpPr/>
          <p:nvPr/>
        </p:nvSpPr>
        <p:spPr>
          <a:xfrm>
            <a:off x="609600" y="18034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602C5-6576-6191-0E48-E8E94AE30600}"/>
              </a:ext>
            </a:extLst>
          </p:cNvPr>
          <p:cNvSpPr txBox="1"/>
          <p:nvPr/>
        </p:nvSpPr>
        <p:spPr>
          <a:xfrm>
            <a:off x="863600" y="2032000"/>
            <a:ext cx="1727200" cy="461665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5% → 40%</a:t>
            </a:r>
            <a:endParaRPr lang="en-US" sz="2400" b="1" baseline="30000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440B4-2F34-023C-EC5A-B80DDB4A6849}"/>
              </a:ext>
            </a:extLst>
          </p:cNvPr>
          <p:cNvSpPr txBox="1"/>
          <p:nvPr/>
        </p:nvSpPr>
        <p:spPr>
          <a:xfrm>
            <a:off x="863600" y="2540000"/>
            <a:ext cx="1727200" cy="57708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of enterprise apps will have task-specific agents, 2025 to end of 2026</a:t>
            </a:r>
          </a:p>
        </p:txBody>
      </p:sp>
      <p:sp>
        <p:nvSpPr>
          <p:cNvPr id="11" name="Shape_2">
            <a:extLst>
              <a:ext uri="{FF2B5EF4-FFF2-40B4-BE49-F238E27FC236}">
                <a16:creationId xmlns:a16="http://schemas.microsoft.com/office/drawing/2014/main" id="{E96ECB6F-B374-D34F-12C2-A91BFF9B1EFC}"/>
              </a:ext>
            </a:extLst>
          </p:cNvPr>
          <p:cNvSpPr/>
          <p:nvPr/>
        </p:nvSpPr>
        <p:spPr>
          <a:xfrm>
            <a:off x="609600" y="38862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646B4-DFC0-3C6A-D780-B8806E38CFE9}"/>
              </a:ext>
            </a:extLst>
          </p:cNvPr>
          <p:cNvSpPr txBox="1"/>
          <p:nvPr/>
        </p:nvSpPr>
        <p:spPr>
          <a:xfrm>
            <a:off x="863600" y="4114800"/>
            <a:ext cx="17272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150,000+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3480A-2643-CCDD-1C90-A13E5975477B}"/>
              </a:ext>
            </a:extLst>
          </p:cNvPr>
          <p:cNvSpPr txBox="1"/>
          <p:nvPr/>
        </p:nvSpPr>
        <p:spPr>
          <a:xfrm>
            <a:off x="863600" y="4622800"/>
            <a:ext cx="1727200" cy="90024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agents across the Fortune 500 within two years</a:t>
            </a:r>
          </a:p>
        </p:txBody>
      </p:sp>
      <p:sp>
        <p:nvSpPr>
          <p:cNvPr id="17" name="Shape_4">
            <a:extLst>
              <a:ext uri="{FF2B5EF4-FFF2-40B4-BE49-F238E27FC236}">
                <a16:creationId xmlns:a16="http://schemas.microsoft.com/office/drawing/2014/main" id="{5EEF0FD7-635A-16C6-2560-E54BB94B0882}"/>
              </a:ext>
            </a:extLst>
          </p:cNvPr>
          <p:cNvSpPr/>
          <p:nvPr/>
        </p:nvSpPr>
        <p:spPr>
          <a:xfrm>
            <a:off x="2997200" y="18034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436A7-8D62-B7DF-329C-6D89B7F62A00}"/>
              </a:ext>
            </a:extLst>
          </p:cNvPr>
          <p:cNvSpPr txBox="1"/>
          <p:nvPr/>
        </p:nvSpPr>
        <p:spPr>
          <a:xfrm>
            <a:off x="3251200" y="2032000"/>
            <a:ext cx="1727200" cy="461665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1 in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B4D0C-F16D-A510-0D80-88602AA886CD}"/>
              </a:ext>
            </a:extLst>
          </p:cNvPr>
          <p:cNvSpPr txBox="1"/>
          <p:nvPr/>
        </p:nvSpPr>
        <p:spPr>
          <a:xfrm>
            <a:off x="3251200" y="2540000"/>
            <a:ext cx="1727200" cy="738664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companies have a mature governance model for autonomous agents</a:t>
            </a:r>
          </a:p>
        </p:txBody>
      </p:sp>
      <p:sp>
        <p:nvSpPr>
          <p:cNvPr id="20" name="Shape_5">
            <a:extLst>
              <a:ext uri="{FF2B5EF4-FFF2-40B4-BE49-F238E27FC236}">
                <a16:creationId xmlns:a16="http://schemas.microsoft.com/office/drawing/2014/main" id="{D3A2535A-591E-7602-BCCF-86557BE471A4}"/>
              </a:ext>
            </a:extLst>
          </p:cNvPr>
          <p:cNvSpPr/>
          <p:nvPr/>
        </p:nvSpPr>
        <p:spPr>
          <a:xfrm>
            <a:off x="5384800" y="1803400"/>
            <a:ext cx="2228013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 cap="flat" cmpd="sng" algn="ctr">
            <a:solidFill>
              <a:srgbClr val="38BD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B27AA-C6A9-BE86-C4D1-3A8BCE0FDBA8}"/>
              </a:ext>
            </a:extLst>
          </p:cNvPr>
          <p:cNvSpPr txBox="1"/>
          <p:nvPr/>
        </p:nvSpPr>
        <p:spPr>
          <a:xfrm>
            <a:off x="5638800" y="2032000"/>
            <a:ext cx="1727200" cy="461665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40%+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7DB9C-BCD9-A1B8-6922-4469CFE02EE1}"/>
              </a:ext>
            </a:extLst>
          </p:cNvPr>
          <p:cNvSpPr txBox="1"/>
          <p:nvPr/>
        </p:nvSpPr>
        <p:spPr>
          <a:xfrm>
            <a:off x="5638800" y="2616200"/>
            <a:ext cx="1727200" cy="900246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of agentic AI projects canceled by 2027 (Gartner): cost, unclear value, weak risk controls</a:t>
            </a:r>
          </a:p>
        </p:txBody>
      </p:sp>
      <p:sp>
        <p:nvSpPr>
          <p:cNvPr id="23" name="Shape_6">
            <a:extLst>
              <a:ext uri="{FF2B5EF4-FFF2-40B4-BE49-F238E27FC236}">
                <a16:creationId xmlns:a16="http://schemas.microsoft.com/office/drawing/2014/main" id="{38899A11-88CF-01A0-1E72-A01B0B931009}"/>
              </a:ext>
            </a:extLst>
          </p:cNvPr>
          <p:cNvSpPr/>
          <p:nvPr/>
        </p:nvSpPr>
        <p:spPr>
          <a:xfrm>
            <a:off x="8178800" y="1803400"/>
            <a:ext cx="3403600" cy="3987800"/>
          </a:xfrm>
          <a:prstGeom prst="roundRect">
            <a:avLst>
              <a:gd name="adj" fmla="val 373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DA656-EB51-C801-DF73-0E0B9D2794C7}"/>
              </a:ext>
            </a:extLst>
          </p:cNvPr>
          <p:cNvSpPr txBox="1"/>
          <p:nvPr/>
        </p:nvSpPr>
        <p:spPr>
          <a:xfrm>
            <a:off x="8432800" y="2336800"/>
            <a:ext cx="2895600" cy="13970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Someone has to decide whether each agent can go to production.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06CFF3-618A-91BA-2589-46F8E32A68B4}"/>
              </a:ext>
            </a:extLst>
          </p:cNvPr>
          <p:cNvSpPr txBox="1"/>
          <p:nvPr/>
        </p:nvSpPr>
        <p:spPr>
          <a:xfrm>
            <a:off x="609600" y="5969000"/>
            <a:ext cx="6985000" cy="230832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900" i="1" dirty="0">
                <a:solidFill>
                  <a:srgbClr val="6B7A99"/>
                </a:solidFill>
              </a:rPr>
              <a:t>Sourced from Gartner, Digital Applied, and </a:t>
            </a:r>
            <a:r>
              <a:rPr lang="en-US" sz="900" i="1" dirty="0" err="1">
                <a:solidFill>
                  <a:srgbClr val="6B7A99"/>
                </a:solidFill>
              </a:rPr>
              <a:t>WitnessAI</a:t>
            </a:r>
            <a:endParaRPr lang="en-US" sz="900" i="1" dirty="0">
              <a:solidFill>
                <a:srgbClr val="6B7A99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6" name="Shape_5">
            <a:extLst>
              <a:ext uri="{FF2B5EF4-FFF2-40B4-BE49-F238E27FC236}">
                <a16:creationId xmlns:a16="http://schemas.microsoft.com/office/drawing/2014/main" id="{1EFC7887-612C-88D2-AB45-6FD113BDC3B8}"/>
              </a:ext>
            </a:extLst>
          </p:cNvPr>
          <p:cNvSpPr/>
          <p:nvPr/>
        </p:nvSpPr>
        <p:spPr>
          <a:xfrm>
            <a:off x="5384800" y="3886200"/>
            <a:ext cx="2228013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9050" cap="flat" cmpd="sng" algn="ctr">
            <a:solidFill>
              <a:srgbClr val="38BD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76715-02FD-C42D-D399-BAC93823ACB8}"/>
              </a:ext>
            </a:extLst>
          </p:cNvPr>
          <p:cNvSpPr txBox="1"/>
          <p:nvPr/>
        </p:nvSpPr>
        <p:spPr>
          <a:xfrm>
            <a:off x="5638800" y="4114800"/>
            <a:ext cx="1727200" cy="461665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43%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C8C12E-20E7-8FFE-74BB-610E3EFFECCF}"/>
              </a:ext>
            </a:extLst>
          </p:cNvPr>
          <p:cNvSpPr txBox="1"/>
          <p:nvPr/>
        </p:nvSpPr>
        <p:spPr>
          <a:xfrm>
            <a:off x="5638800" y="4699000"/>
            <a:ext cx="1727200" cy="900246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of companies saw AI incidents top $2M last year</a:t>
            </a:r>
          </a:p>
        </p:txBody>
      </p:sp>
      <p:sp>
        <p:nvSpPr>
          <p:cNvPr id="100021" name="TextBox 37"/>
          <p:cNvSpPr txBox="1"/>
          <p:nvPr/>
        </p:nvSpPr>
        <p:spPr>
          <a:xfrm>
            <a:off x="609600" y="1473200"/>
            <a:ext cx="22352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AGENTS ARE MULTIPLYING</a:t>
            </a:r>
          </a:p>
        </p:txBody>
      </p:sp>
      <p:sp>
        <p:nvSpPr>
          <p:cNvPr id="100022" name="TextBox 38"/>
          <p:cNvSpPr txBox="1"/>
          <p:nvPr/>
        </p:nvSpPr>
        <p:spPr>
          <a:xfrm>
            <a:off x="2997200" y="1473200"/>
            <a:ext cx="22352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NOBODY IS GOVERNING THEM</a:t>
            </a:r>
          </a:p>
        </p:txBody>
      </p:sp>
      <p:sp>
        <p:nvSpPr>
          <p:cNvPr id="100023" name="TextBox 39"/>
          <p:cNvSpPr txBox="1"/>
          <p:nvPr/>
        </p:nvSpPr>
        <p:spPr>
          <a:xfrm>
            <a:off x="5384800" y="1473200"/>
            <a:ext cx="22352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AND IT'S COSTING MONEY</a:t>
            </a:r>
          </a:p>
        </p:txBody>
      </p:sp>
      <p:sp>
        <p:nvSpPr>
          <p:cNvPr id="100026" name="TextBox 29"/>
          <p:cNvSpPr txBox="1"/>
          <p:nvPr/>
        </p:nvSpPr>
        <p:spPr>
          <a:xfrm>
            <a:off x="8432800" y="2006600"/>
            <a:ext cx="28956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SO WHAT</a:t>
            </a:r>
          </a:p>
        </p:txBody>
      </p:sp>
      <p:sp>
        <p:nvSpPr>
          <p:cNvPr id="100027" name="TextBox 30"/>
          <p:cNvSpPr txBox="1"/>
          <p:nvPr/>
        </p:nvSpPr>
        <p:spPr>
          <a:xfrm>
            <a:off x="8432800" y="3937000"/>
            <a:ext cx="2895600" cy="762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38BDF8"/>
                </a:solidFill>
                <a:latin typeface="Arial"/>
                <a:ea typeface="Arial"/>
              </a:rPr>
              <a:t>Today, they have no tool.</a:t>
            </a:r>
          </a:p>
        </p:txBody>
      </p:sp>
      <p:sp>
        <p:nvSpPr>
          <p:cNvPr id="100028" name="Shape_2">
            <a:extLst>
              <a:ext uri="{FF2B5EF4-FFF2-40B4-BE49-F238E27FC236}">
                <a16:creationId xmlns:a16="http://schemas.microsoft.com/office/drawing/2014/main" id="{E96ECB6F-B374-D34F-12C2-A91BFF9B1EFC}"/>
              </a:ext>
            </a:extLst>
          </p:cNvPr>
          <p:cNvSpPr/>
          <p:nvPr/>
        </p:nvSpPr>
        <p:spPr>
          <a:xfrm>
            <a:off x="2997200" y="38862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29" name="TextBox 30"/>
          <p:cNvSpPr txBox="1"/>
          <p:nvPr/>
        </p:nvSpPr>
        <p:spPr>
          <a:xfrm>
            <a:off x="3251200" y="4114800"/>
            <a:ext cx="1727200" cy="4572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80%</a:t>
            </a:r>
          </a:p>
        </p:txBody>
      </p:sp>
      <p:sp>
        <p:nvSpPr>
          <p:cNvPr id="100030" name="TextBox 31"/>
          <p:cNvSpPr txBox="1"/>
          <p:nvPr/>
        </p:nvSpPr>
        <p:spPr>
          <a:xfrm>
            <a:off x="3251200" y="4622800"/>
            <a:ext cx="1727200" cy="508000"/>
          </a:xfrm>
          <a:prstGeom prst="rect">
            <a:avLst/>
          </a:prstGeom>
        </p:spPr>
        <p:txBody>
          <a:bodyPr/>
          <a:lstStyle/>
          <a:p>
            <a:r>
              <a:rPr lang="en-US" sz="1050" b="0">
                <a:solidFill>
                  <a:srgbClr val="A9B8D1"/>
                </a:solidFill>
                <a:latin typeface="Arial"/>
                <a:ea typeface="Arial"/>
              </a:rPr>
              <a:t>of companies deploy agents without one</a:t>
            </a:r>
          </a:p>
        </p:txBody>
      </p:sp>
    </p:spTree>
    <p:extLst>
      <p:ext uri="{BB962C8B-B14F-4D97-AF65-F5344CB8AC3E}">
        <p14:creationId xmlns:p14="http://schemas.microsoft.com/office/powerpoint/2010/main" val="175518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538" y="-2234167"/>
            <a:ext cx="13858624" cy="118318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1AB136-EAAD-8A64-7CCF-09209880A2F8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 dirty="0">
                <a:solidFill>
                  <a:srgbClr val="38BDF8"/>
                </a:solidFill>
              </a:rPr>
              <a:t>COMPETITIVE LANDSCAPE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B9D84-EBC4-ED7B-F471-65EB7C10AC1E}"/>
              </a:ext>
            </a:extLst>
          </p:cNvPr>
          <p:cNvSpPr txBox="1"/>
          <p:nvPr/>
        </p:nvSpPr>
        <p:spPr>
          <a:xfrm>
            <a:off x="609600" y="762000"/>
            <a:ext cx="109728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</a:rPr>
              <a:t>The market already exists. We win a different part of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A8EDF-09DC-5C90-9730-B8CA670C7095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 dirty="0">
                <a:solidFill>
                  <a:srgbClr val="C7D2E3"/>
                </a:solidFill>
              </a:rPr>
              <a:t>These companies prove the market. We are not trying to beat them at their own game.</a:t>
            </a:r>
          </a:p>
        </p:txBody>
      </p:sp>
      <p:sp>
        <p:nvSpPr>
          <p:cNvPr id="5" name="Shape_10">
            <a:extLst>
              <a:ext uri="{FF2B5EF4-FFF2-40B4-BE49-F238E27FC236}">
                <a16:creationId xmlns:a16="http://schemas.microsoft.com/office/drawing/2014/main" id="{1195D204-F905-6768-2B03-6E8C1D0ADD58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095A-7E68-4F88-2DAF-485DCA714320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4B17B-208B-7E60-E2D9-C160319B8CB0}"/>
              </a:ext>
            </a:extLst>
          </p:cNvPr>
          <p:cNvSpPr txBox="1"/>
          <p:nvPr/>
        </p:nvSpPr>
        <p:spPr>
          <a:xfrm>
            <a:off x="609600" y="2159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Braintrust</a:t>
            </a:r>
          </a:p>
        </p:txBody>
      </p:sp>
      <p:sp>
        <p:nvSpPr>
          <p:cNvPr id="10" name="Shape_11">
            <a:extLst>
              <a:ext uri="{FF2B5EF4-FFF2-40B4-BE49-F238E27FC236}">
                <a16:creationId xmlns:a16="http://schemas.microsoft.com/office/drawing/2014/main" id="{55653520-C13F-0853-FA83-C43EC9507950}"/>
              </a:ext>
            </a:extLst>
          </p:cNvPr>
          <p:cNvSpPr/>
          <p:nvPr/>
        </p:nvSpPr>
        <p:spPr>
          <a:xfrm>
            <a:off x="2133600" y="2166898"/>
            <a:ext cx="4622800" cy="27940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29432-67E5-A282-F24D-F3DD826FDDDB}"/>
              </a:ext>
            </a:extLst>
          </p:cNvPr>
          <p:cNvSpPr txBox="1"/>
          <p:nvPr/>
        </p:nvSpPr>
        <p:spPr>
          <a:xfrm>
            <a:off x="6756400" y="2186345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$116M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62B50-DDBC-D60D-50DF-541F0F84A2D3}"/>
              </a:ext>
            </a:extLst>
          </p:cNvPr>
          <p:cNvSpPr txBox="1"/>
          <p:nvPr/>
        </p:nvSpPr>
        <p:spPr>
          <a:xfrm>
            <a:off x="609600" y="2794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Galileo</a:t>
            </a:r>
          </a:p>
        </p:txBody>
      </p:sp>
      <p:sp>
        <p:nvSpPr>
          <p:cNvPr id="13" name="Shape_12">
            <a:extLst>
              <a:ext uri="{FF2B5EF4-FFF2-40B4-BE49-F238E27FC236}">
                <a16:creationId xmlns:a16="http://schemas.microsoft.com/office/drawing/2014/main" id="{D363227C-D728-1D8E-0E4C-48D824D442D4}"/>
              </a:ext>
            </a:extLst>
          </p:cNvPr>
          <p:cNvSpPr/>
          <p:nvPr/>
        </p:nvSpPr>
        <p:spPr>
          <a:xfrm>
            <a:off x="2133600" y="2823205"/>
            <a:ext cx="27051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31457-4DF4-7FCD-FDD6-3A78E2DEC06E}"/>
              </a:ext>
            </a:extLst>
          </p:cNvPr>
          <p:cNvSpPr txBox="1"/>
          <p:nvPr/>
        </p:nvSpPr>
        <p:spPr>
          <a:xfrm>
            <a:off x="4851400" y="2833032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$68M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C0367-6AED-8198-0D34-59F48968A4AF}"/>
              </a:ext>
            </a:extLst>
          </p:cNvPr>
          <p:cNvSpPr txBox="1"/>
          <p:nvPr/>
        </p:nvSpPr>
        <p:spPr>
          <a:xfrm>
            <a:off x="609600" y="3429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6" name="Shape_13">
            <a:extLst>
              <a:ext uri="{FF2B5EF4-FFF2-40B4-BE49-F238E27FC236}">
                <a16:creationId xmlns:a16="http://schemas.microsoft.com/office/drawing/2014/main" id="{A4D81BED-7005-B6B4-E0E7-51813A7934F7}"/>
              </a:ext>
            </a:extLst>
          </p:cNvPr>
          <p:cNvSpPr/>
          <p:nvPr/>
        </p:nvSpPr>
        <p:spPr>
          <a:xfrm>
            <a:off x="2133600" y="3458205"/>
            <a:ext cx="3810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0939E-01B7-3DA4-4B32-9947A88B73C8}"/>
              </a:ext>
            </a:extLst>
          </p:cNvPr>
          <p:cNvSpPr txBox="1"/>
          <p:nvPr/>
        </p:nvSpPr>
        <p:spPr>
          <a:xfrm>
            <a:off x="2540000" y="3467874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$4.5M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E54762-A19D-2CAF-7C64-7267119DD211}"/>
              </a:ext>
            </a:extLst>
          </p:cNvPr>
          <p:cNvSpPr txBox="1"/>
          <p:nvPr/>
        </p:nvSpPr>
        <p:spPr>
          <a:xfrm>
            <a:off x="609600" y="4064000"/>
            <a:ext cx="1524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Patronus AI</a:t>
            </a:r>
          </a:p>
        </p:txBody>
      </p:sp>
      <p:sp>
        <p:nvSpPr>
          <p:cNvPr id="19" name="Shape_14">
            <a:extLst>
              <a:ext uri="{FF2B5EF4-FFF2-40B4-BE49-F238E27FC236}">
                <a16:creationId xmlns:a16="http://schemas.microsoft.com/office/drawing/2014/main" id="{B01F14C0-F384-3CE5-0D50-8BCF761FAA83}"/>
              </a:ext>
            </a:extLst>
          </p:cNvPr>
          <p:cNvSpPr/>
          <p:nvPr/>
        </p:nvSpPr>
        <p:spPr>
          <a:xfrm>
            <a:off x="2133600" y="4102874"/>
            <a:ext cx="2794000" cy="27940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C3CA1-C1FE-86F6-58F4-647C1583BBA4}"/>
              </a:ext>
            </a:extLst>
          </p:cNvPr>
          <p:cNvSpPr txBox="1"/>
          <p:nvPr/>
        </p:nvSpPr>
        <p:spPr>
          <a:xfrm>
            <a:off x="5016500" y="4114017"/>
            <a:ext cx="11430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$70M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591121-EF3E-ED95-D2CE-4262B8C6338A}"/>
              </a:ext>
            </a:extLst>
          </p:cNvPr>
          <p:cNvSpPr txBox="1"/>
          <p:nvPr/>
        </p:nvSpPr>
        <p:spPr>
          <a:xfrm>
            <a:off x="609600" y="4953000"/>
            <a:ext cx="6502400" cy="4001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A9B8D1"/>
                </a:solidFill>
              </a:rPr>
              <a:t>Galileo → acquired by Cisco, folded into Splunk Observability (May 2026). Langfuse → acquired by ClickHouse (Jan 2026).</a:t>
            </a:r>
          </a:p>
        </p:txBody>
      </p:sp>
      <p:sp>
        <p:nvSpPr>
          <p:cNvPr id="22" name="Shape_15">
            <a:extLst>
              <a:ext uri="{FF2B5EF4-FFF2-40B4-BE49-F238E27FC236}">
                <a16:creationId xmlns:a16="http://schemas.microsoft.com/office/drawing/2014/main" id="{7C84584C-DD68-5D30-F08A-7F370C54156D}"/>
              </a:ext>
            </a:extLst>
          </p:cNvPr>
          <p:cNvSpPr/>
          <p:nvPr/>
        </p:nvSpPr>
        <p:spPr>
          <a:xfrm>
            <a:off x="609600" y="5588000"/>
            <a:ext cx="6502400" cy="69850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71DF1-6FA7-8A04-455B-B2DDF7808880}"/>
              </a:ext>
            </a:extLst>
          </p:cNvPr>
          <p:cNvSpPr txBox="1"/>
          <p:nvPr/>
        </p:nvSpPr>
        <p:spPr>
          <a:xfrm>
            <a:off x="838200" y="5601114"/>
            <a:ext cx="6045200" cy="623248"/>
          </a:xfrm>
          <a:prstGeom prst="rect">
            <a:avLst/>
          </a:prstGeom>
          <a:noFill/>
          <a:ln/>
        </p:spPr>
        <p:txBody>
          <a:bodyPr vert="horz" rtlCol="0" anchor="ctr">
            <a:spAutoFit/>
          </a:bodyPr>
          <a:lstStyle/>
          <a:p>
            <a:r>
              <a:rPr lang="en-US" sz="1150" b="1" dirty="0">
                <a:solidFill>
                  <a:srgbClr val="FFFFFF"/>
                </a:solidFill>
              </a:rPr>
              <a:t>Combined: ~$258.5M raised across these four - two already acquired (prices undisclosed).</a:t>
            </a:r>
          </a:p>
          <a:p>
            <a:r>
              <a:rPr lang="en-US" sz="1150" b="1" dirty="0">
                <a:solidFill>
                  <a:srgbClr val="FFFFFF"/>
                </a:solidFill>
              </a:rPr>
              <a:t>Category TAM: </a:t>
            </a:r>
            <a:r>
              <a:rPr lang="en-US" sz="1150" dirty="0">
                <a:solidFill>
                  <a:srgbClr val="E5EAF3"/>
                </a:solidFill>
              </a:rPr>
              <a:t>$1.15B in 2025 </a:t>
            </a:r>
            <a:r>
              <a:rPr lang="en-US" sz="1150" dirty="0">
                <a:solidFill>
                  <a:srgbClr val="E5EAF3"/>
                </a:solidFill>
                <a:sym typeface="Wingdings" pitchFamily="2" charset="2"/>
              </a:rPr>
              <a:t> $9.57B by 2035</a:t>
            </a:r>
            <a:endParaRPr lang="en-US" sz="1150" b="1" dirty="0">
              <a:solidFill>
                <a:srgbClr val="FFFFFF"/>
              </a:solidFill>
            </a:endParaRPr>
          </a:p>
        </p:txBody>
      </p:sp>
      <p:sp>
        <p:nvSpPr>
          <p:cNvPr id="24" name="Shape_16">
            <a:extLst>
              <a:ext uri="{FF2B5EF4-FFF2-40B4-BE49-F238E27FC236}">
                <a16:creationId xmlns:a16="http://schemas.microsoft.com/office/drawing/2014/main" id="{42150BED-6790-CD59-C8AD-845D4DE3CBA0}"/>
              </a:ext>
            </a:extLst>
          </p:cNvPr>
          <p:cNvSpPr/>
          <p:nvPr/>
        </p:nvSpPr>
        <p:spPr>
          <a:xfrm>
            <a:off x="7518400" y="1905000"/>
            <a:ext cx="4064000" cy="4267200"/>
          </a:xfrm>
          <a:prstGeom prst="roundRect">
            <a:avLst>
              <a:gd name="adj" fmla="val 316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2ACC9-AB66-E116-1200-921E0F40036F}"/>
              </a:ext>
            </a:extLst>
          </p:cNvPr>
          <p:cNvSpPr txBox="1"/>
          <p:nvPr/>
        </p:nvSpPr>
        <p:spPr>
          <a:xfrm>
            <a:off x="7823200" y="2184400"/>
            <a:ext cx="34544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WHERE TRICENTIS WINS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9AECB-7447-FC1C-2A21-1C16B25373EC}"/>
              </a:ext>
            </a:extLst>
          </p:cNvPr>
          <p:cNvSpPr txBox="1"/>
          <p:nvPr/>
        </p:nvSpPr>
        <p:spPr>
          <a:xfrm>
            <a:off x="7823200" y="2895600"/>
            <a:ext cx="34544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The people who decide whether an agent can go to production are already Tricentis customers. No one is serving them with a tool.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8BA13F-675C-F4B9-C9F1-DD1BE50E1945}"/>
              </a:ext>
            </a:extLst>
          </p:cNvPr>
          <p:cNvSpPr txBox="1"/>
          <p:nvPr/>
        </p:nvSpPr>
        <p:spPr>
          <a:xfrm>
            <a:off x="7823200" y="2565400"/>
            <a:ext cx="3454400" cy="3048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38BDF8"/>
                </a:solidFill>
              </a:rPr>
              <a:t>We own the gatekeepers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5B935-8E14-3ED6-F9CB-DDB0627A8E2B}"/>
              </a:ext>
            </a:extLst>
          </p:cNvPr>
          <p:cNvSpPr txBox="1"/>
          <p:nvPr/>
        </p:nvSpPr>
        <p:spPr>
          <a:xfrm>
            <a:off x="7823200" y="4216400"/>
            <a:ext cx="3454400" cy="44627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50" dirty="0">
                <a:solidFill>
                  <a:srgbClr val="E5EAF3"/>
                </a:solidFill>
              </a:rPr>
              <a:t>Tosca and qTest cover code. AgentScore extends the same trust to the agents that code powers.</a:t>
            </a:r>
          </a:p>
        </p:txBody>
      </p:sp>
      <p:sp>
        <p:nvSpPr>
          <p:cNvPr id="31" name="Shape_66">
            <a:extLst>
              <a:ext uri="{FF2B5EF4-FFF2-40B4-BE49-F238E27FC236}">
                <a16:creationId xmlns:a16="http://schemas.microsoft.com/office/drawing/2014/main" id="{ABEFA6F4-76E8-199B-C172-9C6014760747}"/>
              </a:ext>
            </a:extLst>
          </p:cNvPr>
          <p:cNvSpPr/>
          <p:nvPr/>
        </p:nvSpPr>
        <p:spPr>
          <a:xfrm>
            <a:off x="3506086" y="1944171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7A184-CD93-AF5F-E2B1-24AFE925E714}"/>
              </a:ext>
            </a:extLst>
          </p:cNvPr>
          <p:cNvSpPr txBox="1"/>
          <p:nvPr/>
        </p:nvSpPr>
        <p:spPr>
          <a:xfrm>
            <a:off x="3658486" y="1893371"/>
            <a:ext cx="1143000" cy="25391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C7D2E3"/>
                </a:solidFill>
              </a:rPr>
              <a:t>Independent</a:t>
            </a:r>
          </a:p>
        </p:txBody>
      </p:sp>
      <p:sp>
        <p:nvSpPr>
          <p:cNvPr id="33" name="Shape_67">
            <a:extLst>
              <a:ext uri="{FF2B5EF4-FFF2-40B4-BE49-F238E27FC236}">
                <a16:creationId xmlns:a16="http://schemas.microsoft.com/office/drawing/2014/main" id="{E0B41791-EFD2-F321-65A8-E0A0DB63E122}"/>
              </a:ext>
            </a:extLst>
          </p:cNvPr>
          <p:cNvSpPr/>
          <p:nvPr/>
        </p:nvSpPr>
        <p:spPr>
          <a:xfrm>
            <a:off x="4877686" y="1944171"/>
            <a:ext cx="101600" cy="101600"/>
          </a:xfrm>
          <a:prstGeom prst="ellipse">
            <a:avLst/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13E71-95A4-FE2D-892A-E2D4FD17A9D8}"/>
              </a:ext>
            </a:extLst>
          </p:cNvPr>
          <p:cNvSpPr txBox="1"/>
          <p:nvPr/>
        </p:nvSpPr>
        <p:spPr>
          <a:xfrm>
            <a:off x="5030086" y="1893371"/>
            <a:ext cx="1016000" cy="253916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C7D2E3"/>
                </a:solidFill>
              </a:rPr>
              <a:t>Acquired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96AFE-8724-5A83-505F-8FC92596EE27}"/>
              </a:ext>
            </a:extLst>
          </p:cNvPr>
          <p:cNvSpPr txBox="1"/>
          <p:nvPr/>
        </p:nvSpPr>
        <p:spPr>
          <a:xfrm>
            <a:off x="7823200" y="5283200"/>
            <a:ext cx="3454400" cy="80021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150" dirty="0">
                <a:solidFill>
                  <a:srgbClr val="E5EAF3"/>
                </a:solidFill>
              </a:rPr>
              <a:t>Rivals already charge a premium for eval runs, but they serve expert eval engineers. We serve the people who sign off on production.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76785E-E50B-919F-B5B0-847139A308C1}"/>
              </a:ext>
            </a:extLst>
          </p:cNvPr>
          <p:cNvSpPr txBox="1"/>
          <p:nvPr/>
        </p:nvSpPr>
        <p:spPr>
          <a:xfrm>
            <a:off x="7815399" y="5003800"/>
            <a:ext cx="3454400" cy="284693"/>
          </a:xfrm>
          <a:prstGeom prst="rect">
            <a:avLst/>
          </a:prstGeom>
          <a:noFill/>
          <a:ln/>
        </p:spPr>
        <p:txBody>
          <a:bodyPr vert="horz" wrap="square" rtlCol="0">
            <a:spAutoFit/>
          </a:bodyPr>
          <a:lstStyle/>
          <a:p>
            <a:r>
              <a:rPr lang="en-US" sz="1250" b="1" dirty="0">
                <a:solidFill>
                  <a:srgbClr val="FFFFFF"/>
                </a:solidFill>
              </a:rPr>
              <a:t>Competitors prove the demand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1014A3-1B74-BCAD-4548-1C32FDCE5937}"/>
              </a:ext>
            </a:extLst>
          </p:cNvPr>
          <p:cNvSpPr txBox="1"/>
          <p:nvPr/>
        </p:nvSpPr>
        <p:spPr>
          <a:xfrm>
            <a:off x="7823200" y="3937000"/>
            <a:ext cx="34544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b="1" dirty="0">
                <a:solidFill>
                  <a:srgbClr val="FFFFFF"/>
                </a:solidFill>
              </a:rPr>
              <a:t>We complete the quality loop</a:t>
            </a:r>
          </a:p>
        </p:txBody>
      </p:sp>
      <p:sp>
        <p:nvSpPr>
          <p:cNvPr id="100031" name="TextBox 34"/>
          <p:cNvSpPr txBox="1"/>
          <p:nvPr/>
        </p:nvSpPr>
        <p:spPr>
          <a:xfrm>
            <a:off x="609600" y="1854200"/>
            <a:ext cx="1270000" cy="203200"/>
          </a:xfrm>
          <a:prstGeom prst="rect">
            <a:avLst/>
          </a:prstGeom>
        </p:spPr>
        <p:txBody>
          <a:bodyPr/>
          <a:lstStyle/>
          <a:p>
            <a:r>
              <a:rPr lang="en-US" sz="1050" b="1">
                <a:solidFill>
                  <a:srgbClr val="A9B8D1"/>
                </a:solidFill>
                <a:latin typeface="Arial"/>
                <a:ea typeface="Arial"/>
              </a:rPr>
              <a:t>Funding raised</a:t>
            </a:r>
          </a:p>
        </p:txBody>
      </p:sp>
      <p:sp>
        <p:nvSpPr>
          <p:cNvPr id="100032" name="TextBox 35"/>
          <p:cNvSpPr/>
          <p:nvPr/>
        </p:nvSpPr>
        <p:spPr>
          <a:xfrm>
            <a:off x="7823200" y="3784600"/>
            <a:ext cx="3454400" cy="12700"/>
          </a:xfrm>
          <a:prstGeom prst="rect">
            <a:avLst/>
          </a:prstGeom>
          <a:solidFill>
            <a:srgbClr val="333B4A"/>
          </a:solidFill>
        </p:spPr>
        <p:txBody>
          <a:bodyPr/>
          <a:lstStyle/>
          <a:p>
            <a:endParaRPr/>
          </a:p>
        </p:txBody>
      </p:sp>
      <p:sp>
        <p:nvSpPr>
          <p:cNvPr id="100033" name="TextBox 36"/>
          <p:cNvSpPr/>
          <p:nvPr/>
        </p:nvSpPr>
        <p:spPr>
          <a:xfrm>
            <a:off x="7823200" y="4851400"/>
            <a:ext cx="3454400" cy="12700"/>
          </a:xfrm>
          <a:prstGeom prst="rect">
            <a:avLst/>
          </a:prstGeom>
          <a:solidFill>
            <a:srgbClr val="333B4A"/>
          </a:solid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944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59967" y="-1409287"/>
            <a:ext cx="15138584" cy="123757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A613B3-953F-D4C8-A4B4-B0AFDF327406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39317-33C6-33C2-E2EC-B1FFAC9509D3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What AgentScore 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6F0C0-0892-1728-D599-1D2E07E54EF6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Easy to start, smart defaults, works for most teams. Not the top-tier data-science scorer.</a:t>
            </a:r>
          </a:p>
        </p:txBody>
      </p:sp>
      <p:sp>
        <p:nvSpPr>
          <p:cNvPr id="5" name="Shape_24">
            <a:extLst>
              <a:ext uri="{FF2B5EF4-FFF2-40B4-BE49-F238E27FC236}">
                <a16:creationId xmlns:a16="http://schemas.microsoft.com/office/drawing/2014/main" id="{090CB328-7972-BD48-32A2-718EA430C69F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864F8-1F58-25C3-3E20-203056E7723C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25">
            <a:extLst>
              <a:ext uri="{FF2B5EF4-FFF2-40B4-BE49-F238E27FC236}">
                <a16:creationId xmlns:a16="http://schemas.microsoft.com/office/drawing/2014/main" id="{EF600BFF-FDAF-1E9B-9B7C-C81F1E4F307B}"/>
              </a:ext>
            </a:extLst>
          </p:cNvPr>
          <p:cNvSpPr/>
          <p:nvPr/>
        </p:nvSpPr>
        <p:spPr>
          <a:xfrm>
            <a:off x="609600" y="2667000"/>
            <a:ext cx="2603500" cy="31750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7014D-FFF3-EBD3-1A1F-E9B27B8A534E}"/>
              </a:ext>
            </a:extLst>
          </p:cNvPr>
          <p:cNvSpPr txBox="1"/>
          <p:nvPr/>
        </p:nvSpPr>
        <p:spPr>
          <a:xfrm>
            <a:off x="736600" y="3708400"/>
            <a:ext cx="2349500" cy="5588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Zero setup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11559-DF51-C06F-BBC4-43F7D699C2C3}"/>
              </a:ext>
            </a:extLst>
          </p:cNvPr>
          <p:cNvSpPr txBox="1"/>
          <p:nvPr/>
        </p:nvSpPr>
        <p:spPr>
          <a:xfrm>
            <a:off x="736600" y="4318000"/>
            <a:ext cx="2349500" cy="6001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Point it at a trace. AgentScore picks the right evals from 40+ for you. No data science required.</a:t>
            </a:r>
          </a:p>
        </p:txBody>
      </p:sp>
      <p:sp>
        <p:nvSpPr>
          <p:cNvPr id="12" name="Shape_27">
            <a:extLst>
              <a:ext uri="{FF2B5EF4-FFF2-40B4-BE49-F238E27FC236}">
                <a16:creationId xmlns:a16="http://schemas.microsoft.com/office/drawing/2014/main" id="{804B565A-2D99-0355-8138-389DF12FB33D}"/>
              </a:ext>
            </a:extLst>
          </p:cNvPr>
          <p:cNvSpPr/>
          <p:nvPr/>
        </p:nvSpPr>
        <p:spPr>
          <a:xfrm>
            <a:off x="3390900" y="2667000"/>
            <a:ext cx="2603500" cy="31750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384D5-5DD9-8052-4A47-08B0FD448787}"/>
              </a:ext>
            </a:extLst>
          </p:cNvPr>
          <p:cNvSpPr txBox="1"/>
          <p:nvPr/>
        </p:nvSpPr>
        <p:spPr>
          <a:xfrm>
            <a:off x="3517900" y="3708400"/>
            <a:ext cx="2349500" cy="5588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 Verdict, Not a Pass/Fail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1FB88-A34D-2477-557B-F68F36218C59}"/>
              </a:ext>
            </a:extLst>
          </p:cNvPr>
          <p:cNvSpPr txBox="1"/>
          <p:nvPr/>
        </p:nvSpPr>
        <p:spPr>
          <a:xfrm>
            <a:off x="3517900" y="4318000"/>
            <a:ext cx="2349500" cy="43088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A 0-100 score and a ship/warn/block verdict. It answers "can this go to production?"</a:t>
            </a:r>
          </a:p>
        </p:txBody>
      </p:sp>
      <p:sp>
        <p:nvSpPr>
          <p:cNvPr id="16" name="Shape_29">
            <a:extLst>
              <a:ext uri="{FF2B5EF4-FFF2-40B4-BE49-F238E27FC236}">
                <a16:creationId xmlns:a16="http://schemas.microsoft.com/office/drawing/2014/main" id="{7DE04456-D4A9-3E7F-B674-C4CB6BBE982F}"/>
              </a:ext>
            </a:extLst>
          </p:cNvPr>
          <p:cNvSpPr/>
          <p:nvPr/>
        </p:nvSpPr>
        <p:spPr>
          <a:xfrm>
            <a:off x="6172200" y="2667000"/>
            <a:ext cx="2603500" cy="31750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A9CCC-A826-AA77-4BE8-4654B17FC2F0}"/>
              </a:ext>
            </a:extLst>
          </p:cNvPr>
          <p:cNvSpPr txBox="1"/>
          <p:nvPr/>
        </p:nvSpPr>
        <p:spPr>
          <a:xfrm>
            <a:off x="6299200" y="3708400"/>
            <a:ext cx="2349500" cy="5588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Root-Cause Attribution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EF5E3-BA13-230F-18CB-1BE5B18D960D}"/>
              </a:ext>
            </a:extLst>
          </p:cNvPr>
          <p:cNvSpPr txBox="1"/>
          <p:nvPr/>
        </p:nvSpPr>
        <p:spPr>
          <a:xfrm>
            <a:off x="6299200" y="4318000"/>
            <a:ext cx="2349500" cy="26161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Down to the span, paired with a suggested fix.</a:t>
            </a:r>
          </a:p>
        </p:txBody>
      </p:sp>
      <p:sp>
        <p:nvSpPr>
          <p:cNvPr id="24" name="Shape_33">
            <a:extLst>
              <a:ext uri="{FF2B5EF4-FFF2-40B4-BE49-F238E27FC236}">
                <a16:creationId xmlns:a16="http://schemas.microsoft.com/office/drawing/2014/main" id="{0EB75377-30C1-786C-6968-AB616DA7D47E}"/>
              </a:ext>
            </a:extLst>
          </p:cNvPr>
          <p:cNvSpPr/>
          <p:nvPr/>
        </p:nvSpPr>
        <p:spPr>
          <a:xfrm>
            <a:off x="8953500" y="2667000"/>
            <a:ext cx="2603500" cy="3175000"/>
          </a:xfrm>
          <a:prstGeom prst="roundRect">
            <a:avLst>
              <a:gd name="adj" fmla="val 6061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3D651A-67F9-475F-6168-2DE4CCF31961}"/>
              </a:ext>
            </a:extLst>
          </p:cNvPr>
          <p:cNvSpPr txBox="1"/>
          <p:nvPr/>
        </p:nvSpPr>
        <p:spPr>
          <a:xfrm>
            <a:off x="9080500" y="3708400"/>
            <a:ext cx="2349500" cy="55880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Tiered Evidence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5227F-FC14-C1CF-1770-A48FEBC64155}"/>
              </a:ext>
            </a:extLst>
          </p:cNvPr>
          <p:cNvSpPr txBox="1"/>
          <p:nvPr/>
        </p:nvSpPr>
        <p:spPr>
          <a:xfrm>
            <a:off x="9080500" y="4318000"/>
            <a:ext cx="2349500" cy="60016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Deterministic checks, judge with confidence intervals, golden-dataset back-testing. Audit-ready, not a black box.</a:t>
            </a:r>
          </a:p>
        </p:txBody>
      </p:sp>
      <p:pic>
        <p:nvPicPr>
          <p:cNvPr id="32" name="Picture 31" descr="wave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" y="2997200"/>
            <a:ext cx="508000" cy="508000"/>
          </a:xfrm>
          <a:prstGeom prst="rect">
            <a:avLst/>
          </a:prstGeom>
        </p:spPr>
      </p:pic>
      <p:pic>
        <p:nvPicPr>
          <p:cNvPr id="33" name="Picture 32" descr="chec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650" y="2997200"/>
            <a:ext cx="508000" cy="508000"/>
          </a:xfrm>
          <a:prstGeom prst="rect">
            <a:avLst/>
          </a:prstGeom>
        </p:spPr>
      </p:pic>
      <p:pic>
        <p:nvPicPr>
          <p:cNvPr id="34" name="Picture 33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950" y="2997200"/>
            <a:ext cx="508000" cy="508000"/>
          </a:xfrm>
          <a:prstGeom prst="rect">
            <a:avLst/>
          </a:prstGeom>
        </p:spPr>
      </p:pic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0" y="2997200"/>
            <a:ext cx="508000" cy="508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100034" name="TextBox 19"/>
          <p:cNvSpPr txBox="1"/>
          <p:nvPr/>
        </p:nvSpPr>
        <p:spPr>
          <a:xfrm>
            <a:off x="609600" y="1803400"/>
            <a:ext cx="10972800" cy="508000"/>
          </a:xfrm>
          <a:prstGeom prst="rect">
            <a:avLst/>
          </a:prstGeom>
        </p:spPr>
        <p:txBody>
          <a:bodyPr/>
          <a:lstStyle/>
          <a:p>
            <a:r>
              <a:rPr lang="en-US" sz="1200" b="0">
                <a:solidFill>
                  <a:srgbClr val="C7D2E3"/>
                </a:solidFill>
                <a:latin typeface="Arial"/>
                <a:ea typeface="Arial"/>
              </a:rPr>
              <a:t>Customers don't know what to test, how, or whether it's enough. Fear leads to ship paralysis. Other tools say go learn to be a data scientist.</a:t>
            </a:r>
          </a:p>
        </p:txBody>
      </p:sp>
    </p:spTree>
    <p:extLst>
      <p:ext uri="{BB962C8B-B14F-4D97-AF65-F5344CB8AC3E}">
        <p14:creationId xmlns:p14="http://schemas.microsoft.com/office/powerpoint/2010/main" val="19216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34347" y="-3133816"/>
            <a:ext cx="8840293" cy="8199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F2177D-431A-C789-A2CF-46011E660F24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PERSONA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38846-E5BA-F427-237C-1D5EA9C5E3A8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Who Actually Buys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71603-6053-DBAF-DB0A-CDA207B4D5D9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Ranked by priority - who reacts to the score, and why.</a:t>
            </a:r>
          </a:p>
        </p:txBody>
      </p:sp>
      <p:sp>
        <p:nvSpPr>
          <p:cNvPr id="5" name="Shape_37">
            <a:extLst>
              <a:ext uri="{FF2B5EF4-FFF2-40B4-BE49-F238E27FC236}">
                <a16:creationId xmlns:a16="http://schemas.microsoft.com/office/drawing/2014/main" id="{751BB776-D7FD-9CB0-DCB2-FCE1EFB82B23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C3718-E074-0B5F-6EFC-9227CCD32D53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C63981-8774-31A9-F024-76C43F49B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13826"/>
              </p:ext>
            </p:extLst>
          </p:nvPr>
        </p:nvGraphicFramePr>
        <p:xfrm>
          <a:off x="609600" y="2032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758979895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4727903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3020068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Persona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Why They Care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Priority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49422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QA/quality leader at an agent-deploying enterprise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“is this agent safe to ship” but has no tooling built for agent behavior - wants a defensible score and root-cause attribution.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38BDF8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567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AI/platform program owner at scale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dozens of agents shipping to prod with fragmented ownership - reacts most strongly to the single ship/warn/block verdict.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38BDF8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4616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SI/consulting partner building agents for clients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Needs third-party evidence of quality to close their own client deals - a resale motion, not just internal use.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119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Regulated-industry buyer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Compliance/audit sensitivity makes “how do you know it's accurate” a gating question before production.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69495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</p:spTree>
    <p:extLst>
      <p:ext uri="{BB962C8B-B14F-4D97-AF65-F5344CB8AC3E}">
        <p14:creationId xmlns:p14="http://schemas.microsoft.com/office/powerpoint/2010/main" val="197709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CA12BB-C450-D111-FE0A-DAF68EAABF82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ICP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82A1E-B2FA-02A9-6984-D9E7C1C31F34}"/>
              </a:ext>
            </a:extLst>
          </p:cNvPr>
          <p:cNvSpPr txBox="1"/>
          <p:nvPr/>
        </p:nvSpPr>
        <p:spPr>
          <a:xfrm>
            <a:off x="609600" y="762000"/>
            <a:ext cx="10972800" cy="52322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Does the account answer yes to these?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BEA77-B472-EAA7-15FC-20D1AFBCA9BE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If you're a sales rep, here's what to look for in an account.</a:t>
            </a:r>
          </a:p>
        </p:txBody>
      </p:sp>
      <p:sp>
        <p:nvSpPr>
          <p:cNvPr id="5" name="Shape_38">
            <a:extLst>
              <a:ext uri="{FF2B5EF4-FFF2-40B4-BE49-F238E27FC236}">
                <a16:creationId xmlns:a16="http://schemas.microsoft.com/office/drawing/2014/main" id="{D472782D-E609-EB87-CCB2-ADAE990FC24E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3134F-CB14-5C0B-7FA3-F29888566C9E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39">
            <a:extLst>
              <a:ext uri="{FF2B5EF4-FFF2-40B4-BE49-F238E27FC236}">
                <a16:creationId xmlns:a16="http://schemas.microsoft.com/office/drawing/2014/main" id="{176D67D3-0E93-97AC-0B0B-67BF2A821068}"/>
              </a:ext>
            </a:extLst>
          </p:cNvPr>
          <p:cNvSpPr/>
          <p:nvPr/>
        </p:nvSpPr>
        <p:spPr>
          <a:xfrm>
            <a:off x="609600" y="22098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9D813-7D4D-1521-13AC-F76D8904591C}"/>
              </a:ext>
            </a:extLst>
          </p:cNvPr>
          <p:cNvSpPr txBox="1"/>
          <p:nvPr/>
        </p:nvSpPr>
        <p:spPr>
          <a:xfrm>
            <a:off x="889000" y="2133600"/>
            <a:ext cx="6350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Are you building agents today?</a:t>
            </a:r>
          </a:p>
        </p:txBody>
      </p:sp>
      <p:sp>
        <p:nvSpPr>
          <p:cNvPr id="10" name="Shape_40">
            <a:extLst>
              <a:ext uri="{FF2B5EF4-FFF2-40B4-BE49-F238E27FC236}">
                <a16:creationId xmlns:a16="http://schemas.microsoft.com/office/drawing/2014/main" id="{7DC35EE4-063B-CB3A-C61E-AB98AB7C2E28}"/>
              </a:ext>
            </a:extLst>
          </p:cNvPr>
          <p:cNvSpPr/>
          <p:nvPr/>
        </p:nvSpPr>
        <p:spPr>
          <a:xfrm>
            <a:off x="609600" y="26416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D6197-DC4E-02FD-BE78-4E97C26F14CB}"/>
              </a:ext>
            </a:extLst>
          </p:cNvPr>
          <p:cNvSpPr txBox="1"/>
          <p:nvPr/>
        </p:nvSpPr>
        <p:spPr>
          <a:xfrm>
            <a:off x="889000" y="2565400"/>
            <a:ext cx="6350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dirty="0">
                <a:solidFill>
                  <a:srgbClr val="E5EAF3"/>
                </a:solidFill>
              </a:rPr>
              <a:t>Are you running agents in production every day?</a:t>
            </a:r>
          </a:p>
        </p:txBody>
      </p:sp>
      <p:sp>
        <p:nvSpPr>
          <p:cNvPr id="12" name="Shape_41">
            <a:extLst>
              <a:ext uri="{FF2B5EF4-FFF2-40B4-BE49-F238E27FC236}">
                <a16:creationId xmlns:a16="http://schemas.microsoft.com/office/drawing/2014/main" id="{CD7BCD36-C8B4-8830-126B-4E6937229142}"/>
              </a:ext>
            </a:extLst>
          </p:cNvPr>
          <p:cNvSpPr/>
          <p:nvPr/>
        </p:nvSpPr>
        <p:spPr>
          <a:xfrm>
            <a:off x="609600" y="30734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C81C8-A8A5-0D2E-B170-809093125B90}"/>
              </a:ext>
            </a:extLst>
          </p:cNvPr>
          <p:cNvSpPr txBox="1"/>
          <p:nvPr/>
        </p:nvSpPr>
        <p:spPr>
          <a:xfrm>
            <a:off x="889000" y="2997200"/>
            <a:ext cx="63500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Are you running multiple agents or workflows, not just one? More surface area, more manual grading pain.</a:t>
            </a:r>
          </a:p>
        </p:txBody>
      </p:sp>
      <p:sp>
        <p:nvSpPr>
          <p:cNvPr id="14" name="Shape_42">
            <a:extLst>
              <a:ext uri="{FF2B5EF4-FFF2-40B4-BE49-F238E27FC236}">
                <a16:creationId xmlns:a16="http://schemas.microsoft.com/office/drawing/2014/main" id="{85CD7164-DC33-EC87-D16C-3B1F1ADF0981}"/>
              </a:ext>
            </a:extLst>
          </p:cNvPr>
          <p:cNvSpPr/>
          <p:nvPr/>
        </p:nvSpPr>
        <p:spPr>
          <a:xfrm>
            <a:off x="609600" y="36576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AC591-01AE-F488-262F-4CB2492BF7C7}"/>
              </a:ext>
            </a:extLst>
          </p:cNvPr>
          <p:cNvSpPr txBox="1"/>
          <p:nvPr/>
        </p:nvSpPr>
        <p:spPr>
          <a:xfrm>
            <a:off x="889000" y="3581400"/>
            <a:ext cx="63500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Are you running external agents, tools, or MCPs alongside internal ones that you can't score side by side? (GitHub Copilot, Copilot Studio, homegrown frameworks, other vendors, MCP servers)</a:t>
            </a:r>
          </a:p>
        </p:txBody>
      </p:sp>
      <p:sp>
        <p:nvSpPr>
          <p:cNvPr id="16" name="Shape_43">
            <a:extLst>
              <a:ext uri="{FF2B5EF4-FFF2-40B4-BE49-F238E27FC236}">
                <a16:creationId xmlns:a16="http://schemas.microsoft.com/office/drawing/2014/main" id="{D37CB19D-C111-8F7F-0696-9265A10CA229}"/>
              </a:ext>
            </a:extLst>
          </p:cNvPr>
          <p:cNvSpPr/>
          <p:nvPr/>
        </p:nvSpPr>
        <p:spPr>
          <a:xfrm>
            <a:off x="609600" y="44196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170021-1A14-7440-1930-C89B05FBCD0B}"/>
              </a:ext>
            </a:extLst>
          </p:cNvPr>
          <p:cNvSpPr txBox="1"/>
          <p:nvPr/>
        </p:nvSpPr>
        <p:spPr>
          <a:xfrm>
            <a:off x="889000" y="4343400"/>
            <a:ext cx="6350000" cy="477054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A9B8D1"/>
                </a:solidFill>
              </a:rPr>
              <a:t>Why they say yes: governance and spend worry ("how do we know it's safe?"), or homegrown grading they want to cut or tighten.</a:t>
            </a:r>
          </a:p>
        </p:txBody>
      </p:sp>
      <p:sp>
        <p:nvSpPr>
          <p:cNvPr id="18" name="Shape_44">
            <a:extLst>
              <a:ext uri="{FF2B5EF4-FFF2-40B4-BE49-F238E27FC236}">
                <a16:creationId xmlns:a16="http://schemas.microsoft.com/office/drawing/2014/main" id="{DD998DC9-0BAF-93B2-1F28-F5CB28427980}"/>
              </a:ext>
            </a:extLst>
          </p:cNvPr>
          <p:cNvSpPr/>
          <p:nvPr/>
        </p:nvSpPr>
        <p:spPr>
          <a:xfrm>
            <a:off x="609600" y="5207000"/>
            <a:ext cx="10972800" cy="69850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52A4F-512C-5CCF-8D0A-28008A59BB7B}"/>
              </a:ext>
            </a:extLst>
          </p:cNvPr>
          <p:cNvSpPr txBox="1"/>
          <p:nvPr/>
        </p:nvSpPr>
        <p:spPr>
          <a:xfrm>
            <a:off x="863600" y="5308600"/>
            <a:ext cx="10464800" cy="446276"/>
          </a:xfrm>
          <a:prstGeom prst="rect">
            <a:avLst/>
          </a:prstGeom>
          <a:noFill/>
          <a:ln/>
        </p:spPr>
        <p:txBody>
          <a:bodyPr vert="horz" rtlCol="0" anchor="ctr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Bonus signal: no dedicated AI engineers or existing eval tooling in-house → AgentScore isn't competing against a build option, it's the only realistic path to a rigorous eval.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100035" name="TextBox 19"/>
          <p:cNvSpPr txBox="1"/>
          <p:nvPr/>
        </p:nvSpPr>
        <p:spPr>
          <a:xfrm>
            <a:off x="609600" y="1752600"/>
            <a:ext cx="38100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YES TO THESE</a:t>
            </a:r>
          </a:p>
        </p:txBody>
      </p:sp>
      <p:sp>
        <p:nvSpPr>
          <p:cNvPr id="100036" name="TextBox 20"/>
          <p:cNvSpPr/>
          <p:nvPr/>
        </p:nvSpPr>
        <p:spPr>
          <a:xfrm>
            <a:off x="7874000" y="1752600"/>
            <a:ext cx="3708400" cy="254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37" name="TextBox 21"/>
          <p:cNvSpPr txBox="1"/>
          <p:nvPr/>
        </p:nvSpPr>
        <p:spPr>
          <a:xfrm>
            <a:off x="8128000" y="1955800"/>
            <a:ext cx="32004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E85B5B"/>
                </a:solidFill>
                <a:latin typeface="Arial"/>
                <a:ea typeface="Arial"/>
              </a:rPr>
              <a:t>NOT OUR ICP</a:t>
            </a:r>
          </a:p>
        </p:txBody>
      </p:sp>
      <p:sp>
        <p:nvSpPr>
          <p:cNvPr id="100038" name="TextBox 22"/>
          <p:cNvSpPr/>
          <p:nvPr/>
        </p:nvSpPr>
        <p:spPr>
          <a:xfrm>
            <a:off x="8128000" y="2463800"/>
            <a:ext cx="101600" cy="101600"/>
          </a:xfrm>
          <a:prstGeom prst="ellipse">
            <a:avLst/>
          </a:prstGeom>
          <a:solidFill>
            <a:srgbClr val="E85B5B"/>
          </a:solidFill>
        </p:spPr>
        <p:txBody>
          <a:bodyPr/>
          <a:lstStyle/>
          <a:p>
            <a:endParaRPr/>
          </a:p>
        </p:txBody>
      </p:sp>
      <p:sp>
        <p:nvSpPr>
          <p:cNvPr id="100039" name="TextBox 23"/>
          <p:cNvSpPr txBox="1"/>
          <p:nvPr/>
        </p:nvSpPr>
        <p:spPr>
          <a:xfrm>
            <a:off x="8382000" y="2387600"/>
            <a:ext cx="2946400" cy="889000"/>
          </a:xfrm>
          <a:prstGeom prst="rect">
            <a:avLst/>
          </a:prstGeom>
        </p:spPr>
        <p:txBody>
          <a:bodyPr/>
          <a:lstStyle/>
          <a:p>
            <a:r>
              <a:rPr lang="en-US" sz="1250" b="0">
                <a:solidFill>
                  <a:srgbClr val="E5EAF3"/>
                </a:solidFill>
                <a:latin typeface="Arial"/>
                <a:ea typeface="Arial"/>
              </a:rPr>
              <a:t>Talks about Claude, not about evaluating agents. Interest in AI is not the same as wanting agent evaluation.</a:t>
            </a:r>
          </a:p>
        </p:txBody>
      </p:sp>
      <p:sp>
        <p:nvSpPr>
          <p:cNvPr id="100040" name="TextBox 24"/>
          <p:cNvSpPr/>
          <p:nvPr/>
        </p:nvSpPr>
        <p:spPr>
          <a:xfrm>
            <a:off x="8128000" y="3606800"/>
            <a:ext cx="101600" cy="101600"/>
          </a:xfrm>
          <a:prstGeom prst="ellipse">
            <a:avLst/>
          </a:prstGeom>
          <a:solidFill>
            <a:srgbClr val="E85B5B"/>
          </a:solidFill>
        </p:spPr>
        <p:txBody>
          <a:bodyPr/>
          <a:lstStyle/>
          <a:p>
            <a:endParaRPr/>
          </a:p>
        </p:txBody>
      </p:sp>
      <p:sp>
        <p:nvSpPr>
          <p:cNvPr id="100041" name="TextBox 25"/>
          <p:cNvSpPr txBox="1"/>
          <p:nvPr/>
        </p:nvSpPr>
        <p:spPr>
          <a:xfrm>
            <a:off x="8382000" y="3530600"/>
            <a:ext cx="2946400" cy="889000"/>
          </a:xfrm>
          <a:prstGeom prst="rect">
            <a:avLst/>
          </a:prstGeom>
        </p:spPr>
        <p:txBody>
          <a:bodyPr/>
          <a:lstStyle/>
          <a:p>
            <a:r>
              <a:rPr lang="en-US" sz="1250" b="0">
                <a:solidFill>
                  <a:srgbClr val="E5EAF3"/>
                </a:solidFill>
                <a:latin typeface="Arial"/>
                <a:ea typeface="Arial"/>
              </a:rPr>
              <a:t>Very early in the AI journey, with no agents built yet.</a:t>
            </a:r>
          </a:p>
        </p:txBody>
      </p:sp>
      <p:sp>
        <p:nvSpPr>
          <p:cNvPr id="100042" name="TextBox 26"/>
          <p:cNvSpPr txBox="1"/>
          <p:nvPr/>
        </p:nvSpPr>
        <p:spPr>
          <a:xfrm>
            <a:off x="609600" y="6019800"/>
            <a:ext cx="10972800" cy="228600"/>
          </a:xfrm>
          <a:prstGeom prst="rect">
            <a:avLst/>
          </a:prstGeom>
        </p:spPr>
        <p:txBody>
          <a:bodyPr/>
          <a:lstStyle/>
          <a:p>
            <a:r>
              <a:rPr lang="en-US" sz="1000" b="0" i="1">
                <a:solidFill>
                  <a:srgbClr val="6B7A99"/>
                </a:solidFill>
                <a:latin typeface="Arial"/>
                <a:ea typeface="Arial"/>
              </a:rPr>
              <a:t>Nearly all demo customers already have AI Workspace. Useful as proof, not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3098586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266560-34D9-BA22-F6F6-978F914D483D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 dirty="0">
                <a:solidFill>
                  <a:srgbClr val="38BDF8"/>
                </a:solidFill>
              </a:rPr>
              <a:t>VALUE PROP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8D1D-B55E-E562-9005-24BF6BD969F2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ADDD3-437B-0D3F-D1C3-E16F9F0DDFE1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Teams with evals ship in days. Teams without spend weeks.</a:t>
            </a:r>
          </a:p>
        </p:txBody>
      </p:sp>
      <p:sp>
        <p:nvSpPr>
          <p:cNvPr id="5" name="Shape_45">
            <a:extLst>
              <a:ext uri="{FF2B5EF4-FFF2-40B4-BE49-F238E27FC236}">
                <a16:creationId xmlns:a16="http://schemas.microsoft.com/office/drawing/2014/main" id="{ACA4548A-D594-767F-2CB0-DE8E71017FB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FF7A7-6B60-7D49-649C-20D421D3B411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8" name="Shape_46">
            <a:extLst>
              <a:ext uri="{FF2B5EF4-FFF2-40B4-BE49-F238E27FC236}">
                <a16:creationId xmlns:a16="http://schemas.microsoft.com/office/drawing/2014/main" id="{67121523-6B7E-D446-DA9A-431FE594BB3C}"/>
              </a:ext>
            </a:extLst>
          </p:cNvPr>
          <p:cNvSpPr/>
          <p:nvPr/>
        </p:nvSpPr>
        <p:spPr>
          <a:xfrm>
            <a:off x="609600" y="35560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FD130-6FDD-E698-2531-3F97EEB779EC}"/>
              </a:ext>
            </a:extLst>
          </p:cNvPr>
          <p:cNvSpPr txBox="1"/>
          <p:nvPr/>
        </p:nvSpPr>
        <p:spPr>
          <a:xfrm>
            <a:off x="889000" y="3479800"/>
            <a:ext cx="6731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Velocity: know when you're ready, instead of running on customer vibes.</a:t>
            </a:r>
          </a:p>
        </p:txBody>
      </p:sp>
      <p:sp>
        <p:nvSpPr>
          <p:cNvPr id="10" name="Shape_47">
            <a:extLst>
              <a:ext uri="{FF2B5EF4-FFF2-40B4-BE49-F238E27FC236}">
                <a16:creationId xmlns:a16="http://schemas.microsoft.com/office/drawing/2014/main" id="{247D4D7E-641F-C36A-6C37-9B4C26BFBCAD}"/>
              </a:ext>
            </a:extLst>
          </p:cNvPr>
          <p:cNvSpPr/>
          <p:nvPr/>
        </p:nvSpPr>
        <p:spPr>
          <a:xfrm>
            <a:off x="609600" y="41656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9B3E7-AC93-419E-1E36-66B1E7F9B7D3}"/>
              </a:ext>
            </a:extLst>
          </p:cNvPr>
          <p:cNvSpPr txBox="1"/>
          <p:nvPr/>
        </p:nvSpPr>
        <p:spPr>
          <a:xfrm>
            <a:off x="889000" y="4089400"/>
            <a:ext cx="6731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dirty="0">
                <a:solidFill>
                  <a:srgbClr val="E5EAF3"/>
                </a:solidFill>
              </a:rPr>
              <a:t>A defensible verdict instead of a gut call, with one yardstick across </a:t>
            </a:r>
            <a:r>
              <a:rPr lang="en-US" sz="1250">
                <a:solidFill>
                  <a:srgbClr val="E5EAF3"/>
                </a:solidFill>
              </a:rPr>
              <a:t>fragmented ownership</a:t>
            </a:r>
            <a:endParaRPr lang="en-US" sz="1250" dirty="0">
              <a:solidFill>
                <a:srgbClr val="E5EAF3"/>
              </a:solidFill>
            </a:endParaRPr>
          </a:p>
        </p:txBody>
      </p:sp>
      <p:sp>
        <p:nvSpPr>
          <p:cNvPr id="12" name="Shape_48">
            <a:extLst>
              <a:ext uri="{FF2B5EF4-FFF2-40B4-BE49-F238E27FC236}">
                <a16:creationId xmlns:a16="http://schemas.microsoft.com/office/drawing/2014/main" id="{2E9C50A5-0231-A72C-B1F6-333C43E19D25}"/>
              </a:ext>
            </a:extLst>
          </p:cNvPr>
          <p:cNvSpPr/>
          <p:nvPr/>
        </p:nvSpPr>
        <p:spPr>
          <a:xfrm>
            <a:off x="609600" y="47752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EE1E8-BE19-2884-528F-234AB8D772FA}"/>
              </a:ext>
            </a:extLst>
          </p:cNvPr>
          <p:cNvSpPr txBox="1"/>
          <p:nvPr/>
        </p:nvSpPr>
        <p:spPr>
          <a:xfrm>
            <a:off x="889000" y="4699000"/>
            <a:ext cx="6731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 dirty="0">
                <a:solidFill>
                  <a:srgbClr val="E5EAF3"/>
                </a:solidFill>
              </a:rPr>
              <a:t>Root-cause attribution: a fix, not a re-run.</a:t>
            </a:r>
          </a:p>
        </p:txBody>
      </p:sp>
      <p:sp>
        <p:nvSpPr>
          <p:cNvPr id="14" name="Shape_49">
            <a:extLst>
              <a:ext uri="{FF2B5EF4-FFF2-40B4-BE49-F238E27FC236}">
                <a16:creationId xmlns:a16="http://schemas.microsoft.com/office/drawing/2014/main" id="{7CE2DCC3-A5B8-9C8C-8FB3-D0D72318640D}"/>
              </a:ext>
            </a:extLst>
          </p:cNvPr>
          <p:cNvSpPr/>
          <p:nvPr/>
        </p:nvSpPr>
        <p:spPr>
          <a:xfrm>
            <a:off x="609600" y="5384800"/>
            <a:ext cx="101600" cy="101600"/>
          </a:xfrm>
          <a:prstGeom prst="ellipse">
            <a:avLst/>
          </a:prstGeom>
          <a:solidFill>
            <a:srgbClr val="38BDF8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8C88C-C048-FD91-7379-107616CE7011}"/>
              </a:ext>
            </a:extLst>
          </p:cNvPr>
          <p:cNvSpPr txBox="1"/>
          <p:nvPr/>
        </p:nvSpPr>
        <p:spPr>
          <a:xfrm>
            <a:off x="889000" y="5308600"/>
            <a:ext cx="6731000" cy="284693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Coverage without in-house AI expertise. Zero-setup profiling means no data scientists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100043" name="TextBox 15"/>
          <p:cNvSpPr/>
          <p:nvPr/>
        </p:nvSpPr>
        <p:spPr>
          <a:xfrm>
            <a:off x="609600" y="1778000"/>
            <a:ext cx="10972800" cy="1270000"/>
          </a:xfrm>
          <a:prstGeom prst="roundRect">
            <a:avLst/>
          </a:prstGeom>
          <a:solidFill>
            <a:srgbClr val="000000"/>
          </a:solidFill>
          <a:ln w="19050">
            <a:solidFill>
              <a:srgbClr val="38BDF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44" name="TextBox 16"/>
          <p:cNvSpPr txBox="1"/>
          <p:nvPr/>
        </p:nvSpPr>
        <p:spPr>
          <a:xfrm>
            <a:off x="863600" y="1905000"/>
            <a:ext cx="7112000" cy="762000"/>
          </a:xfrm>
          <a:prstGeom prst="rect">
            <a:avLst/>
          </a:prstGeom>
        </p:spPr>
        <p:txBody>
          <a:bodyPr/>
          <a:lstStyle/>
          <a:p>
            <a:r>
              <a:rPr lang="en-US" sz="1300" b="0" i="1" dirty="0">
                <a:solidFill>
                  <a:srgbClr val="FFFFFF"/>
                </a:solidFill>
                <a:latin typeface="Arial"/>
                <a:ea typeface="Arial"/>
              </a:rPr>
              <a:t>“Teams without evals face weeks of testing while competitors with evals can quickly determine the model's strengths, tune their prompts, and upgrade in days.”</a:t>
            </a:r>
          </a:p>
        </p:txBody>
      </p:sp>
      <p:sp>
        <p:nvSpPr>
          <p:cNvPr id="100045" name="TextBox 17"/>
          <p:cNvSpPr txBox="1"/>
          <p:nvPr/>
        </p:nvSpPr>
        <p:spPr>
          <a:xfrm>
            <a:off x="863600" y="2717800"/>
            <a:ext cx="7112000" cy="228600"/>
          </a:xfrm>
          <a:prstGeom prst="rect">
            <a:avLst/>
          </a:prstGeom>
        </p:spPr>
        <p:txBody>
          <a:bodyPr/>
          <a:lstStyle/>
          <a:p>
            <a:r>
              <a:rPr lang="en-US" sz="950" b="0">
                <a:solidFill>
                  <a:srgbClr val="6B7A99"/>
                </a:solidFill>
                <a:latin typeface="Arial"/>
                <a:ea typeface="Arial"/>
              </a:rPr>
              <a:t>Anthropic Engineering, "Demystifying evals for AI agents"</a:t>
            </a:r>
          </a:p>
        </p:txBody>
      </p:sp>
      <p:sp>
        <p:nvSpPr>
          <p:cNvPr id="100046" name="TextBox 18"/>
          <p:cNvSpPr/>
          <p:nvPr/>
        </p:nvSpPr>
        <p:spPr>
          <a:xfrm>
            <a:off x="8229600" y="1955800"/>
            <a:ext cx="12700" cy="914400"/>
          </a:xfrm>
          <a:prstGeom prst="rect">
            <a:avLst/>
          </a:prstGeom>
          <a:solidFill>
            <a:srgbClr val="333B4A"/>
          </a:solidFill>
        </p:spPr>
        <p:txBody>
          <a:bodyPr/>
          <a:lstStyle/>
          <a:p>
            <a:endParaRPr/>
          </a:p>
        </p:txBody>
      </p:sp>
      <p:sp>
        <p:nvSpPr>
          <p:cNvPr id="100047" name="TextBox 19"/>
          <p:cNvSpPr txBox="1"/>
          <p:nvPr/>
        </p:nvSpPr>
        <p:spPr>
          <a:xfrm>
            <a:off x="8483600" y="1930400"/>
            <a:ext cx="2946400" cy="4572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~2.5 months</a:t>
            </a:r>
          </a:p>
        </p:txBody>
      </p:sp>
      <p:sp>
        <p:nvSpPr>
          <p:cNvPr id="100048" name="TextBox 20"/>
          <p:cNvSpPr txBox="1"/>
          <p:nvPr/>
        </p:nvSpPr>
        <p:spPr>
          <a:xfrm>
            <a:off x="8483600" y="2413000"/>
            <a:ext cx="2946400" cy="558800"/>
          </a:xfrm>
          <a:prstGeom prst="rect">
            <a:avLst/>
          </a:prstGeom>
        </p:spPr>
        <p:txBody>
          <a:bodyPr/>
          <a:lstStyle/>
          <a:p>
            <a:r>
              <a:rPr lang="en-US" sz="1050" b="0">
                <a:solidFill>
                  <a:srgbClr val="A9B8D1"/>
                </a:solidFill>
                <a:latin typeface="Arial"/>
                <a:ea typeface="Arial"/>
              </a:rPr>
              <a:t>Internal example: first agent version to a confident "this works." Target: minutes.</a:t>
            </a:r>
          </a:p>
        </p:txBody>
      </p:sp>
      <p:sp>
        <p:nvSpPr>
          <p:cNvPr id="100049" name="TextBox 21"/>
          <p:cNvSpPr txBox="1"/>
          <p:nvPr/>
        </p:nvSpPr>
        <p:spPr>
          <a:xfrm>
            <a:off x="609600" y="3200400"/>
            <a:ext cx="3810000" cy="2032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WHAT YOU GET</a:t>
            </a:r>
          </a:p>
        </p:txBody>
      </p:sp>
      <p:sp>
        <p:nvSpPr>
          <p:cNvPr id="100050" name="TextBox 22"/>
          <p:cNvSpPr txBox="1"/>
          <p:nvPr/>
        </p:nvSpPr>
        <p:spPr>
          <a:xfrm>
            <a:off x="7874000" y="3200400"/>
            <a:ext cx="3708400" cy="2032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38BDF8"/>
                </a:solidFill>
                <a:latin typeface="Arial"/>
                <a:ea typeface="Arial"/>
              </a:rPr>
              <a:t>COST OF NOT HAVING IT</a:t>
            </a:r>
          </a:p>
        </p:txBody>
      </p:sp>
      <p:sp>
        <p:nvSpPr>
          <p:cNvPr id="100051" name="TextBox 23"/>
          <p:cNvSpPr txBox="1"/>
          <p:nvPr/>
        </p:nvSpPr>
        <p:spPr>
          <a:xfrm>
            <a:off x="7874000" y="3479800"/>
            <a:ext cx="3708400" cy="508000"/>
          </a:xfrm>
          <a:prstGeom prst="rect">
            <a:avLst/>
          </a:prstGeom>
        </p:spPr>
        <p:txBody>
          <a:bodyPr/>
          <a:lstStyle/>
          <a:p>
            <a:r>
              <a:rPr lang="en-US" sz="1250" b="1">
                <a:solidFill>
                  <a:srgbClr val="38BDF8"/>
                </a:solidFill>
                <a:latin typeface="Arial"/>
                <a:ea typeface="Arial"/>
              </a:rPr>
              <a:t>Weeks of testing instead of days</a:t>
            </a:r>
          </a:p>
        </p:txBody>
      </p:sp>
      <p:sp>
        <p:nvSpPr>
          <p:cNvPr id="100052" name="TextBox 24"/>
          <p:cNvSpPr txBox="1"/>
          <p:nvPr/>
        </p:nvSpPr>
        <p:spPr>
          <a:xfrm>
            <a:off x="7874000" y="4089400"/>
            <a:ext cx="3708400" cy="508000"/>
          </a:xfrm>
          <a:prstGeom prst="rect">
            <a:avLst/>
          </a:prstGeom>
        </p:spPr>
        <p:txBody>
          <a:bodyPr/>
          <a:lstStyle/>
          <a:p>
            <a:r>
              <a:rPr lang="en-US" sz="1250" b="1">
                <a:solidFill>
                  <a:srgbClr val="38BDF8"/>
                </a:solidFill>
                <a:latin typeface="Arial"/>
                <a:ea typeface="Arial"/>
              </a:rPr>
              <a:t>~2.3 AI-driven errors/qtr at $50K-$2.1M each</a:t>
            </a:r>
          </a:p>
        </p:txBody>
      </p:sp>
      <p:sp>
        <p:nvSpPr>
          <p:cNvPr id="100053" name="TextBox 25"/>
          <p:cNvSpPr txBox="1"/>
          <p:nvPr/>
        </p:nvSpPr>
        <p:spPr>
          <a:xfrm>
            <a:off x="7874000" y="4699000"/>
            <a:ext cx="3708400" cy="508000"/>
          </a:xfrm>
          <a:prstGeom prst="rect">
            <a:avLst/>
          </a:prstGeom>
        </p:spPr>
        <p:txBody>
          <a:bodyPr/>
          <a:lstStyle/>
          <a:p>
            <a:r>
              <a:rPr lang="en-US" sz="1250" b="1" dirty="0">
                <a:solidFill>
                  <a:srgbClr val="38BDF8"/>
                </a:solidFill>
                <a:latin typeface="Arial"/>
                <a:ea typeface="Arial"/>
              </a:rPr>
              <a:t>Engineering hours per issue</a:t>
            </a:r>
          </a:p>
        </p:txBody>
      </p:sp>
      <p:sp>
        <p:nvSpPr>
          <p:cNvPr id="100054" name="TextBox 26"/>
          <p:cNvSpPr txBox="1"/>
          <p:nvPr/>
        </p:nvSpPr>
        <p:spPr>
          <a:xfrm>
            <a:off x="7874000" y="5308600"/>
            <a:ext cx="3708400" cy="508000"/>
          </a:xfrm>
          <a:prstGeom prst="rect">
            <a:avLst/>
          </a:prstGeom>
        </p:spPr>
        <p:txBody>
          <a:bodyPr/>
          <a:lstStyle/>
          <a:p>
            <a:r>
              <a:rPr lang="en-US" sz="1250" b="1" dirty="0">
                <a:solidFill>
                  <a:srgbClr val="38BDF8"/>
                </a:solidFill>
                <a:latin typeface="Arial"/>
                <a:ea typeface="Arial"/>
              </a:rPr>
              <a:t>Cost to hire or build eval expertise</a:t>
            </a:r>
          </a:p>
        </p:txBody>
      </p:sp>
    </p:spTree>
    <p:extLst>
      <p:ext uri="{BB962C8B-B14F-4D97-AF65-F5344CB8AC3E}">
        <p14:creationId xmlns:p14="http://schemas.microsoft.com/office/powerpoint/2010/main" val="307928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40" y="-766800"/>
            <a:ext cx="9885719" cy="91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AEE0D-D6AD-7E96-E515-5DFDEEB93875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ROI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CAFFC-5103-A15A-E05C-88A73358763E}"/>
              </a:ext>
            </a:extLst>
          </p:cNvPr>
          <p:cNvSpPr txBox="1"/>
          <p:nvPr/>
        </p:nvSpPr>
        <p:spPr>
          <a:xfrm>
            <a:off x="609600" y="762000"/>
            <a:ext cx="10160000" cy="523220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Four ROI Metrics We Can Measure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9D89-849F-1283-E307-E249C074BE48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r>
              <a:rPr lang="en-US" sz="1400" i="1" dirty="0">
                <a:solidFill>
                  <a:srgbClr val="C7D2E3"/>
                </a:solidFill>
              </a:rPr>
              <a:t>Computed from existing telemetry - no pilot required.</a:t>
            </a:r>
          </a:p>
        </p:txBody>
      </p:sp>
      <p:sp>
        <p:nvSpPr>
          <p:cNvPr id="5" name="Shape_53">
            <a:extLst>
              <a:ext uri="{FF2B5EF4-FFF2-40B4-BE49-F238E27FC236}">
                <a16:creationId xmlns:a16="http://schemas.microsoft.com/office/drawing/2014/main" id="{A93A7C90-3CA4-1529-7BA8-DA939799F26B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3293E-1E61-05D3-67D6-7B02DA51646D}"/>
              </a:ext>
            </a:extLst>
          </p:cNvPr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  <a:ln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000" y="413549"/>
            <a:ext cx="2600000" cy="216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AgentScore Business Case</a:t>
            </a:r>
          </a:p>
        </p:txBody>
      </p:sp>
      <p:sp>
        <p:nvSpPr>
          <p:cNvPr id="100000" name="TextBox 9"/>
          <p:cNvSpPr/>
          <p:nvPr/>
        </p:nvSpPr>
        <p:spPr>
          <a:xfrm>
            <a:off x="609600" y="1676400"/>
            <a:ext cx="5384800" cy="21336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00001" name="TextBox 10"/>
          <p:cNvSpPr/>
          <p:nvPr/>
        </p:nvSpPr>
        <p:spPr>
          <a:xfrm>
            <a:off x="6197600" y="1676400"/>
            <a:ext cx="5384800" cy="21336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00002" name="TextBox 11"/>
          <p:cNvSpPr/>
          <p:nvPr/>
        </p:nvSpPr>
        <p:spPr>
          <a:xfrm>
            <a:off x="609600" y="4013200"/>
            <a:ext cx="5384800" cy="21336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03" name="TextBox 12"/>
          <p:cNvSpPr/>
          <p:nvPr/>
        </p:nvSpPr>
        <p:spPr>
          <a:xfrm>
            <a:off x="6197600" y="4013200"/>
            <a:ext cx="5384800" cy="21336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04" name="TextBox 13"/>
          <p:cNvSpPr txBox="1"/>
          <p:nvPr/>
        </p:nvSpPr>
        <p:spPr>
          <a:xfrm>
            <a:off x="812800" y="18288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1. Time to Production Readiness</a:t>
            </a:r>
          </a:p>
        </p:txBody>
      </p:sp>
      <p:sp>
        <p:nvSpPr>
          <p:cNvPr id="100005" name="TextBox 14"/>
          <p:cNvSpPr txBox="1"/>
          <p:nvPr/>
        </p:nvSpPr>
        <p:spPr>
          <a:xfrm>
            <a:off x="812800" y="22352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MEASURING:</a:t>
            </a:r>
            <a:r>
              <a:rPr lang="en-US" sz="1200" dirty="0">
                <a:solidFill>
                  <a:srgbClr val="A9B8D1"/>
                </a:solidFill>
              </a:rPr>
              <a:t> First agent trace to first ship verdict.</a:t>
            </a:r>
          </a:p>
        </p:txBody>
      </p:sp>
      <p:sp>
        <p:nvSpPr>
          <p:cNvPr id="100006" name="TextBox 15"/>
          <p:cNvSpPr txBox="1"/>
          <p:nvPr/>
        </p:nvSpPr>
        <p:spPr>
          <a:xfrm>
            <a:off x="812800" y="25908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ESTIMATE:</a:t>
            </a:r>
            <a:r>
              <a:rPr lang="en-US" sz="1200" dirty="0">
                <a:solidFill>
                  <a:srgbClr val="A9B8D1"/>
                </a:solidFill>
              </a:rPr>
              <a:t> ~2.5 months today (internal example). Target: minutes.</a:t>
            </a:r>
          </a:p>
        </p:txBody>
      </p:sp>
      <p:sp>
        <p:nvSpPr>
          <p:cNvPr id="100007" name="TextBox 16"/>
          <p:cNvSpPr txBox="1"/>
          <p:nvPr/>
        </p:nvSpPr>
        <p:spPr>
          <a:xfrm>
            <a:off x="812800" y="29464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IMPROVES VIA:</a:t>
            </a:r>
            <a:r>
              <a:rPr lang="en-US" sz="1200" dirty="0">
                <a:solidFill>
                  <a:srgbClr val="A9B8D1"/>
                </a:solidFill>
              </a:rPr>
              <a:t> Know when you're ready, not guess. Teams with evals upgrade in days, not weeks.</a:t>
            </a:r>
          </a:p>
        </p:txBody>
      </p:sp>
      <p:sp>
        <p:nvSpPr>
          <p:cNvPr id="100008" name="TextBox 17"/>
          <p:cNvSpPr txBox="1"/>
          <p:nvPr/>
        </p:nvSpPr>
        <p:spPr>
          <a:xfrm>
            <a:off x="6400800" y="33020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F2994A"/>
                </a:solidFill>
              </a:rPr>
              <a:t>COST AVOIDED:</a:t>
            </a:r>
            <a:r>
              <a:rPr lang="en-US" sz="1200" dirty="0">
                <a:solidFill>
                  <a:srgbClr val="A9B8D1"/>
                </a:solidFill>
              </a:rPr>
              <a:t> 2.3 AI-driven errors/qtr, $50K-$2.1M each.</a:t>
            </a:r>
          </a:p>
        </p:txBody>
      </p:sp>
      <p:sp>
        <p:nvSpPr>
          <p:cNvPr id="100009" name="TextBox 18"/>
          <p:cNvSpPr txBox="1"/>
          <p:nvPr/>
        </p:nvSpPr>
        <p:spPr>
          <a:xfrm>
            <a:off x="6400800" y="18288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300" b="1" dirty="0">
                <a:solidFill>
                  <a:srgbClr val="FFFFFF"/>
                </a:solidFill>
              </a:rPr>
              <a:t>2. Fewer Incidents</a:t>
            </a:r>
          </a:p>
        </p:txBody>
      </p:sp>
      <p:sp>
        <p:nvSpPr>
          <p:cNvPr id="100010" name="TextBox 19"/>
          <p:cNvSpPr txBox="1"/>
          <p:nvPr/>
        </p:nvSpPr>
        <p:spPr>
          <a:xfrm>
            <a:off x="6400800" y="22352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MEASURING:</a:t>
            </a:r>
            <a:r>
              <a:rPr lang="en-US" sz="1200" dirty="0">
                <a:solidFill>
                  <a:srgbClr val="A9B8D1"/>
                </a:solidFill>
              </a:rPr>
              <a:t> Pre-production verdicts flagged, per agent.</a:t>
            </a:r>
          </a:p>
        </p:txBody>
      </p:sp>
      <p:sp>
        <p:nvSpPr>
          <p:cNvPr id="100011" name="TextBox 20"/>
          <p:cNvSpPr txBox="1"/>
          <p:nvPr/>
        </p:nvSpPr>
        <p:spPr>
          <a:xfrm>
            <a:off x="6400800" y="25908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ESTIMATE:</a:t>
            </a:r>
            <a:r>
              <a:rPr lang="en-US" sz="1200" dirty="0">
                <a:solidFill>
                  <a:srgbClr val="A9B8D1"/>
                </a:solidFill>
              </a:rPr>
              <a:t> ??? per agent - baseline needs a telemetry pull.</a:t>
            </a:r>
          </a:p>
        </p:txBody>
      </p:sp>
      <p:sp>
        <p:nvSpPr>
          <p:cNvPr id="100012" name="TextBox 21"/>
          <p:cNvSpPr txBox="1"/>
          <p:nvPr/>
        </p:nvSpPr>
        <p:spPr>
          <a:xfrm>
            <a:off x="6400800" y="29464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IMPROVES VIA:</a:t>
            </a:r>
            <a:r>
              <a:rPr lang="en-US" sz="1200" dirty="0">
                <a:solidFill>
                  <a:srgbClr val="A9B8D1"/>
                </a:solidFill>
              </a:rPr>
              <a:t> Visibility that's ~0 today without it.</a:t>
            </a:r>
          </a:p>
        </p:txBody>
      </p:sp>
      <p:sp>
        <p:nvSpPr>
          <p:cNvPr id="100013" name="TextBox 22"/>
          <p:cNvSpPr txBox="1"/>
          <p:nvPr/>
        </p:nvSpPr>
        <p:spPr>
          <a:xfrm>
            <a:off x="812800" y="41656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3. Dollar-Justified Budget Line</a:t>
            </a:r>
          </a:p>
        </p:txBody>
      </p:sp>
      <p:sp>
        <p:nvSpPr>
          <p:cNvPr id="100014" name="TextBox 23"/>
          <p:cNvSpPr txBox="1"/>
          <p:nvPr/>
        </p:nvSpPr>
        <p:spPr>
          <a:xfrm>
            <a:off x="812800" y="45720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MEASURING:</a:t>
            </a:r>
            <a:r>
              <a:rPr lang="en-US" sz="1200" dirty="0">
                <a:solidFill>
                  <a:srgbClr val="A9B8D1"/>
                </a:solidFill>
              </a:rPr>
              <a:t> Estimated incident cost avoided vs. subscription price.</a:t>
            </a:r>
          </a:p>
        </p:txBody>
      </p:sp>
      <p:sp>
        <p:nvSpPr>
          <p:cNvPr id="100015" name="TextBox 24"/>
          <p:cNvSpPr txBox="1"/>
          <p:nvPr/>
        </p:nvSpPr>
        <p:spPr>
          <a:xfrm>
            <a:off x="812800" y="50546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ESTIMATE:</a:t>
            </a:r>
            <a:r>
              <a:rPr lang="en-US" sz="1200" dirty="0">
                <a:solidFill>
                  <a:srgbClr val="A9B8D1"/>
                </a:solidFill>
              </a:rPr>
              <a:t> Directional until incident-cost estimates are validated with a customer.</a:t>
            </a:r>
          </a:p>
        </p:txBody>
      </p:sp>
      <p:sp>
        <p:nvSpPr>
          <p:cNvPr id="100016" name="TextBox 25"/>
          <p:cNvSpPr txBox="1"/>
          <p:nvPr/>
        </p:nvSpPr>
        <p:spPr>
          <a:xfrm>
            <a:off x="812800" y="55372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IMPROVES VIA:</a:t>
            </a:r>
            <a:r>
              <a:rPr lang="en-US" sz="1200" dirty="0">
                <a:solidFill>
                  <a:srgbClr val="A9B8D1"/>
                </a:solidFill>
              </a:rPr>
              <a:t> Turns "we flagged 40 issues" into "we avoided an estimated $2M." The number that justifies the budget line.</a:t>
            </a:r>
          </a:p>
        </p:txBody>
      </p:sp>
      <p:sp>
        <p:nvSpPr>
          <p:cNvPr id="100017" name="TextBox 26"/>
          <p:cNvSpPr txBox="1"/>
          <p:nvPr/>
        </p:nvSpPr>
        <p:spPr>
          <a:xfrm>
            <a:off x="6400800" y="4165600"/>
            <a:ext cx="4978400" cy="3048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4. Less Engineering Time</a:t>
            </a:r>
          </a:p>
        </p:txBody>
      </p:sp>
      <p:sp>
        <p:nvSpPr>
          <p:cNvPr id="100018" name="TextBox 27"/>
          <p:cNvSpPr txBox="1"/>
          <p:nvPr/>
        </p:nvSpPr>
        <p:spPr>
          <a:xfrm>
            <a:off x="6400800" y="45720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MEASURING:</a:t>
            </a:r>
            <a:r>
              <a:rPr lang="en-US" sz="1200" dirty="0">
                <a:solidFill>
                  <a:srgbClr val="A9B8D1"/>
                </a:solidFill>
              </a:rPr>
              <a:t> Root-cause coverage, and evals auto-generated vs. hand-authored.</a:t>
            </a:r>
          </a:p>
        </p:txBody>
      </p:sp>
      <p:sp>
        <p:nvSpPr>
          <p:cNvPr id="100019" name="TextBox 28"/>
          <p:cNvSpPr txBox="1"/>
          <p:nvPr/>
        </p:nvSpPr>
        <p:spPr>
          <a:xfrm>
            <a:off x="6400800" y="50546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ESTIMATE:</a:t>
            </a:r>
            <a:r>
              <a:rPr lang="en-US" sz="1200" dirty="0">
                <a:solidFill>
                  <a:srgbClr val="A9B8D1"/>
                </a:solidFill>
              </a:rPr>
              <a:t> ??? % of issues with a root cause. ~4.3 hrs/week/employee verifying AI outputs today.</a:t>
            </a:r>
          </a:p>
        </p:txBody>
      </p:sp>
      <p:sp>
        <p:nvSpPr>
          <p:cNvPr id="100020" name="TextBox 29"/>
          <p:cNvSpPr txBox="1"/>
          <p:nvPr/>
        </p:nvSpPr>
        <p:spPr>
          <a:xfrm>
            <a:off x="6400800" y="5537200"/>
            <a:ext cx="4978400" cy="355600"/>
          </a:xfrm>
          <a:prstGeom prst="rect">
            <a:avLst/>
          </a:prstGeom>
        </p:spPr>
        <p:txBody>
          <a:bodyPr/>
          <a:lstStyle/>
          <a:p>
            <a:r>
              <a:rPr lang="en-US" sz="1200" b="1" dirty="0">
                <a:solidFill>
                  <a:srgbClr val="38BDF8"/>
                </a:solidFill>
              </a:rPr>
              <a:t>IMPROVES VIA:</a:t>
            </a:r>
            <a:r>
              <a:rPr lang="en-US" sz="1200" dirty="0">
                <a:solidFill>
                  <a:srgbClr val="A9B8D1"/>
                </a:solidFill>
              </a:rPr>
              <a:t> Root cause and evals are automatic. Answers "why not build it ourselves."</a:t>
            </a:r>
          </a:p>
        </p:txBody>
      </p:sp>
    </p:spTree>
    <p:extLst>
      <p:ext uri="{BB962C8B-B14F-4D97-AF65-F5344CB8AC3E}">
        <p14:creationId xmlns:p14="http://schemas.microsoft.com/office/powerpoint/2010/main" val="90866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1E3B"/>
      </a:lt1>
      <a:dk2>
        <a:srgbClr val="C7D2E3"/>
      </a:dk2>
      <a:lt2>
        <a:srgbClr val="16294C"/>
      </a:lt2>
      <a:accent1>
        <a:srgbClr val="F2994A"/>
      </a:accent1>
      <a:accent2>
        <a:srgbClr val="38BDF8"/>
      </a:accent2>
      <a:accent3>
        <a:srgbClr val="E85B5B"/>
      </a:accent3>
      <a:accent4>
        <a:srgbClr val="4ADE80"/>
      </a:accent4>
      <a:accent5>
        <a:srgbClr val="A78BFA"/>
      </a:accent5>
      <a:accent6>
        <a:srgbClr val="94A3B8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4723</TotalTime>
  <Words>2138</Words>
  <Application>Microsoft Macintosh PowerPoint</Application>
  <PresentationFormat>Widescreen</PresentationFormat>
  <Paragraphs>185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Demers</dc:creator>
  <cp:lastModifiedBy>Andrew Demers</cp:lastModifiedBy>
  <cp:revision>74</cp:revision>
  <dcterms:created xsi:type="dcterms:W3CDTF">2026-09-22T20:53:22Z</dcterms:created>
  <dcterms:modified xsi:type="dcterms:W3CDTF">2026-10-01T20:23:33Z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1.0.153</vt:lpwstr>
  </property>
  <property fmtid="{D5CDD505-2E9C-101B-9397-08002B2CF9AE}" pid="3" name="OfficeCLI.LastModified">
    <vt:lpwstr>2026-10-01T20:17:46Z</vt:lpwstr>
  </property>
</Properties>
</file>