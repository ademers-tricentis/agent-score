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FAE0-F4E0-CEAE-23A0-0D28BB38B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1CCF5-E1BF-C36F-A99E-01EE6A8A2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06FAE-2D8D-6B3C-9674-FA8157B28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D2D0F-4B6C-1F35-3401-B82FA3BF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7C6C1-CB75-67F0-4FFD-A3F1202EB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2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23BB-854A-96CB-3D66-0D625A95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7BC4-C8EA-DA3E-B307-AD6CE22D9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D01B-0DA5-F742-26CF-97E0950C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7FC3A-5084-867C-202E-F2074475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80788-E3FD-BDA8-3F03-55A48A2DB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76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B972-6810-58AE-1F77-BDC7208C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C1333-AF2E-C68A-5792-C9696B3D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4B06-9F91-B01C-9770-DD7F2AD99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25FC9-11DA-21DF-F249-61F761D6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AAF2D-AA01-EE25-C798-CD06B327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0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6F36-C318-5984-7209-F6AC6E9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80D6D-6609-9A4A-2DE0-03BCDD2A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F07FC-F5BD-A244-9FFA-DE1D457B6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07EC2-F282-CC55-4219-D00897E73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88BEA-1924-4890-8C12-F2354CCF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DC71F-0805-CBEF-FAC9-91472ADE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4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14D-C7C3-7343-904F-8EC85D2F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4075A-259E-D38E-5A0C-289044DF8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C0B20-3FC3-22CE-9D73-FAB5A22D1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A36C62-C037-0670-1B05-C71BC96D4C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D17E7-7622-8C4B-2DCC-EED76151F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273540-8D11-504E-F815-D3DE32032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7B639-AF11-E877-E751-891242D3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AF645-9489-AF9D-226B-964962C4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CEC7-8A5A-9D03-93FC-9CD9EAA7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4E5FC-6AD1-9423-58F7-BB1A48BC7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137E19-F6E2-42D7-75CA-E3435AC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7DE6D-C513-A2CF-FB4A-D2A39742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37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1A6ACA-6AAA-3D0F-9BC5-BA831C954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82EE78-0F60-EA6F-F1A3-A8873620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AA21-CAB5-E2C0-F217-7B59DE91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5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D55C1-A17E-4F39-9113-7F3B891B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CE697-90AF-B692-CFCE-EF75EE29B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ED8F9-25EB-D3E5-008E-DF551D9FC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52F05-6A15-A549-B10E-D3887A736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58AF6-31CF-EC3C-FBB1-0A06EB27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A935C-6C90-7589-7BF5-E600D9D0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2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A33BD-9B53-1442-3A59-CCB8B79B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5195F-58CB-8F0C-3DF3-8987A8199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F699E-030C-1266-3E60-6EF19EF37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AB5F0-1D00-C64E-A648-B36B4F21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50428-00E6-A309-A181-43D3D4902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58407-DCED-D16C-4051-13006AA6E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10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00DF-CFAA-FFB7-6561-F14F361C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A3629-1925-6F83-BB05-7AF09FE23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3592D-D6B1-6A5A-1FED-6EABE219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50C7-FC53-CC4D-EA56-970893AC6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67D38-4B6A-37AC-7CB8-4985D9D6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71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65176-BB0C-DC8F-AEE8-A3CE0A7A3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79006-8278-4573-F3B2-7C0AF63CF9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84971-5476-3856-53ED-FC36422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51308-D79A-920D-D339-B0C21D94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4555-B321-2D8E-42B5-C6DE07E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3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2D8B37-CF10-112F-9310-5E360FD03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01F68-8441-6CCA-84D3-D8CDAC829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B8BB3-F9E3-BE88-3A0C-8078415E8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77B90-EC0E-BC4E-91B7-09E65585EB38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0B95-2533-D7C5-295E-649A36D61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20D95-C1E7-6C31-D385-146413DD8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264187-CB17-FF45-9F11-E1CC2EC60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9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AA3364-AD53-B420-0BB0-5A2A376D793E}"/>
              </a:ext>
            </a:extLst>
          </p:cNvPr>
          <p:cNvSpPr txBox="1"/>
          <p:nvPr/>
        </p:nvSpPr>
        <p:spPr>
          <a:xfrm>
            <a:off x="609600" y="2235200"/>
            <a:ext cx="109728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600" b="1">
                <a:solidFill>
                  <a:srgbClr val="FFFFFF"/>
                </a:solidFill>
              </a:rPr>
              <a:t>Agent</a:t>
            </a:r>
            <a:r>
              <a:rPr lang="en-US" sz="4600" b="1">
                <a:solidFill>
                  <a:srgbClr val="F2994A"/>
                </a:solidFill>
              </a:rPr>
              <a:t>Score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9102B-51F7-F000-B629-FF9D094982CC}"/>
              </a:ext>
            </a:extLst>
          </p:cNvPr>
          <p:cNvSpPr txBox="1"/>
          <p:nvPr/>
        </p:nvSpPr>
        <p:spPr>
          <a:xfrm>
            <a:off x="609600" y="3251200"/>
            <a:ext cx="10972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Business Case for Tricentis Leadership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14403-6EBF-7240-9744-2DF92AFAAC67}"/>
              </a:ext>
            </a:extLst>
          </p:cNvPr>
          <p:cNvSpPr txBox="1"/>
          <p:nvPr/>
        </p:nvSpPr>
        <p:spPr>
          <a:xfrm>
            <a:off x="609600" y="3784600"/>
            <a:ext cx="109728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500" i="1">
                <a:solidFill>
                  <a:srgbClr val="A9B8D1"/>
                </a:solidFill>
              </a:rPr>
              <a:t>"Point it at a trace, get back a defensible answer."</a:t>
            </a:r>
          </a:p>
        </p:txBody>
      </p:sp>
      <p:sp>
        <p:nvSpPr>
          <p:cNvPr id="5" name="Shape_64">
            <a:extLst>
              <a:ext uri="{FF2B5EF4-FFF2-40B4-BE49-F238E27FC236}">
                <a16:creationId xmlns:a16="http://schemas.microsoft.com/office/drawing/2014/main" id="{87F68C84-58A6-53C7-664F-76E6EA326090}"/>
              </a:ext>
            </a:extLst>
          </p:cNvPr>
          <p:cNvSpPr/>
          <p:nvPr/>
        </p:nvSpPr>
        <p:spPr>
          <a:xfrm>
            <a:off x="5613400" y="44196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D65C83-DB6E-444F-50F0-B9DB31469C33}"/>
              </a:ext>
            </a:extLst>
          </p:cNvPr>
          <p:cNvSpPr txBox="1"/>
          <p:nvPr/>
        </p:nvSpPr>
        <p:spPr>
          <a:xfrm>
            <a:off x="5816600" y="4343400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C7D2E3"/>
                </a:solidFill>
              </a:rPr>
              <a:t>September 2026</a:t>
            </a:r>
          </a:p>
        </p:txBody>
      </p:sp>
      <p:sp>
        <p:nvSpPr>
          <p:cNvPr id="7" name="Shape_65">
            <a:extLst>
              <a:ext uri="{FF2B5EF4-FFF2-40B4-BE49-F238E27FC236}">
                <a16:creationId xmlns:a16="http://schemas.microsoft.com/office/drawing/2014/main" id="{77BF9CDF-F955-584D-CE74-BAD415210309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42FC41-92FD-2E1E-3B7E-7B27F1D4A83C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92F0C-BBB7-4708-653E-18D9C9E2DE06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1 / 9</a:t>
            </a:r>
          </a:p>
        </p:txBody>
      </p:sp>
    </p:spTree>
    <p:extLst>
      <p:ext uri="{BB962C8B-B14F-4D97-AF65-F5344CB8AC3E}">
        <p14:creationId xmlns:p14="http://schemas.microsoft.com/office/powerpoint/2010/main" val="215098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18253-8DD5-9E24-417B-ADA264F429BB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MARKET SIGNAL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21E5F-A444-E5D0-59D3-9C24684F3E18}"/>
              </a:ext>
            </a:extLst>
          </p:cNvPr>
          <p:cNvSpPr txBox="1"/>
          <p:nvPr/>
        </p:nvSpPr>
        <p:spPr>
          <a:xfrm>
            <a:off x="609600" y="762000"/>
            <a:ext cx="889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The Market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8016E-5D71-B230-F3F7-0C6EA71F6CC8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"Agents are being built faster than anyone can validate them."</a:t>
            </a:r>
          </a:p>
        </p:txBody>
      </p:sp>
      <p:sp>
        <p:nvSpPr>
          <p:cNvPr id="5" name="Shape_0">
            <a:extLst>
              <a:ext uri="{FF2B5EF4-FFF2-40B4-BE49-F238E27FC236}">
                <a16:creationId xmlns:a16="http://schemas.microsoft.com/office/drawing/2014/main" id="{5701F67F-C66B-2011-6D60-538665E193A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75AB8-5685-6EEF-5B99-62A1701B14C0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20C49-54F0-7010-92E5-4E6107A6090E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2 / 9</a:t>
            </a:r>
          </a:p>
        </p:txBody>
      </p:sp>
      <p:sp>
        <p:nvSpPr>
          <p:cNvPr id="8" name="Shape_1">
            <a:extLst>
              <a:ext uri="{FF2B5EF4-FFF2-40B4-BE49-F238E27FC236}">
                <a16:creationId xmlns:a16="http://schemas.microsoft.com/office/drawing/2014/main" id="{6B65D0F8-C21B-F6DC-20B4-D471648A96E1}"/>
              </a:ext>
            </a:extLst>
          </p:cNvPr>
          <p:cNvSpPr/>
          <p:nvPr/>
        </p:nvSpPr>
        <p:spPr>
          <a:xfrm>
            <a:off x="6096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602C5-6576-6191-0E48-E8E94AE30600}"/>
              </a:ext>
            </a:extLst>
          </p:cNvPr>
          <p:cNvSpPr txBox="1"/>
          <p:nvPr/>
        </p:nvSpPr>
        <p:spPr>
          <a:xfrm>
            <a:off x="863600" y="21336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5% → 40%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1440B4-2F34-023C-EC5A-B80DDB4A6849}"/>
              </a:ext>
            </a:extLst>
          </p:cNvPr>
          <p:cNvSpPr txBox="1"/>
          <p:nvPr/>
        </p:nvSpPr>
        <p:spPr>
          <a:xfrm>
            <a:off x="863600" y="2641600"/>
            <a:ext cx="1727200" cy="10414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Task-specific agents as share of enterprise apps, 2025 → end of 2026 (Gartner)</a:t>
            </a:r>
          </a:p>
        </p:txBody>
      </p:sp>
      <p:sp>
        <p:nvSpPr>
          <p:cNvPr id="11" name="Shape_2">
            <a:extLst>
              <a:ext uri="{FF2B5EF4-FFF2-40B4-BE49-F238E27FC236}">
                <a16:creationId xmlns:a16="http://schemas.microsoft.com/office/drawing/2014/main" id="{E96ECB6F-B374-D34F-12C2-A91BFF9B1EFC}"/>
              </a:ext>
            </a:extLst>
          </p:cNvPr>
          <p:cNvSpPr/>
          <p:nvPr/>
        </p:nvSpPr>
        <p:spPr>
          <a:xfrm>
            <a:off x="29972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B646B4-DFC0-3C6A-D780-B8806E38CFE9}"/>
              </a:ext>
            </a:extLst>
          </p:cNvPr>
          <p:cNvSpPr txBox="1"/>
          <p:nvPr/>
        </p:nvSpPr>
        <p:spPr>
          <a:xfrm>
            <a:off x="3251200" y="2133600"/>
            <a:ext cx="17272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150,000+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03480A-2643-CCDD-1C90-A13E5975477B}"/>
              </a:ext>
            </a:extLst>
          </p:cNvPr>
          <p:cNvSpPr txBox="1"/>
          <p:nvPr/>
        </p:nvSpPr>
        <p:spPr>
          <a:xfrm>
            <a:off x="3251200" y="2641600"/>
            <a:ext cx="1727200" cy="10414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A9B8D1"/>
                </a:solidFill>
              </a:rPr>
              <a:t>Agents projected across the Fortune 500 within two years — avg. enterprise already runs ~12, +67% projected</a:t>
            </a:r>
          </a:p>
        </p:txBody>
      </p:sp>
      <p:sp>
        <p:nvSpPr>
          <p:cNvPr id="14" name="Shape_3">
            <a:extLst>
              <a:ext uri="{FF2B5EF4-FFF2-40B4-BE49-F238E27FC236}">
                <a16:creationId xmlns:a16="http://schemas.microsoft.com/office/drawing/2014/main" id="{CBB12228-936D-1272-7C7F-1143FEE415F5}"/>
              </a:ext>
            </a:extLst>
          </p:cNvPr>
          <p:cNvSpPr/>
          <p:nvPr/>
        </p:nvSpPr>
        <p:spPr>
          <a:xfrm>
            <a:off x="5384800" y="1905000"/>
            <a:ext cx="2235200" cy="1905000"/>
          </a:xfrm>
          <a:prstGeom prst="roundRect">
            <a:avLst>
              <a:gd name="adj" fmla="val 6667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F76F36-2079-1567-0515-2C5C68E71EFA}"/>
              </a:ext>
            </a:extLst>
          </p:cNvPr>
          <p:cNvSpPr txBox="1"/>
          <p:nvPr/>
        </p:nvSpPr>
        <p:spPr>
          <a:xfrm>
            <a:off x="5638800" y="2133600"/>
            <a:ext cx="1867786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$7.8B → $11.5B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0E2174-7572-8C4D-A0D6-BA527529F7A6}"/>
              </a:ext>
            </a:extLst>
          </p:cNvPr>
          <p:cNvSpPr txBox="1"/>
          <p:nvPr/>
        </p:nvSpPr>
        <p:spPr>
          <a:xfrm>
            <a:off x="5638800" y="2645029"/>
            <a:ext cx="1727200" cy="889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A9B8D1"/>
                </a:solidFill>
              </a:rPr>
              <a:t>AI agent market size, 2025 → 2026 (49.6% CAGR through 2033)</a:t>
            </a:r>
          </a:p>
        </p:txBody>
      </p:sp>
      <p:sp>
        <p:nvSpPr>
          <p:cNvPr id="17" name="Shape_4">
            <a:extLst>
              <a:ext uri="{FF2B5EF4-FFF2-40B4-BE49-F238E27FC236}">
                <a16:creationId xmlns:a16="http://schemas.microsoft.com/office/drawing/2014/main" id="{5EEF0FD7-635A-16C6-2560-E54BB94B0882}"/>
              </a:ext>
            </a:extLst>
          </p:cNvPr>
          <p:cNvSpPr/>
          <p:nvPr/>
        </p:nvSpPr>
        <p:spPr>
          <a:xfrm>
            <a:off x="609600" y="4013200"/>
            <a:ext cx="3454400" cy="1905000"/>
          </a:xfrm>
          <a:prstGeom prst="roundRect">
            <a:avLst>
              <a:gd name="adj" fmla="val 6667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0436A7-8D62-B7DF-329C-6D89B7F62A00}"/>
              </a:ext>
            </a:extLst>
          </p:cNvPr>
          <p:cNvSpPr txBox="1"/>
          <p:nvPr/>
        </p:nvSpPr>
        <p:spPr>
          <a:xfrm>
            <a:off x="863600" y="42418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1 in 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B4D0C-F16D-A510-0D80-88602AA886CD}"/>
              </a:ext>
            </a:extLst>
          </p:cNvPr>
          <p:cNvSpPr txBox="1"/>
          <p:nvPr/>
        </p:nvSpPr>
        <p:spPr>
          <a:xfrm>
            <a:off x="863600" y="4749799"/>
            <a:ext cx="2946400" cy="10414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A9B8D1"/>
                </a:solidFill>
              </a:rPr>
              <a:t>Companies with a mature governance model for autonomous agents — 80% deploy without one</a:t>
            </a:r>
          </a:p>
        </p:txBody>
      </p:sp>
      <p:sp>
        <p:nvSpPr>
          <p:cNvPr id="20" name="Shape_5">
            <a:extLst>
              <a:ext uri="{FF2B5EF4-FFF2-40B4-BE49-F238E27FC236}">
                <a16:creationId xmlns:a16="http://schemas.microsoft.com/office/drawing/2014/main" id="{D3A2535A-591E-7602-BCCF-86557BE471A4}"/>
              </a:ext>
            </a:extLst>
          </p:cNvPr>
          <p:cNvSpPr/>
          <p:nvPr/>
        </p:nvSpPr>
        <p:spPr>
          <a:xfrm>
            <a:off x="4216400" y="4013200"/>
            <a:ext cx="3454400" cy="1905000"/>
          </a:xfrm>
          <a:prstGeom prst="roundRect">
            <a:avLst>
              <a:gd name="adj" fmla="val 6667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5B27AA-C6A9-BE86-C4D1-3A8BCE0FDBA8}"/>
              </a:ext>
            </a:extLst>
          </p:cNvPr>
          <p:cNvSpPr txBox="1"/>
          <p:nvPr/>
        </p:nvSpPr>
        <p:spPr>
          <a:xfrm>
            <a:off x="4470400" y="42418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</a:rPr>
              <a:t>40%+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47DB9C-BCD9-A1B8-6922-4469CFE02EE1}"/>
              </a:ext>
            </a:extLst>
          </p:cNvPr>
          <p:cNvSpPr txBox="1"/>
          <p:nvPr/>
        </p:nvSpPr>
        <p:spPr>
          <a:xfrm>
            <a:off x="4470400" y="4749799"/>
            <a:ext cx="2946400" cy="10414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A9B8D1"/>
                </a:solidFill>
              </a:rPr>
              <a:t>Of agentic AI projects Gartner projects will be canceled by end of 2027 — the exact failure mode AgentScore exists to prevent</a:t>
            </a:r>
          </a:p>
        </p:txBody>
      </p:sp>
      <p:sp>
        <p:nvSpPr>
          <p:cNvPr id="23" name="Shape_6">
            <a:extLst>
              <a:ext uri="{FF2B5EF4-FFF2-40B4-BE49-F238E27FC236}">
                <a16:creationId xmlns:a16="http://schemas.microsoft.com/office/drawing/2014/main" id="{38899A11-88CF-01A0-1E72-A01B0B931009}"/>
              </a:ext>
            </a:extLst>
          </p:cNvPr>
          <p:cNvSpPr/>
          <p:nvPr/>
        </p:nvSpPr>
        <p:spPr>
          <a:xfrm>
            <a:off x="8178800" y="1905000"/>
            <a:ext cx="3403600" cy="4013200"/>
          </a:xfrm>
          <a:prstGeom prst="roundRect">
            <a:avLst>
              <a:gd name="adj" fmla="val 3731"/>
            </a:avLst>
          </a:prstGeom>
          <a:solidFill>
            <a:srgbClr val="1B2E52"/>
          </a:solidFill>
          <a:ln w="12700" cap="flat" cmpd="sng" algn="ctr">
            <a:solidFill>
              <a:srgbClr val="F299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7DA656-EB51-C801-DF73-0E0B9D2794C7}"/>
              </a:ext>
            </a:extLst>
          </p:cNvPr>
          <p:cNvSpPr txBox="1"/>
          <p:nvPr/>
        </p:nvSpPr>
        <p:spPr>
          <a:xfrm>
            <a:off x="8432800" y="2108200"/>
            <a:ext cx="2895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FFFFFF"/>
                </a:solidFill>
              </a:rPr>
              <a:t>Demand Isn't Hypothetical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054D81-E415-4673-2BC4-28F2BC909DBE}"/>
              </a:ext>
            </a:extLst>
          </p:cNvPr>
          <p:cNvSpPr txBox="1"/>
          <p:nvPr/>
        </p:nvSpPr>
        <p:spPr>
          <a:xfrm>
            <a:off x="8432800" y="2489200"/>
            <a:ext cx="28956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50" i="1">
                <a:solidFill>
                  <a:srgbClr val="94A3B8"/>
                </a:solidFill>
              </a:rPr>
              <a:t>Inbound interest, last six weeks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644FEC-F35D-75C2-84F9-9830EAF8B6BF}"/>
              </a:ext>
            </a:extLst>
          </p:cNvPr>
          <p:cNvSpPr txBox="1"/>
          <p:nvPr/>
        </p:nvSpPr>
        <p:spPr>
          <a:xfrm>
            <a:off x="8432800" y="2844800"/>
            <a:ext cx="28956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</a:rPr>
              <a:t>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C99D17-71BD-0CE0-3BC3-1296EDA67F45}"/>
              </a:ext>
            </a:extLst>
          </p:cNvPr>
          <p:cNvSpPr txBox="1"/>
          <p:nvPr/>
        </p:nvSpPr>
        <p:spPr>
          <a:xfrm>
            <a:off x="8432800" y="3189879"/>
            <a:ext cx="2895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Inbound-interested companies</a:t>
            </a:r>
          </a:p>
        </p:txBody>
      </p:sp>
      <p:sp>
        <p:nvSpPr>
          <p:cNvPr id="28" name="Shape_7">
            <a:extLst>
              <a:ext uri="{FF2B5EF4-FFF2-40B4-BE49-F238E27FC236}">
                <a16:creationId xmlns:a16="http://schemas.microsoft.com/office/drawing/2014/main" id="{A9B749E7-D2D3-4272-70FF-1A7AC3DDB5AC}"/>
              </a:ext>
            </a:extLst>
          </p:cNvPr>
          <p:cNvSpPr/>
          <p:nvPr/>
        </p:nvSpPr>
        <p:spPr>
          <a:xfrm>
            <a:off x="8528493" y="3422709"/>
            <a:ext cx="2895600" cy="25400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5DECAE-AD42-24AC-FE04-34B001DB9E3F}"/>
              </a:ext>
            </a:extLst>
          </p:cNvPr>
          <p:cNvSpPr txBox="1"/>
          <p:nvPr/>
        </p:nvSpPr>
        <p:spPr>
          <a:xfrm>
            <a:off x="8432800" y="3886200"/>
            <a:ext cx="28956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b="1" dirty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D884A-A860-B34E-8148-804267585D0A}"/>
              </a:ext>
            </a:extLst>
          </p:cNvPr>
          <p:cNvSpPr txBox="1"/>
          <p:nvPr/>
        </p:nvSpPr>
        <p:spPr>
          <a:xfrm>
            <a:off x="8457757" y="4205045"/>
            <a:ext cx="2895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Scheduled demos</a:t>
            </a:r>
          </a:p>
        </p:txBody>
      </p:sp>
      <p:sp>
        <p:nvSpPr>
          <p:cNvPr id="31" name="Shape_8">
            <a:extLst>
              <a:ext uri="{FF2B5EF4-FFF2-40B4-BE49-F238E27FC236}">
                <a16:creationId xmlns:a16="http://schemas.microsoft.com/office/drawing/2014/main" id="{FD4FAFB0-4002-ED8F-8EA4-D5E289CEAC7E}"/>
              </a:ext>
            </a:extLst>
          </p:cNvPr>
          <p:cNvSpPr/>
          <p:nvPr/>
        </p:nvSpPr>
        <p:spPr>
          <a:xfrm>
            <a:off x="8528493" y="4470400"/>
            <a:ext cx="749300" cy="25400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C105A7-1FCB-20FA-21F4-AD64E0D72B9A}"/>
              </a:ext>
            </a:extLst>
          </p:cNvPr>
          <p:cNvSpPr txBox="1"/>
          <p:nvPr/>
        </p:nvSpPr>
        <p:spPr>
          <a:xfrm>
            <a:off x="8432800" y="4902200"/>
            <a:ext cx="28956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72BAC9-D7A6-1565-6F9C-C230BA3057CD}"/>
              </a:ext>
            </a:extLst>
          </p:cNvPr>
          <p:cNvSpPr txBox="1"/>
          <p:nvPr/>
        </p:nvSpPr>
        <p:spPr>
          <a:xfrm>
            <a:off x="8432800" y="5235351"/>
            <a:ext cx="28956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dirty="0">
                <a:solidFill>
                  <a:srgbClr val="A9B8D1"/>
                </a:solidFill>
              </a:rPr>
              <a:t>Pending beta — Accenture, on behalf of Meta</a:t>
            </a:r>
          </a:p>
        </p:txBody>
      </p:sp>
      <p:sp>
        <p:nvSpPr>
          <p:cNvPr id="34" name="Shape_9">
            <a:extLst>
              <a:ext uri="{FF2B5EF4-FFF2-40B4-BE49-F238E27FC236}">
                <a16:creationId xmlns:a16="http://schemas.microsoft.com/office/drawing/2014/main" id="{851CB2DB-DCB4-9028-AA75-7ADA326AC284}"/>
              </a:ext>
            </a:extLst>
          </p:cNvPr>
          <p:cNvSpPr/>
          <p:nvPr/>
        </p:nvSpPr>
        <p:spPr>
          <a:xfrm>
            <a:off x="8528493" y="5489351"/>
            <a:ext cx="381000" cy="254000"/>
          </a:xfrm>
          <a:prstGeom prst="roundRect">
            <a:avLst>
              <a:gd name="adj" fmla="val 20000"/>
            </a:avLst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06CFF3-618A-91BA-2589-46F8E32A68B4}"/>
              </a:ext>
            </a:extLst>
          </p:cNvPr>
          <p:cNvSpPr txBox="1"/>
          <p:nvPr/>
        </p:nvSpPr>
        <p:spPr>
          <a:xfrm>
            <a:off x="609600" y="5969000"/>
            <a:ext cx="698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i="1">
                <a:solidFill>
                  <a:srgbClr val="6B7A99"/>
                </a:solidFill>
              </a:rPr>
              <a:t>Sourced from Gartner and Digital Applied.</a:t>
            </a:r>
          </a:p>
        </p:txBody>
      </p:sp>
    </p:spTree>
    <p:extLst>
      <p:ext uri="{BB962C8B-B14F-4D97-AF65-F5344CB8AC3E}">
        <p14:creationId xmlns:p14="http://schemas.microsoft.com/office/powerpoint/2010/main" val="175518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1AB136-EAAD-8A64-7CCF-09209880A2F8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DESK RESEARCH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B9D84-EBC4-ED7B-F471-65EB7C10AC1E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The Category Is Consolidating Fast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A8EDF-09DC-5C90-9730-B8CA670C7095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— and validating our model along the way.</a:t>
            </a:r>
          </a:p>
        </p:txBody>
      </p:sp>
      <p:sp>
        <p:nvSpPr>
          <p:cNvPr id="5" name="Shape_10">
            <a:extLst>
              <a:ext uri="{FF2B5EF4-FFF2-40B4-BE49-F238E27FC236}">
                <a16:creationId xmlns:a16="http://schemas.microsoft.com/office/drawing/2014/main" id="{1195D204-F905-6768-2B03-6E8C1D0ADD58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BDCE5-DCBC-5416-305E-6CE953CBAA0B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095A-7E68-4F88-2DAF-485DCA714320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3 / 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4B17B-208B-7E60-E2D9-C160319B8CB0}"/>
              </a:ext>
            </a:extLst>
          </p:cNvPr>
          <p:cNvSpPr txBox="1"/>
          <p:nvPr/>
        </p:nvSpPr>
        <p:spPr>
          <a:xfrm>
            <a:off x="609600" y="21590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Braintrust</a:t>
            </a:r>
          </a:p>
        </p:txBody>
      </p:sp>
      <p:sp>
        <p:nvSpPr>
          <p:cNvPr id="10" name="Shape_11">
            <a:extLst>
              <a:ext uri="{FF2B5EF4-FFF2-40B4-BE49-F238E27FC236}">
                <a16:creationId xmlns:a16="http://schemas.microsoft.com/office/drawing/2014/main" id="{55653520-C13F-0853-FA83-C43EC9507950}"/>
              </a:ext>
            </a:extLst>
          </p:cNvPr>
          <p:cNvSpPr/>
          <p:nvPr/>
        </p:nvSpPr>
        <p:spPr>
          <a:xfrm>
            <a:off x="2133600" y="2166898"/>
            <a:ext cx="4622800" cy="279400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29432-67E5-A282-F24D-F3DD826FDDDB}"/>
              </a:ext>
            </a:extLst>
          </p:cNvPr>
          <p:cNvSpPr txBox="1"/>
          <p:nvPr/>
        </p:nvSpPr>
        <p:spPr>
          <a:xfrm>
            <a:off x="6756400" y="2186345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$116M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62B50-DDBC-D60D-50DF-541F0F84A2D3}"/>
              </a:ext>
            </a:extLst>
          </p:cNvPr>
          <p:cNvSpPr txBox="1"/>
          <p:nvPr/>
        </p:nvSpPr>
        <p:spPr>
          <a:xfrm>
            <a:off x="609600" y="27940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Galileo</a:t>
            </a:r>
          </a:p>
        </p:txBody>
      </p:sp>
      <p:sp>
        <p:nvSpPr>
          <p:cNvPr id="13" name="Shape_12">
            <a:extLst>
              <a:ext uri="{FF2B5EF4-FFF2-40B4-BE49-F238E27FC236}">
                <a16:creationId xmlns:a16="http://schemas.microsoft.com/office/drawing/2014/main" id="{D363227C-D728-1D8E-0E4C-48D824D442D4}"/>
              </a:ext>
            </a:extLst>
          </p:cNvPr>
          <p:cNvSpPr/>
          <p:nvPr/>
        </p:nvSpPr>
        <p:spPr>
          <a:xfrm>
            <a:off x="2133600" y="2823205"/>
            <a:ext cx="27051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31457-4DF4-7FCD-FDD6-3A78E2DEC06E}"/>
              </a:ext>
            </a:extLst>
          </p:cNvPr>
          <p:cNvSpPr txBox="1"/>
          <p:nvPr/>
        </p:nvSpPr>
        <p:spPr>
          <a:xfrm>
            <a:off x="4851400" y="2833032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$68M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C0367-6AED-8198-0D34-59F48968A4AF}"/>
              </a:ext>
            </a:extLst>
          </p:cNvPr>
          <p:cNvSpPr txBox="1"/>
          <p:nvPr/>
        </p:nvSpPr>
        <p:spPr>
          <a:xfrm>
            <a:off x="609600" y="34290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Langfuse</a:t>
            </a:r>
          </a:p>
        </p:txBody>
      </p:sp>
      <p:sp>
        <p:nvSpPr>
          <p:cNvPr id="16" name="Shape_13">
            <a:extLst>
              <a:ext uri="{FF2B5EF4-FFF2-40B4-BE49-F238E27FC236}">
                <a16:creationId xmlns:a16="http://schemas.microsoft.com/office/drawing/2014/main" id="{A4D81BED-7005-B6B4-E0E7-51813A7934F7}"/>
              </a:ext>
            </a:extLst>
          </p:cNvPr>
          <p:cNvSpPr/>
          <p:nvPr/>
        </p:nvSpPr>
        <p:spPr>
          <a:xfrm>
            <a:off x="2133600" y="3458205"/>
            <a:ext cx="381000" cy="279400"/>
          </a:xfrm>
          <a:prstGeom prst="roundRect">
            <a:avLst>
              <a:gd name="adj" fmla="val 18182"/>
            </a:avLst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0939E-01B7-3DA4-4B32-9947A88B73C8}"/>
              </a:ext>
            </a:extLst>
          </p:cNvPr>
          <p:cNvSpPr txBox="1"/>
          <p:nvPr/>
        </p:nvSpPr>
        <p:spPr>
          <a:xfrm>
            <a:off x="2540000" y="3467874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$4.5M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E54762-A19D-2CAF-7C64-7267119DD211}"/>
              </a:ext>
            </a:extLst>
          </p:cNvPr>
          <p:cNvSpPr txBox="1"/>
          <p:nvPr/>
        </p:nvSpPr>
        <p:spPr>
          <a:xfrm>
            <a:off x="609600" y="4064000"/>
            <a:ext cx="152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Patronus AI</a:t>
            </a:r>
          </a:p>
        </p:txBody>
      </p:sp>
      <p:sp>
        <p:nvSpPr>
          <p:cNvPr id="19" name="Shape_14">
            <a:extLst>
              <a:ext uri="{FF2B5EF4-FFF2-40B4-BE49-F238E27FC236}">
                <a16:creationId xmlns:a16="http://schemas.microsoft.com/office/drawing/2014/main" id="{B01F14C0-F384-3CE5-0D50-8BCF761FAA83}"/>
              </a:ext>
            </a:extLst>
          </p:cNvPr>
          <p:cNvSpPr/>
          <p:nvPr/>
        </p:nvSpPr>
        <p:spPr>
          <a:xfrm>
            <a:off x="2133600" y="4102874"/>
            <a:ext cx="2794000" cy="279400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7C3CA1-C1FE-86F6-58F4-647C1583BBA4}"/>
              </a:ext>
            </a:extLst>
          </p:cNvPr>
          <p:cNvSpPr txBox="1"/>
          <p:nvPr/>
        </p:nvSpPr>
        <p:spPr>
          <a:xfrm>
            <a:off x="5016500" y="4114017"/>
            <a:ext cx="1143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FFFFFF"/>
                </a:solidFill>
              </a:rPr>
              <a:t>$70M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591121-EF3E-ED95-D2CE-4262B8C6338A}"/>
              </a:ext>
            </a:extLst>
          </p:cNvPr>
          <p:cNvSpPr txBox="1"/>
          <p:nvPr/>
        </p:nvSpPr>
        <p:spPr>
          <a:xfrm>
            <a:off x="609600" y="4953000"/>
            <a:ext cx="65024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A9B8D1"/>
                </a:solidFill>
              </a:rPr>
              <a:t>Galileo → acquired by Cisco, folded into Splunk Observability (May 2026). Langfuse → acquired by ClickHouse (Jan 2026).</a:t>
            </a:r>
          </a:p>
        </p:txBody>
      </p:sp>
      <p:sp>
        <p:nvSpPr>
          <p:cNvPr id="22" name="Shape_15">
            <a:extLst>
              <a:ext uri="{FF2B5EF4-FFF2-40B4-BE49-F238E27FC236}">
                <a16:creationId xmlns:a16="http://schemas.microsoft.com/office/drawing/2014/main" id="{7C84584C-DD68-5D30-F08A-7F370C54156D}"/>
              </a:ext>
            </a:extLst>
          </p:cNvPr>
          <p:cNvSpPr/>
          <p:nvPr/>
        </p:nvSpPr>
        <p:spPr>
          <a:xfrm>
            <a:off x="609600" y="5588000"/>
            <a:ext cx="6502400" cy="698500"/>
          </a:xfrm>
          <a:prstGeom prst="roundRect">
            <a:avLst>
              <a:gd name="adj" fmla="val 14545"/>
            </a:avLst>
          </a:prstGeom>
          <a:solidFill>
            <a:srgbClr val="16294C"/>
          </a:solidFill>
          <a:ln w="12700" cap="flat" cmpd="sng" algn="ctr">
            <a:solidFill>
              <a:srgbClr val="F299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271DF1-6FA7-8A04-455B-B2DDF7808880}"/>
              </a:ext>
            </a:extLst>
          </p:cNvPr>
          <p:cNvSpPr txBox="1"/>
          <p:nvPr/>
        </p:nvSpPr>
        <p:spPr>
          <a:xfrm>
            <a:off x="838200" y="5689600"/>
            <a:ext cx="6045200" cy="44627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Combined: ~$258.5M raised across these four — two already acquired (prices undisclosed).</a:t>
            </a:r>
          </a:p>
        </p:txBody>
      </p:sp>
      <p:sp>
        <p:nvSpPr>
          <p:cNvPr id="24" name="Shape_16">
            <a:extLst>
              <a:ext uri="{FF2B5EF4-FFF2-40B4-BE49-F238E27FC236}">
                <a16:creationId xmlns:a16="http://schemas.microsoft.com/office/drawing/2014/main" id="{42150BED-6790-CD59-C8AD-845D4DE3CBA0}"/>
              </a:ext>
            </a:extLst>
          </p:cNvPr>
          <p:cNvSpPr/>
          <p:nvPr/>
        </p:nvSpPr>
        <p:spPr>
          <a:xfrm>
            <a:off x="7518400" y="1905000"/>
            <a:ext cx="4064000" cy="4013200"/>
          </a:xfrm>
          <a:prstGeom prst="roundRect">
            <a:avLst>
              <a:gd name="adj" fmla="val 3165"/>
            </a:avLst>
          </a:prstGeom>
          <a:solidFill>
            <a:srgbClr val="1B2E52"/>
          </a:solidFill>
          <a:ln w="12700" cap="flat" cmpd="sng" algn="ctr">
            <a:solidFill>
              <a:srgbClr val="F299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F2ACC9-AB66-E116-1200-921E0F40036F}"/>
              </a:ext>
            </a:extLst>
          </p:cNvPr>
          <p:cNvSpPr txBox="1"/>
          <p:nvPr/>
        </p:nvSpPr>
        <p:spPr>
          <a:xfrm>
            <a:off x="7823200" y="21844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WHAT THIS VALIDATES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9AECB-7447-FC1C-2A21-1C16B25373EC}"/>
              </a:ext>
            </a:extLst>
          </p:cNvPr>
          <p:cNvSpPr txBox="1"/>
          <p:nvPr/>
        </p:nvSpPr>
        <p:spPr>
          <a:xfrm>
            <a:off x="7823200" y="2565400"/>
            <a:ext cx="34544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 dirty="0">
                <a:solidFill>
                  <a:srgbClr val="E5EAF3"/>
                </a:solidFill>
              </a:rPr>
              <a:t>Every eval-first competitor (Braintrust, </a:t>
            </a:r>
            <a:r>
              <a:rPr lang="en-US" sz="1150" dirty="0" err="1">
                <a:solidFill>
                  <a:srgbClr val="E5EAF3"/>
                </a:solidFill>
              </a:rPr>
              <a:t>PromptLayer</a:t>
            </a:r>
            <a:r>
              <a:rPr lang="en-US" sz="1150" dirty="0">
                <a:solidFill>
                  <a:srgbClr val="E5EAF3"/>
                </a:solidFill>
              </a:rPr>
              <a:t>, </a:t>
            </a:r>
            <a:r>
              <a:rPr lang="en-US" sz="1150" dirty="0" err="1">
                <a:solidFill>
                  <a:srgbClr val="E5EAF3"/>
                </a:solidFill>
              </a:rPr>
              <a:t>Humanloop</a:t>
            </a:r>
            <a:r>
              <a:rPr lang="en-US" sz="1150" dirty="0">
                <a:solidFill>
                  <a:srgbClr val="E5EAF3"/>
                </a:solidFill>
              </a:rPr>
              <a:t>, Patronus) already meters “scoring/eval runs” as a distinct, premium-priced line, separate from ingestion.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8BA13F-675C-F4B9-C9F1-DD1BE50E1945}"/>
              </a:ext>
            </a:extLst>
          </p:cNvPr>
          <p:cNvSpPr txBox="1"/>
          <p:nvPr/>
        </p:nvSpPr>
        <p:spPr>
          <a:xfrm>
            <a:off x="7823200" y="3810000"/>
            <a:ext cx="3454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</a:rPr>
              <a:t>Validates our own billing direction.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85B935-8E14-3ED6-F9CB-DDB0627A8E2B}"/>
              </a:ext>
            </a:extLst>
          </p:cNvPr>
          <p:cNvSpPr txBox="1"/>
          <p:nvPr/>
        </p:nvSpPr>
        <p:spPr>
          <a:xfrm>
            <a:off x="7823200" y="4267200"/>
            <a:ext cx="34544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E5EAF3"/>
                </a:solidFill>
              </a:rPr>
              <a:t>No competitor leads with zero-setup automatic grading straight from an OTel trace.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DBC6E6-4231-4F36-4DD5-379571435D6F}"/>
              </a:ext>
            </a:extLst>
          </p:cNvPr>
          <p:cNvSpPr txBox="1"/>
          <p:nvPr/>
        </p:nvSpPr>
        <p:spPr>
          <a:xfrm>
            <a:off x="7823200" y="5130800"/>
            <a:ext cx="3454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>
                <a:solidFill>
                  <a:srgbClr val="FFFFFF"/>
                </a:solidFill>
              </a:rPr>
              <a:t>Our clearest structural differentiator today.</a:t>
            </a:r>
          </a:p>
        </p:txBody>
      </p:sp>
      <p:sp>
        <p:nvSpPr>
          <p:cNvPr id="31" name="Shape_66">
            <a:extLst>
              <a:ext uri="{FF2B5EF4-FFF2-40B4-BE49-F238E27FC236}">
                <a16:creationId xmlns:a16="http://schemas.microsoft.com/office/drawing/2014/main" id="{ABEFA6F4-76E8-199B-C172-9C6014760747}"/>
              </a:ext>
            </a:extLst>
          </p:cNvPr>
          <p:cNvSpPr/>
          <p:nvPr/>
        </p:nvSpPr>
        <p:spPr>
          <a:xfrm>
            <a:off x="3506086" y="1944171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97A184-CD93-AF5F-E2B1-24AFE925E714}"/>
              </a:ext>
            </a:extLst>
          </p:cNvPr>
          <p:cNvSpPr txBox="1"/>
          <p:nvPr/>
        </p:nvSpPr>
        <p:spPr>
          <a:xfrm>
            <a:off x="3658486" y="1893371"/>
            <a:ext cx="1143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 dirty="0">
                <a:solidFill>
                  <a:srgbClr val="C7D2E3"/>
                </a:solidFill>
              </a:rPr>
              <a:t>Independent</a:t>
            </a:r>
          </a:p>
        </p:txBody>
      </p:sp>
      <p:sp>
        <p:nvSpPr>
          <p:cNvPr id="33" name="Shape_67">
            <a:extLst>
              <a:ext uri="{FF2B5EF4-FFF2-40B4-BE49-F238E27FC236}">
                <a16:creationId xmlns:a16="http://schemas.microsoft.com/office/drawing/2014/main" id="{E0B41791-EFD2-F321-65A8-E0A0DB63E122}"/>
              </a:ext>
            </a:extLst>
          </p:cNvPr>
          <p:cNvSpPr/>
          <p:nvPr/>
        </p:nvSpPr>
        <p:spPr>
          <a:xfrm>
            <a:off x="4877686" y="1944171"/>
            <a:ext cx="101600" cy="101600"/>
          </a:xfrm>
          <a:prstGeom prst="ellipse">
            <a:avLst/>
          </a:prstGeom>
          <a:solidFill>
            <a:srgbClr val="E85B5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13E71-95A4-FE2D-892A-E2D4FD17A9D8}"/>
              </a:ext>
            </a:extLst>
          </p:cNvPr>
          <p:cNvSpPr txBox="1"/>
          <p:nvPr/>
        </p:nvSpPr>
        <p:spPr>
          <a:xfrm>
            <a:off x="5030086" y="1893371"/>
            <a:ext cx="1016000" cy="25391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50">
                <a:solidFill>
                  <a:srgbClr val="C7D2E3"/>
                </a:solidFill>
              </a:rPr>
              <a:t>Acquired</a:t>
            </a:r>
          </a:p>
        </p:txBody>
      </p:sp>
    </p:spTree>
    <p:extLst>
      <p:ext uri="{BB962C8B-B14F-4D97-AF65-F5344CB8AC3E}">
        <p14:creationId xmlns:p14="http://schemas.microsoft.com/office/powerpoint/2010/main" val="3499447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0A5D1-6372-C78A-098B-1429EFD98F89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WHY TRICENTIS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BD1BE-147D-E212-05E6-54843D94FB8A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Why Tricentis Should Solve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6CFA00-0785-B8F5-C92C-7977CF9C3929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Being right about the market isn't the same as being the right company to act on it — but here we are.</a:t>
            </a:r>
          </a:p>
        </p:txBody>
      </p:sp>
      <p:sp>
        <p:nvSpPr>
          <p:cNvPr id="5" name="Shape_17">
            <a:extLst>
              <a:ext uri="{FF2B5EF4-FFF2-40B4-BE49-F238E27FC236}">
                <a16:creationId xmlns:a16="http://schemas.microsoft.com/office/drawing/2014/main" id="{36CC6BF7-AA94-BB3F-57AA-BAD96BF466A6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9D39E-EB0A-98BC-0FF5-687B39F0A1F3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ED7F2-B1DD-E1F8-5961-198EC4DD2560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4 / 9</a:t>
            </a:r>
          </a:p>
        </p:txBody>
      </p:sp>
      <p:sp>
        <p:nvSpPr>
          <p:cNvPr id="9" name="Shape_18">
            <a:extLst>
              <a:ext uri="{FF2B5EF4-FFF2-40B4-BE49-F238E27FC236}">
                <a16:creationId xmlns:a16="http://schemas.microsoft.com/office/drawing/2014/main" id="{05C974C0-EF16-C909-DF98-93A3532F18B8}"/>
              </a:ext>
            </a:extLst>
          </p:cNvPr>
          <p:cNvSpPr/>
          <p:nvPr/>
        </p:nvSpPr>
        <p:spPr>
          <a:xfrm>
            <a:off x="6096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_19">
            <a:extLst>
              <a:ext uri="{FF2B5EF4-FFF2-40B4-BE49-F238E27FC236}">
                <a16:creationId xmlns:a16="http://schemas.microsoft.com/office/drawing/2014/main" id="{D8EB2754-9AF6-D6CF-4898-9C4144CEADF8}"/>
              </a:ext>
            </a:extLst>
          </p:cNvPr>
          <p:cNvSpPr/>
          <p:nvPr/>
        </p:nvSpPr>
        <p:spPr>
          <a:xfrm>
            <a:off x="1981200" y="2209800"/>
            <a:ext cx="711200" cy="7112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4C1B5-75FD-0ED9-9582-23915A699D1F}"/>
              </a:ext>
            </a:extLst>
          </p:cNvPr>
          <p:cNvSpPr txBox="1"/>
          <p:nvPr/>
        </p:nvSpPr>
        <p:spPr>
          <a:xfrm>
            <a:off x="863600" y="3073400"/>
            <a:ext cx="294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TRUST HEAD START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CF4437-4635-1742-9B2C-CDB960727758}"/>
              </a:ext>
            </a:extLst>
          </p:cNvPr>
          <p:cNvSpPr txBox="1"/>
          <p:nvPr/>
        </p:nvSpPr>
        <p:spPr>
          <a:xfrm>
            <a:off x="863600" y="3403600"/>
            <a:ext cx="29464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Quality Engineering, From Code to Agents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63DD9-9E80-6773-553A-8EA17505E438}"/>
              </a:ext>
            </a:extLst>
          </p:cNvPr>
          <p:cNvSpPr txBox="1"/>
          <p:nvPr/>
        </p:nvSpPr>
        <p:spPr>
          <a:xfrm>
            <a:off x="863600" y="4114800"/>
            <a:ext cx="29464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50" dirty="0">
                <a:solidFill>
                  <a:srgbClr val="A9B8D1"/>
                </a:solidFill>
              </a:rPr>
              <a:t>Users already trust </a:t>
            </a:r>
            <a:r>
              <a:rPr lang="en-US" sz="1150" dirty="0" err="1">
                <a:solidFill>
                  <a:srgbClr val="A9B8D1"/>
                </a:solidFill>
              </a:rPr>
              <a:t>Tricentis</a:t>
            </a:r>
            <a:r>
              <a:rPr lang="en-US" sz="1150" dirty="0">
                <a:solidFill>
                  <a:srgbClr val="A9B8D1"/>
                </a:solidFill>
              </a:rPr>
              <a:t> for Tosca and </a:t>
            </a:r>
            <a:r>
              <a:rPr lang="en-US" sz="1150" dirty="0" err="1">
                <a:solidFill>
                  <a:srgbClr val="A9B8D1"/>
                </a:solidFill>
              </a:rPr>
              <a:t>qTest</a:t>
            </a:r>
            <a:r>
              <a:rPr lang="en-US" sz="1150" dirty="0">
                <a:solidFill>
                  <a:srgbClr val="A9B8D1"/>
                </a:solidFill>
              </a:rPr>
              <a:t> — </a:t>
            </a:r>
            <a:r>
              <a:rPr lang="en-US" sz="1150" dirty="0" err="1">
                <a:solidFill>
                  <a:srgbClr val="A9B8D1"/>
                </a:solidFill>
              </a:rPr>
              <a:t>AgentScore</a:t>
            </a:r>
            <a:r>
              <a:rPr lang="en-US" sz="1150" dirty="0">
                <a:solidFill>
                  <a:srgbClr val="A9B8D1"/>
                </a:solidFill>
              </a:rPr>
              <a:t> isn't a new tool to evaluate, it's the same platform extended from code to the agents that code powers.</a:t>
            </a:r>
          </a:p>
        </p:txBody>
      </p:sp>
      <p:sp>
        <p:nvSpPr>
          <p:cNvPr id="14" name="Shape_20">
            <a:extLst>
              <a:ext uri="{FF2B5EF4-FFF2-40B4-BE49-F238E27FC236}">
                <a16:creationId xmlns:a16="http://schemas.microsoft.com/office/drawing/2014/main" id="{5B822AAB-0052-5DB0-78AF-4CA7710AC711}"/>
              </a:ext>
            </a:extLst>
          </p:cNvPr>
          <p:cNvSpPr/>
          <p:nvPr/>
        </p:nvSpPr>
        <p:spPr>
          <a:xfrm>
            <a:off x="43688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hape_21">
            <a:extLst>
              <a:ext uri="{FF2B5EF4-FFF2-40B4-BE49-F238E27FC236}">
                <a16:creationId xmlns:a16="http://schemas.microsoft.com/office/drawing/2014/main" id="{0FEE4C0F-0A08-EBC6-3C74-0E3E6AEA6E01}"/>
              </a:ext>
            </a:extLst>
          </p:cNvPr>
          <p:cNvSpPr/>
          <p:nvPr/>
        </p:nvSpPr>
        <p:spPr>
          <a:xfrm>
            <a:off x="5740400" y="2209800"/>
            <a:ext cx="711200" cy="7112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A37D3-9DD4-8EE5-1870-6FB091E2BDA6}"/>
              </a:ext>
            </a:extLst>
          </p:cNvPr>
          <p:cNvSpPr txBox="1"/>
          <p:nvPr/>
        </p:nvSpPr>
        <p:spPr>
          <a:xfrm>
            <a:off x="4622800" y="3073400"/>
            <a:ext cx="294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DISTRIBUTION ADVANTAGE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378A5-951B-1D82-BF3D-E2AF64F7F354}"/>
              </a:ext>
            </a:extLst>
          </p:cNvPr>
          <p:cNvSpPr txBox="1"/>
          <p:nvPr/>
        </p:nvSpPr>
        <p:spPr>
          <a:xfrm>
            <a:off x="4622800" y="3403600"/>
            <a:ext cx="29464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A Cost Edge No Outside Vendor Can Match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C13ED1-63FD-4591-5FD2-4D849B4987A7}"/>
              </a:ext>
            </a:extLst>
          </p:cNvPr>
          <p:cNvSpPr txBox="1"/>
          <p:nvPr/>
        </p:nvSpPr>
        <p:spPr>
          <a:xfrm>
            <a:off x="4622800" y="4114800"/>
            <a:ext cx="29464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50">
                <a:solidFill>
                  <a:srgbClr val="A9B8D1"/>
                </a:solidFill>
              </a:rPr>
              <a:t>AI Workspace agents auto-provision a tenant and get graded with zero setup — every AIW customer is a warm lead, not a cold integration decision.</a:t>
            </a:r>
          </a:p>
        </p:txBody>
      </p:sp>
      <p:sp>
        <p:nvSpPr>
          <p:cNvPr id="19" name="Shape_22">
            <a:extLst>
              <a:ext uri="{FF2B5EF4-FFF2-40B4-BE49-F238E27FC236}">
                <a16:creationId xmlns:a16="http://schemas.microsoft.com/office/drawing/2014/main" id="{AF1F4E43-6EB0-FF0E-1414-53FA6D665180}"/>
              </a:ext>
            </a:extLst>
          </p:cNvPr>
          <p:cNvSpPr/>
          <p:nvPr/>
        </p:nvSpPr>
        <p:spPr>
          <a:xfrm>
            <a:off x="8128000" y="1905000"/>
            <a:ext cx="3454400" cy="3937000"/>
          </a:xfrm>
          <a:prstGeom prst="roundRect">
            <a:avLst>
              <a:gd name="adj" fmla="val 3676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hape_23">
            <a:extLst>
              <a:ext uri="{FF2B5EF4-FFF2-40B4-BE49-F238E27FC236}">
                <a16:creationId xmlns:a16="http://schemas.microsoft.com/office/drawing/2014/main" id="{3D15E986-CFFF-0908-29D6-3CD376625F3E}"/>
              </a:ext>
            </a:extLst>
          </p:cNvPr>
          <p:cNvSpPr/>
          <p:nvPr/>
        </p:nvSpPr>
        <p:spPr>
          <a:xfrm>
            <a:off x="9499600" y="2209800"/>
            <a:ext cx="711200" cy="7112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37782F-7867-70D4-469E-50F5ACE38205}"/>
              </a:ext>
            </a:extLst>
          </p:cNvPr>
          <p:cNvSpPr txBox="1"/>
          <p:nvPr/>
        </p:nvSpPr>
        <p:spPr>
          <a:xfrm>
            <a:off x="8382000" y="3073400"/>
            <a:ext cx="2946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b="1">
                <a:solidFill>
                  <a:srgbClr val="38BDF8"/>
                </a:solidFill>
              </a:rPr>
              <a:t>THE CLOCK IS RUNNING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28478A-0796-FF8C-9452-DE169B914A48}"/>
              </a:ext>
            </a:extLst>
          </p:cNvPr>
          <p:cNvSpPr txBox="1"/>
          <p:nvPr/>
        </p:nvSpPr>
        <p:spPr>
          <a:xfrm>
            <a:off x="8382000" y="3403600"/>
            <a:ext cx="29464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The Market Is Deciding Right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40531-4960-C5FB-671A-E0F851B52D58}"/>
              </a:ext>
            </a:extLst>
          </p:cNvPr>
          <p:cNvSpPr txBox="1"/>
          <p:nvPr/>
        </p:nvSpPr>
        <p:spPr>
          <a:xfrm>
            <a:off x="8382000" y="4114800"/>
            <a:ext cx="29464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50" dirty="0">
                <a:solidFill>
                  <a:srgbClr val="A9B8D1"/>
                </a:solidFill>
              </a:rPr>
              <a:t>Braintrust, Galileo, and </a:t>
            </a:r>
            <a:r>
              <a:rPr lang="en-US" sz="1150" dirty="0" err="1">
                <a:solidFill>
                  <a:srgbClr val="A9B8D1"/>
                </a:solidFill>
              </a:rPr>
              <a:t>Langfuse</a:t>
            </a:r>
            <a:r>
              <a:rPr lang="en-US" sz="1150" dirty="0">
                <a:solidFill>
                  <a:srgbClr val="A9B8D1"/>
                </a:solidFill>
              </a:rPr>
              <a:t> all moved — raised, acquired, or folded in — within months of each other. Every quarter we wait, someone else becomes the default answer to “is this agent safe to ship?”</a:t>
            </a:r>
          </a:p>
        </p:txBody>
      </p:sp>
    </p:spTree>
    <p:extLst>
      <p:ext uri="{BB962C8B-B14F-4D97-AF65-F5344CB8AC3E}">
        <p14:creationId xmlns:p14="http://schemas.microsoft.com/office/powerpoint/2010/main" val="146985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613B3-953F-D4C8-A4B4-B0AFDF327406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PRODUCT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939317-33C6-33C2-E2EC-B1FFAC9509D3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What AgentScore 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6F0C0-0892-1728-D599-1D2E07E54EF6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"Point it at a trace, get back a defensible answer."</a:t>
            </a:r>
          </a:p>
        </p:txBody>
      </p:sp>
      <p:sp>
        <p:nvSpPr>
          <p:cNvPr id="5" name="Shape_24">
            <a:extLst>
              <a:ext uri="{FF2B5EF4-FFF2-40B4-BE49-F238E27FC236}">
                <a16:creationId xmlns:a16="http://schemas.microsoft.com/office/drawing/2014/main" id="{090CB328-7972-BD48-32A2-718EA430C69F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AFE987-34C7-575D-8094-6E97B173F4E6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864F8-1F58-25C3-3E20-203056E7723C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5 / 9</a:t>
            </a:r>
          </a:p>
        </p:txBody>
      </p:sp>
      <p:sp>
        <p:nvSpPr>
          <p:cNvPr id="8" name="Shape_25">
            <a:extLst>
              <a:ext uri="{FF2B5EF4-FFF2-40B4-BE49-F238E27FC236}">
                <a16:creationId xmlns:a16="http://schemas.microsoft.com/office/drawing/2014/main" id="{EF600BFF-FDAF-1E9B-9B7C-C81F1E4F307B}"/>
              </a:ext>
            </a:extLst>
          </p:cNvPr>
          <p:cNvSpPr/>
          <p:nvPr/>
        </p:nvSpPr>
        <p:spPr>
          <a:xfrm>
            <a:off x="6096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hape_26">
            <a:extLst>
              <a:ext uri="{FF2B5EF4-FFF2-40B4-BE49-F238E27FC236}">
                <a16:creationId xmlns:a16="http://schemas.microsoft.com/office/drawing/2014/main" id="{54571782-788F-E0E7-0B9C-244E7B59F04A}"/>
              </a:ext>
            </a:extLst>
          </p:cNvPr>
          <p:cNvSpPr/>
          <p:nvPr/>
        </p:nvSpPr>
        <p:spPr>
          <a:xfrm>
            <a:off x="2095500" y="20574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E7014D-FFF3-EBD3-1A1F-E9B27B8A534E}"/>
              </a:ext>
            </a:extLst>
          </p:cNvPr>
          <p:cNvSpPr txBox="1"/>
          <p:nvPr/>
        </p:nvSpPr>
        <p:spPr>
          <a:xfrm>
            <a:off x="762000" y="2667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Any Trace, Any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411559-DF51-C06F-BBC4-43F7D699C2C3}"/>
              </a:ext>
            </a:extLst>
          </p:cNvPr>
          <p:cNvSpPr txBox="1"/>
          <p:nvPr/>
        </p:nvSpPr>
        <p:spPr>
          <a:xfrm>
            <a:off x="762000" y="3149600"/>
            <a:ext cx="3175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Ingests an agent's </a:t>
            </a:r>
            <a:r>
              <a:rPr lang="en-US" sz="1100" dirty="0" err="1">
                <a:solidFill>
                  <a:srgbClr val="A9B8D1"/>
                </a:solidFill>
              </a:rPr>
              <a:t>OTel</a:t>
            </a:r>
            <a:r>
              <a:rPr lang="en-US" sz="1100" dirty="0">
                <a:solidFill>
                  <a:srgbClr val="A9B8D1"/>
                </a:solidFill>
              </a:rPr>
              <a:t> trace — any agent, any vendor, any orchestration framework, no proprietary SDK required.</a:t>
            </a:r>
          </a:p>
        </p:txBody>
      </p:sp>
      <p:sp>
        <p:nvSpPr>
          <p:cNvPr id="12" name="Shape_27">
            <a:extLst>
              <a:ext uri="{FF2B5EF4-FFF2-40B4-BE49-F238E27FC236}">
                <a16:creationId xmlns:a16="http://schemas.microsoft.com/office/drawing/2014/main" id="{804B565A-2D99-0355-8138-389DF12FB33D}"/>
              </a:ext>
            </a:extLst>
          </p:cNvPr>
          <p:cNvSpPr/>
          <p:nvPr/>
        </p:nvSpPr>
        <p:spPr>
          <a:xfrm>
            <a:off x="43434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hape_28">
            <a:extLst>
              <a:ext uri="{FF2B5EF4-FFF2-40B4-BE49-F238E27FC236}">
                <a16:creationId xmlns:a16="http://schemas.microsoft.com/office/drawing/2014/main" id="{2CB49A63-762D-4431-135C-E4C00AF018F0}"/>
              </a:ext>
            </a:extLst>
          </p:cNvPr>
          <p:cNvSpPr/>
          <p:nvPr/>
        </p:nvSpPr>
        <p:spPr>
          <a:xfrm>
            <a:off x="5829300" y="20574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5384D5-5DD9-8052-4A47-08B0FD448787}"/>
              </a:ext>
            </a:extLst>
          </p:cNvPr>
          <p:cNvSpPr txBox="1"/>
          <p:nvPr/>
        </p:nvSpPr>
        <p:spPr>
          <a:xfrm>
            <a:off x="4495800" y="2667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A Verdict, Not a Pass/Fail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E1FB88-A34D-2477-557B-F68F36218C59}"/>
              </a:ext>
            </a:extLst>
          </p:cNvPr>
          <p:cNvSpPr txBox="1"/>
          <p:nvPr/>
        </p:nvSpPr>
        <p:spPr>
          <a:xfrm>
            <a:off x="4495800" y="3149600"/>
            <a:ext cx="3175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Returns a 0-100 score and a ship/warn/block verdict.</a:t>
            </a:r>
          </a:p>
        </p:txBody>
      </p:sp>
      <p:sp>
        <p:nvSpPr>
          <p:cNvPr id="16" name="Shape_29">
            <a:extLst>
              <a:ext uri="{FF2B5EF4-FFF2-40B4-BE49-F238E27FC236}">
                <a16:creationId xmlns:a16="http://schemas.microsoft.com/office/drawing/2014/main" id="{7DE04456-D4A9-3E7F-B674-C4CB6BBE982F}"/>
              </a:ext>
            </a:extLst>
          </p:cNvPr>
          <p:cNvSpPr/>
          <p:nvPr/>
        </p:nvSpPr>
        <p:spPr>
          <a:xfrm>
            <a:off x="8077200" y="18796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hape_30">
            <a:extLst>
              <a:ext uri="{FF2B5EF4-FFF2-40B4-BE49-F238E27FC236}">
                <a16:creationId xmlns:a16="http://schemas.microsoft.com/office/drawing/2014/main" id="{A4E11027-7157-C912-389E-BD1BB388AE18}"/>
              </a:ext>
            </a:extLst>
          </p:cNvPr>
          <p:cNvSpPr/>
          <p:nvPr/>
        </p:nvSpPr>
        <p:spPr>
          <a:xfrm>
            <a:off x="9563100" y="20574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A9CCC-A826-AA77-4BE8-4654B17FC2F0}"/>
              </a:ext>
            </a:extLst>
          </p:cNvPr>
          <p:cNvSpPr txBox="1"/>
          <p:nvPr/>
        </p:nvSpPr>
        <p:spPr>
          <a:xfrm>
            <a:off x="8229600" y="26670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Root-Cause Attribution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7EF5E3-BA13-230F-18CB-1BE5B18D960D}"/>
              </a:ext>
            </a:extLst>
          </p:cNvPr>
          <p:cNvSpPr txBox="1"/>
          <p:nvPr/>
        </p:nvSpPr>
        <p:spPr>
          <a:xfrm>
            <a:off x="8229600" y="3149600"/>
            <a:ext cx="317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Down to the span, paired with a suggested fix.</a:t>
            </a:r>
          </a:p>
        </p:txBody>
      </p:sp>
      <p:sp>
        <p:nvSpPr>
          <p:cNvPr id="20" name="Shape_31">
            <a:extLst>
              <a:ext uri="{FF2B5EF4-FFF2-40B4-BE49-F238E27FC236}">
                <a16:creationId xmlns:a16="http://schemas.microsoft.com/office/drawing/2014/main" id="{B88BD99D-F1FD-3FC0-2822-857D04518D23}"/>
              </a:ext>
            </a:extLst>
          </p:cNvPr>
          <p:cNvSpPr/>
          <p:nvPr/>
        </p:nvSpPr>
        <p:spPr>
          <a:xfrm>
            <a:off x="6096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hape_32">
            <a:extLst>
              <a:ext uri="{FF2B5EF4-FFF2-40B4-BE49-F238E27FC236}">
                <a16:creationId xmlns:a16="http://schemas.microsoft.com/office/drawing/2014/main" id="{DD15D60F-4AF7-2A33-B499-27F6EC3FBC5D}"/>
              </a:ext>
            </a:extLst>
          </p:cNvPr>
          <p:cNvSpPr/>
          <p:nvPr/>
        </p:nvSpPr>
        <p:spPr>
          <a:xfrm>
            <a:off x="2095500" y="43307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2077F-2138-4EC4-EDF2-1314CA1E496A}"/>
              </a:ext>
            </a:extLst>
          </p:cNvPr>
          <p:cNvSpPr txBox="1"/>
          <p:nvPr/>
        </p:nvSpPr>
        <p:spPr>
          <a:xfrm>
            <a:off x="762000" y="49403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60+ Evals, 11 Dimensions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2E3501-87B3-88FA-0F63-57A6478EA87E}"/>
              </a:ext>
            </a:extLst>
          </p:cNvPr>
          <p:cNvSpPr txBox="1"/>
          <p:nvPr/>
        </p:nvSpPr>
        <p:spPr>
          <a:xfrm>
            <a:off x="762000" y="5422900"/>
            <a:ext cx="3175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Auto-selected via zero-setup profiling — the buyer doesn't need to know what to measure going in.</a:t>
            </a:r>
          </a:p>
        </p:txBody>
      </p:sp>
      <p:sp>
        <p:nvSpPr>
          <p:cNvPr id="24" name="Shape_33">
            <a:extLst>
              <a:ext uri="{FF2B5EF4-FFF2-40B4-BE49-F238E27FC236}">
                <a16:creationId xmlns:a16="http://schemas.microsoft.com/office/drawing/2014/main" id="{0EB75377-30C1-786C-6968-AB616DA7D47E}"/>
              </a:ext>
            </a:extLst>
          </p:cNvPr>
          <p:cNvSpPr/>
          <p:nvPr/>
        </p:nvSpPr>
        <p:spPr>
          <a:xfrm>
            <a:off x="43434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hape_34">
            <a:extLst>
              <a:ext uri="{FF2B5EF4-FFF2-40B4-BE49-F238E27FC236}">
                <a16:creationId xmlns:a16="http://schemas.microsoft.com/office/drawing/2014/main" id="{0A120DC1-6049-B26A-3E8C-8D9F86231705}"/>
              </a:ext>
            </a:extLst>
          </p:cNvPr>
          <p:cNvSpPr/>
          <p:nvPr/>
        </p:nvSpPr>
        <p:spPr>
          <a:xfrm>
            <a:off x="5829300" y="43307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3D651A-67F9-475F-6168-2DE4CCF31961}"/>
              </a:ext>
            </a:extLst>
          </p:cNvPr>
          <p:cNvSpPr txBox="1"/>
          <p:nvPr/>
        </p:nvSpPr>
        <p:spPr>
          <a:xfrm>
            <a:off x="4495800" y="49403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Tiered Evidence Model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E5227F-FC14-C1CF-1770-A48FEBC64155}"/>
              </a:ext>
            </a:extLst>
          </p:cNvPr>
          <p:cNvSpPr txBox="1"/>
          <p:nvPr/>
        </p:nvSpPr>
        <p:spPr>
          <a:xfrm>
            <a:off x="4495800" y="5422900"/>
            <a:ext cx="3175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100" dirty="0">
                <a:solidFill>
                  <a:srgbClr val="A9B8D1"/>
                </a:solidFill>
              </a:rPr>
              <a:t>Deterministic checks, judge + confidence intervals, golden-dataset back-testing — audit-ready proof, not a black box.</a:t>
            </a:r>
          </a:p>
        </p:txBody>
      </p:sp>
      <p:sp>
        <p:nvSpPr>
          <p:cNvPr id="28" name="Shape_35">
            <a:extLst>
              <a:ext uri="{FF2B5EF4-FFF2-40B4-BE49-F238E27FC236}">
                <a16:creationId xmlns:a16="http://schemas.microsoft.com/office/drawing/2014/main" id="{29FAECBA-6DCC-CBD1-7F01-BA95F0ECD7C0}"/>
              </a:ext>
            </a:extLst>
          </p:cNvPr>
          <p:cNvSpPr/>
          <p:nvPr/>
        </p:nvSpPr>
        <p:spPr>
          <a:xfrm>
            <a:off x="8077200" y="4152900"/>
            <a:ext cx="3479800" cy="2095500"/>
          </a:xfrm>
          <a:prstGeom prst="roundRect">
            <a:avLst>
              <a:gd name="adj" fmla="val 606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hape_36">
            <a:extLst>
              <a:ext uri="{FF2B5EF4-FFF2-40B4-BE49-F238E27FC236}">
                <a16:creationId xmlns:a16="http://schemas.microsoft.com/office/drawing/2014/main" id="{5D249135-62F3-B01C-3363-C559DE609039}"/>
              </a:ext>
            </a:extLst>
          </p:cNvPr>
          <p:cNvSpPr/>
          <p:nvPr/>
        </p:nvSpPr>
        <p:spPr>
          <a:xfrm>
            <a:off x="9563100" y="4330700"/>
            <a:ext cx="508000" cy="5080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2DC18F-6B71-D0C9-4C47-403D8DBDDE15}"/>
              </a:ext>
            </a:extLst>
          </p:cNvPr>
          <p:cNvSpPr txBox="1"/>
          <p:nvPr/>
        </p:nvSpPr>
        <p:spPr>
          <a:xfrm>
            <a:off x="8229600" y="4940300"/>
            <a:ext cx="3175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Automatic Inside AI Workspace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6CC939-072E-0B35-67A1-7B131DADE513}"/>
              </a:ext>
            </a:extLst>
          </p:cNvPr>
          <p:cNvSpPr txBox="1"/>
          <p:nvPr/>
        </p:nvSpPr>
        <p:spPr>
          <a:xfrm>
            <a:off x="8229600" y="5422900"/>
            <a:ext cx="3175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dirty="0">
                <a:solidFill>
                  <a:srgbClr val="A9B8D1"/>
                </a:solidFill>
              </a:rPr>
              <a:t>AI Workspace agents get all of this free, without any extra setup, the moment the agent exists.</a:t>
            </a:r>
          </a:p>
        </p:txBody>
      </p:sp>
    </p:spTree>
    <p:extLst>
      <p:ext uri="{BB962C8B-B14F-4D97-AF65-F5344CB8AC3E}">
        <p14:creationId xmlns:p14="http://schemas.microsoft.com/office/powerpoint/2010/main" val="19216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2177D-431A-C789-A2CF-46011E660F24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PERSONA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38846-E5BA-F427-237C-1D5EA9C5E3A8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Who Actually Buys This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71603-6053-DBAF-DB0A-CDA207B4D5D9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Ranked by priority — who reacts to the score, and why.</a:t>
            </a:r>
          </a:p>
        </p:txBody>
      </p:sp>
      <p:sp>
        <p:nvSpPr>
          <p:cNvPr id="5" name="Shape_37">
            <a:extLst>
              <a:ext uri="{FF2B5EF4-FFF2-40B4-BE49-F238E27FC236}">
                <a16:creationId xmlns:a16="http://schemas.microsoft.com/office/drawing/2014/main" id="{751BB776-D7FD-9CB0-DCB2-FCE1EFB82B23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698ECF-2465-887F-8D85-FC1A5A83162F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FC3718-E074-0B5F-6EFC-9227CCD32D53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6 / 9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3C63981-8774-31A9-F024-76C43F49B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113826"/>
              </p:ext>
            </p:extLst>
          </p:nvPr>
        </p:nvGraphicFramePr>
        <p:xfrm>
          <a:off x="609600" y="2032000"/>
          <a:ext cx="109728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758979895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4727903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3020068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Persona</a:t>
                      </a:r>
                    </a:p>
                  </a:txBody>
                  <a:tcPr anchor="ctr">
                    <a:solidFill>
                      <a:srgbClr val="0F1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Why They Care</a:t>
                      </a:r>
                    </a:p>
                  </a:txBody>
                  <a:tcPr anchor="ctr">
                    <a:solidFill>
                      <a:srgbClr val="0F1E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>
                          <a:solidFill>
                            <a:srgbClr val="38BDF8"/>
                          </a:solidFill>
                        </a:rPr>
                        <a:t>Priority</a:t>
                      </a:r>
                    </a:p>
                  </a:txBody>
                  <a:tcPr anchor="ctr">
                    <a:solidFill>
                      <a:srgbClr val="0F1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49422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QA/quality leader at an agent-deploying enterprise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“is this agent safe to ship” but has no tooling built for agent behavior — wants a defensible score and root-cause attribution.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2994A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844567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AI/platform program owner at scale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Owns dozens of agents shipping to prod with fragmented ownership — reacts most strongly to the single ship/warn/block verdict.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2994A"/>
                          </a:solidFill>
                        </a:rPr>
                        <a:t>Primary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44616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SI/consulting partner building agents for clients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Needs third-party evidence of quality to close their own client deals — a resale motion, not just internal use.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1B2E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3119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lang="en-US" sz="1250" b="1">
                          <a:solidFill>
                            <a:srgbClr val="FFFFFF"/>
                          </a:solidFill>
                        </a:rPr>
                        <a:t>Regulated-industry buyer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>
                          <a:solidFill>
                            <a:srgbClr val="C7D2E3"/>
                          </a:solidFill>
                        </a:rPr>
                        <a:t>Compliance/audit sensitivity makes “how do you know it's accurate” a gating question before production.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94A3B8"/>
                          </a:solidFill>
                        </a:rPr>
                        <a:t>Secondary</a:t>
                      </a:r>
                    </a:p>
                  </a:txBody>
                  <a:tcPr anchor="ctr"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9694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09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CA12BB-C450-D111-FE0A-DAF68EAABF82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TARGET ICP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C82A1E-B2FA-02A9-6984-D9E7C1C31F34}"/>
              </a:ext>
            </a:extLst>
          </p:cNvPr>
          <p:cNvSpPr txBox="1"/>
          <p:nvPr/>
        </p:nvSpPr>
        <p:spPr>
          <a:xfrm>
            <a:off x="609600" y="762000"/>
            <a:ext cx="109728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What Tells You an Account Is Worth Targeting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BEA77-B472-EAA7-15FC-20D1AFBCA9BE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If you're a sales rep, here's what to look for in an account.</a:t>
            </a:r>
          </a:p>
        </p:txBody>
      </p:sp>
      <p:sp>
        <p:nvSpPr>
          <p:cNvPr id="5" name="Shape_38">
            <a:extLst>
              <a:ext uri="{FF2B5EF4-FFF2-40B4-BE49-F238E27FC236}">
                <a16:creationId xmlns:a16="http://schemas.microsoft.com/office/drawing/2014/main" id="{D472782D-E609-EB87-CCB2-ADAE990FC24E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B1A79-C5B1-18F1-266C-67467AFED301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3134F-CB14-5C0B-7FA3-F29888566C9E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7 / 9</a:t>
            </a:r>
          </a:p>
        </p:txBody>
      </p:sp>
      <p:sp>
        <p:nvSpPr>
          <p:cNvPr id="8" name="Shape_39">
            <a:extLst>
              <a:ext uri="{FF2B5EF4-FFF2-40B4-BE49-F238E27FC236}">
                <a16:creationId xmlns:a16="http://schemas.microsoft.com/office/drawing/2014/main" id="{176D67D3-0E93-97AC-0B0B-67BF2A821068}"/>
              </a:ext>
            </a:extLst>
          </p:cNvPr>
          <p:cNvSpPr/>
          <p:nvPr/>
        </p:nvSpPr>
        <p:spPr>
          <a:xfrm>
            <a:off x="609600" y="1981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A9D813-7D4D-1521-13AC-F76D8904591C}"/>
              </a:ext>
            </a:extLst>
          </p:cNvPr>
          <p:cNvSpPr txBox="1"/>
          <p:nvPr/>
        </p:nvSpPr>
        <p:spPr>
          <a:xfrm>
            <a:off x="889000" y="19050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Already running agents in AI Workspace → zero-setup, warm lead, not a cold integration decision.</a:t>
            </a:r>
          </a:p>
        </p:txBody>
      </p:sp>
      <p:sp>
        <p:nvSpPr>
          <p:cNvPr id="10" name="Shape_40">
            <a:extLst>
              <a:ext uri="{FF2B5EF4-FFF2-40B4-BE49-F238E27FC236}">
                <a16:creationId xmlns:a16="http://schemas.microsoft.com/office/drawing/2014/main" id="{7DC35EE4-063B-CB3A-C61E-AB98AB7C2E28}"/>
              </a:ext>
            </a:extLst>
          </p:cNvPr>
          <p:cNvSpPr/>
          <p:nvPr/>
        </p:nvSpPr>
        <p:spPr>
          <a:xfrm>
            <a:off x="609600" y="2489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D6197-DC4E-02FD-BE78-4E97C26F14CB}"/>
              </a:ext>
            </a:extLst>
          </p:cNvPr>
          <p:cNvSpPr txBox="1"/>
          <p:nvPr/>
        </p:nvSpPr>
        <p:spPr>
          <a:xfrm>
            <a:off x="889000" y="24130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Running multiple agents or workflows, not just one → more surface area, more manual grading pain.</a:t>
            </a:r>
          </a:p>
        </p:txBody>
      </p:sp>
      <p:sp>
        <p:nvSpPr>
          <p:cNvPr id="12" name="Shape_41">
            <a:extLst>
              <a:ext uri="{FF2B5EF4-FFF2-40B4-BE49-F238E27FC236}">
                <a16:creationId xmlns:a16="http://schemas.microsoft.com/office/drawing/2014/main" id="{CD7BCD36-C8B4-8830-126B-4E6937229142}"/>
              </a:ext>
            </a:extLst>
          </p:cNvPr>
          <p:cNvSpPr/>
          <p:nvPr/>
        </p:nvSpPr>
        <p:spPr>
          <a:xfrm>
            <a:off x="609600" y="2997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1C81C8-A8A5-0D2E-B170-809093125B90}"/>
              </a:ext>
            </a:extLst>
          </p:cNvPr>
          <p:cNvSpPr txBox="1"/>
          <p:nvPr/>
        </p:nvSpPr>
        <p:spPr>
          <a:xfrm>
            <a:off x="889000" y="2921000"/>
            <a:ext cx="10693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Risk-driven signals: talk of governance/spend concerns, “how do we know this is safe” before “how do we ship more,” or a token bill that's stopped tracking cleanly to work done.</a:t>
            </a:r>
          </a:p>
        </p:txBody>
      </p:sp>
      <p:sp>
        <p:nvSpPr>
          <p:cNvPr id="14" name="Shape_42">
            <a:extLst>
              <a:ext uri="{FF2B5EF4-FFF2-40B4-BE49-F238E27FC236}">
                <a16:creationId xmlns:a16="http://schemas.microsoft.com/office/drawing/2014/main" id="{85CD7164-DC33-EC87-D16C-3B1F1ADF0981}"/>
              </a:ext>
            </a:extLst>
          </p:cNvPr>
          <p:cNvSpPr/>
          <p:nvPr/>
        </p:nvSpPr>
        <p:spPr>
          <a:xfrm>
            <a:off x="609600" y="3759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CAC591-01AE-F488-262F-4CB2492BF7C7}"/>
              </a:ext>
            </a:extLst>
          </p:cNvPr>
          <p:cNvSpPr txBox="1"/>
          <p:nvPr/>
        </p:nvSpPr>
        <p:spPr>
          <a:xfrm>
            <a:off x="889000" y="3683000"/>
            <a:ext cx="10693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Efficiency-driven signals: already grading agents themselves — ad hoc scripts, spreadsheet rubrics, a homegrown eval harness — and want to cut the manual cost, or want more rigor than what they've built.</a:t>
            </a:r>
          </a:p>
        </p:txBody>
      </p:sp>
      <p:sp>
        <p:nvSpPr>
          <p:cNvPr id="16" name="Shape_43">
            <a:extLst>
              <a:ext uri="{FF2B5EF4-FFF2-40B4-BE49-F238E27FC236}">
                <a16:creationId xmlns:a16="http://schemas.microsoft.com/office/drawing/2014/main" id="{D37CB19D-C111-8F7F-0696-9265A10CA229}"/>
              </a:ext>
            </a:extLst>
          </p:cNvPr>
          <p:cNvSpPr/>
          <p:nvPr/>
        </p:nvSpPr>
        <p:spPr>
          <a:xfrm>
            <a:off x="609600" y="4521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170021-1A14-7440-1930-C89B05FBCD0B}"/>
              </a:ext>
            </a:extLst>
          </p:cNvPr>
          <p:cNvSpPr txBox="1"/>
          <p:nvPr/>
        </p:nvSpPr>
        <p:spPr>
          <a:xfrm>
            <a:off x="889000" y="4445000"/>
            <a:ext cx="106934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Running external agents/tools/MCPs alongside AI Workspace (GitHub Copilot, Copilot Studio, homegrown frameworks, other vendors, MCP servers) that they can't currently score side-by-side with their sanctioned agents.</a:t>
            </a:r>
          </a:p>
        </p:txBody>
      </p:sp>
      <p:sp>
        <p:nvSpPr>
          <p:cNvPr id="18" name="Shape_44">
            <a:extLst>
              <a:ext uri="{FF2B5EF4-FFF2-40B4-BE49-F238E27FC236}">
                <a16:creationId xmlns:a16="http://schemas.microsoft.com/office/drawing/2014/main" id="{DD998DC9-0BAF-93B2-1F28-F5CB28427980}"/>
              </a:ext>
            </a:extLst>
          </p:cNvPr>
          <p:cNvSpPr/>
          <p:nvPr/>
        </p:nvSpPr>
        <p:spPr>
          <a:xfrm>
            <a:off x="609600" y="5207000"/>
            <a:ext cx="10972800" cy="698500"/>
          </a:xfrm>
          <a:prstGeom prst="roundRect">
            <a:avLst>
              <a:gd name="adj" fmla="val 14545"/>
            </a:avLst>
          </a:prstGeom>
          <a:solidFill>
            <a:srgbClr val="1B2E52"/>
          </a:solidFill>
          <a:ln w="12700" cap="flat" cmpd="sng" algn="ctr">
            <a:solidFill>
              <a:srgbClr val="F2994A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52A4F-512C-5CCF-8D0A-28008A59BB7B}"/>
              </a:ext>
            </a:extLst>
          </p:cNvPr>
          <p:cNvSpPr txBox="1"/>
          <p:nvPr/>
        </p:nvSpPr>
        <p:spPr>
          <a:xfrm>
            <a:off x="863600" y="5308600"/>
            <a:ext cx="10464800" cy="44627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150" b="1">
                <a:solidFill>
                  <a:srgbClr val="FFFFFF"/>
                </a:solidFill>
              </a:rPr>
              <a:t>Bonus signal: no dedicated AI engineers or existing eval tooling in-house → AgentScore isn't competing against a build option, it's the only realistic path to a rigorous eval.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115061-A29B-85CA-24E6-44C5E4644888}"/>
              </a:ext>
            </a:extLst>
          </p:cNvPr>
          <p:cNvSpPr txBox="1"/>
          <p:nvPr/>
        </p:nvSpPr>
        <p:spPr>
          <a:xfrm>
            <a:off x="609600" y="6019800"/>
            <a:ext cx="109728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i="1">
                <a:solidFill>
                  <a:srgbClr val="6B7A99"/>
                </a:solidFill>
              </a:rPr>
              <a:t>Wolters Kluwer is the cleanest real match today (risk-driven, AIW + external agents). Tritusa fits 3 of 4. A hypothesis, not yet a validated segment.</a:t>
            </a:r>
          </a:p>
        </p:txBody>
      </p:sp>
    </p:spTree>
    <p:extLst>
      <p:ext uri="{BB962C8B-B14F-4D97-AF65-F5344CB8AC3E}">
        <p14:creationId xmlns:p14="http://schemas.microsoft.com/office/powerpoint/2010/main" val="309858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66560-34D9-BA22-F6F6-978F914D483D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VALUE PROP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68D1D-B55E-E562-9005-24BF6BD969F2}"/>
              </a:ext>
            </a:extLst>
          </p:cNvPr>
          <p:cNvSpPr txBox="1"/>
          <p:nvPr/>
        </p:nvSpPr>
        <p:spPr>
          <a:xfrm>
            <a:off x="609600" y="762000"/>
            <a:ext cx="1016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Why Customers Will Pay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9ADDD3-437B-0D3F-D1C3-E16F9F0DDFE1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Five reasons buyers say yes — and the economics behind them.</a:t>
            </a:r>
          </a:p>
        </p:txBody>
      </p:sp>
      <p:sp>
        <p:nvSpPr>
          <p:cNvPr id="5" name="Shape_45">
            <a:extLst>
              <a:ext uri="{FF2B5EF4-FFF2-40B4-BE49-F238E27FC236}">
                <a16:creationId xmlns:a16="http://schemas.microsoft.com/office/drawing/2014/main" id="{ACA4548A-D594-767F-2CB0-DE8E71017FB4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D370D-633E-BCB3-6D39-5DAA1DF870F9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FF7A7-6B60-7D49-649C-20D421D3B411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8 / 9</a:t>
            </a:r>
          </a:p>
        </p:txBody>
      </p:sp>
      <p:sp>
        <p:nvSpPr>
          <p:cNvPr id="8" name="Shape_46">
            <a:extLst>
              <a:ext uri="{FF2B5EF4-FFF2-40B4-BE49-F238E27FC236}">
                <a16:creationId xmlns:a16="http://schemas.microsoft.com/office/drawing/2014/main" id="{67121523-6B7E-D446-DA9A-431FE594BB3C}"/>
              </a:ext>
            </a:extLst>
          </p:cNvPr>
          <p:cNvSpPr/>
          <p:nvPr/>
        </p:nvSpPr>
        <p:spPr>
          <a:xfrm>
            <a:off x="609600" y="19812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FD130-6FDD-E698-2531-3F97EEB779EC}"/>
              </a:ext>
            </a:extLst>
          </p:cNvPr>
          <p:cNvSpPr txBox="1"/>
          <p:nvPr/>
        </p:nvSpPr>
        <p:spPr>
          <a:xfrm>
            <a:off x="889000" y="19050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 defensible verdict instead of a gut call — replaces “seems fine to me” with a number leadership can act on.</a:t>
            </a:r>
          </a:p>
        </p:txBody>
      </p:sp>
      <p:sp>
        <p:nvSpPr>
          <p:cNvPr id="10" name="Shape_47">
            <a:extLst>
              <a:ext uri="{FF2B5EF4-FFF2-40B4-BE49-F238E27FC236}">
                <a16:creationId xmlns:a16="http://schemas.microsoft.com/office/drawing/2014/main" id="{247D4D7E-641F-C36A-6C37-9B4C26BFBCAD}"/>
              </a:ext>
            </a:extLst>
          </p:cNvPr>
          <p:cNvSpPr/>
          <p:nvPr/>
        </p:nvSpPr>
        <p:spPr>
          <a:xfrm>
            <a:off x="609600" y="26416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9B3E7-AC93-419E-1E36-66B1E7F9B7D3}"/>
              </a:ext>
            </a:extLst>
          </p:cNvPr>
          <p:cNvSpPr txBox="1"/>
          <p:nvPr/>
        </p:nvSpPr>
        <p:spPr>
          <a:xfrm>
            <a:off x="889000" y="25654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Root-cause attribution, not just a score — turns debugging into a fix, not a re-run.</a:t>
            </a:r>
          </a:p>
        </p:txBody>
      </p:sp>
      <p:sp>
        <p:nvSpPr>
          <p:cNvPr id="12" name="Shape_48">
            <a:extLst>
              <a:ext uri="{FF2B5EF4-FFF2-40B4-BE49-F238E27FC236}">
                <a16:creationId xmlns:a16="http://schemas.microsoft.com/office/drawing/2014/main" id="{2E9C50A5-0231-A72C-B1F6-333C43E19D25}"/>
              </a:ext>
            </a:extLst>
          </p:cNvPr>
          <p:cNvSpPr/>
          <p:nvPr/>
        </p:nvSpPr>
        <p:spPr>
          <a:xfrm>
            <a:off x="609600" y="33020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3EE1E8-BE19-2884-528F-234AB8D772FA}"/>
              </a:ext>
            </a:extLst>
          </p:cNvPr>
          <p:cNvSpPr txBox="1"/>
          <p:nvPr/>
        </p:nvSpPr>
        <p:spPr>
          <a:xfrm>
            <a:off x="889000" y="32258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A shared yardstick across fragmented ownership — the fleet-level ask we're already hearing (Wolters Kluwer, Freddie Mac).</a:t>
            </a:r>
          </a:p>
        </p:txBody>
      </p:sp>
      <p:sp>
        <p:nvSpPr>
          <p:cNvPr id="14" name="Shape_49">
            <a:extLst>
              <a:ext uri="{FF2B5EF4-FFF2-40B4-BE49-F238E27FC236}">
                <a16:creationId xmlns:a16="http://schemas.microsoft.com/office/drawing/2014/main" id="{7CE2DCC3-A5B8-9C8C-8FB3-D0D72318640D}"/>
              </a:ext>
            </a:extLst>
          </p:cNvPr>
          <p:cNvSpPr/>
          <p:nvPr/>
        </p:nvSpPr>
        <p:spPr>
          <a:xfrm>
            <a:off x="609600" y="39624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8C88C-C048-FD91-7379-107616CE7011}"/>
              </a:ext>
            </a:extLst>
          </p:cNvPr>
          <p:cNvSpPr txBox="1"/>
          <p:nvPr/>
        </p:nvSpPr>
        <p:spPr>
          <a:xfrm>
            <a:off x="889000" y="38862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Coverage without in-house AI expertise — zero-setup auto-profiling means the buyer doesn't need to already know what to measure.</a:t>
            </a:r>
          </a:p>
        </p:txBody>
      </p:sp>
      <p:sp>
        <p:nvSpPr>
          <p:cNvPr id="16" name="Shape_50">
            <a:extLst>
              <a:ext uri="{FF2B5EF4-FFF2-40B4-BE49-F238E27FC236}">
                <a16:creationId xmlns:a16="http://schemas.microsoft.com/office/drawing/2014/main" id="{017FBEBF-BD47-35AC-0652-24E50528B144}"/>
              </a:ext>
            </a:extLst>
          </p:cNvPr>
          <p:cNvSpPr/>
          <p:nvPr/>
        </p:nvSpPr>
        <p:spPr>
          <a:xfrm>
            <a:off x="609600" y="4622800"/>
            <a:ext cx="101600" cy="101600"/>
          </a:xfrm>
          <a:prstGeom prst="ellipse">
            <a:avLst/>
          </a:prstGeom>
          <a:solidFill>
            <a:srgbClr val="F2994A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0E716-D2DE-0390-B6AA-01E8B77BED13}"/>
              </a:ext>
            </a:extLst>
          </p:cNvPr>
          <p:cNvSpPr txBox="1"/>
          <p:nvPr/>
        </p:nvSpPr>
        <p:spPr>
          <a:xfrm>
            <a:off x="889000" y="4546600"/>
            <a:ext cx="106934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>
                <a:solidFill>
                  <a:srgbClr val="E5EAF3"/>
                </a:solidFill>
              </a:rPr>
              <a:t>Third-party evidence SIs can resell — a resale motion for partners like Tritusa, Capgemini, Accenture, Xebia.</a:t>
            </a:r>
          </a:p>
        </p:txBody>
      </p:sp>
      <p:sp>
        <p:nvSpPr>
          <p:cNvPr id="18" name="Shape_51">
            <a:extLst>
              <a:ext uri="{FF2B5EF4-FFF2-40B4-BE49-F238E27FC236}">
                <a16:creationId xmlns:a16="http://schemas.microsoft.com/office/drawing/2014/main" id="{775AD274-4ECB-52BA-F7E0-6D3C4AE22E46}"/>
              </a:ext>
            </a:extLst>
          </p:cNvPr>
          <p:cNvSpPr/>
          <p:nvPr/>
        </p:nvSpPr>
        <p:spPr>
          <a:xfrm>
            <a:off x="609600" y="5181600"/>
            <a:ext cx="10972800" cy="1079500"/>
          </a:xfrm>
          <a:prstGeom prst="roundRect">
            <a:avLst>
              <a:gd name="adj" fmla="val 9412"/>
            </a:avLst>
          </a:prstGeom>
          <a:solidFill>
            <a:srgbClr val="1B2E52"/>
          </a:solidFill>
          <a:ln w="12700" cap="flat" cmpd="sng" algn="ctr">
            <a:solidFill>
              <a:srgbClr val="38BDF8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3AC30C-A573-3E8E-FE72-6F52813AA400}"/>
              </a:ext>
            </a:extLst>
          </p:cNvPr>
          <p:cNvSpPr txBox="1"/>
          <p:nvPr/>
        </p:nvSpPr>
        <p:spPr>
          <a:xfrm>
            <a:off x="863600" y="5308600"/>
            <a:ext cx="381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38BDF8"/>
                </a:solidFill>
              </a:rPr>
              <a:t>OVERALL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52D925-39AE-A7DD-639A-767BB9D2026C}"/>
              </a:ext>
            </a:extLst>
          </p:cNvPr>
          <p:cNvSpPr txBox="1"/>
          <p:nvPr/>
        </p:nvSpPr>
        <p:spPr>
          <a:xfrm>
            <a:off x="863600" y="5562600"/>
            <a:ext cx="1905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 dirty="0">
                <a:solidFill>
                  <a:srgbClr val="FFFFFF"/>
                </a:solidFill>
              </a:rPr>
              <a:t>2.3 / </a:t>
            </a:r>
            <a:r>
              <a:rPr lang="en-US" sz="1900" b="1" dirty="0" err="1">
                <a:solidFill>
                  <a:srgbClr val="FFFFFF"/>
                </a:solidFill>
              </a:rPr>
              <a:t>qtr</a:t>
            </a:r>
            <a:endParaRPr lang="en-US" sz="1900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A9492C-A92A-042C-F68C-D4190443BFB7}"/>
              </a:ext>
            </a:extLst>
          </p:cNvPr>
          <p:cNvSpPr txBox="1"/>
          <p:nvPr/>
        </p:nvSpPr>
        <p:spPr>
          <a:xfrm>
            <a:off x="863600" y="5994400"/>
            <a:ext cx="203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A9B8D1"/>
                </a:solidFill>
              </a:rPr>
              <a:t>AI-driven errors/qtr, $50K–$2.1M each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A8FBFA-30CA-426F-5D82-376221A78DEB}"/>
              </a:ext>
            </a:extLst>
          </p:cNvPr>
          <p:cNvSpPr txBox="1"/>
          <p:nvPr/>
        </p:nvSpPr>
        <p:spPr>
          <a:xfrm>
            <a:off x="2997200" y="5562600"/>
            <a:ext cx="1905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</a:rPr>
              <a:t>$14K/yr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20B7B7-C8A5-FE8C-D919-0E934AEE586A}"/>
              </a:ext>
            </a:extLst>
          </p:cNvPr>
          <p:cNvSpPr txBox="1"/>
          <p:nvPr/>
        </p:nvSpPr>
        <p:spPr>
          <a:xfrm>
            <a:off x="2997200" y="5994400"/>
            <a:ext cx="2159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50">
                <a:solidFill>
                  <a:srgbClr val="A9B8D1"/>
                </a:solidFill>
              </a:rPr>
              <a:t>per employee/yr verifying AI outputs</a:t>
            </a:r>
          </a:p>
        </p:txBody>
      </p:sp>
      <p:sp>
        <p:nvSpPr>
          <p:cNvPr id="24" name="Shape_52">
            <a:extLst>
              <a:ext uri="{FF2B5EF4-FFF2-40B4-BE49-F238E27FC236}">
                <a16:creationId xmlns:a16="http://schemas.microsoft.com/office/drawing/2014/main" id="{A0248FA3-4AEA-8AF9-4A1C-94FA74FC817F}"/>
              </a:ext>
            </a:extLst>
          </p:cNvPr>
          <p:cNvSpPr/>
          <p:nvPr/>
        </p:nvSpPr>
        <p:spPr>
          <a:xfrm>
            <a:off x="5384800" y="5384800"/>
            <a:ext cx="12700" cy="698500"/>
          </a:xfrm>
          <a:prstGeom prst="rect">
            <a:avLst/>
          </a:prstGeom>
          <a:solidFill>
            <a:srgbClr val="33456B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A64080-6EF4-77EE-4354-8603D3D7E1DD}"/>
              </a:ext>
            </a:extLst>
          </p:cNvPr>
          <p:cNvSpPr txBox="1"/>
          <p:nvPr/>
        </p:nvSpPr>
        <p:spPr>
          <a:xfrm>
            <a:off x="5645150" y="5421268"/>
            <a:ext cx="56896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dirty="0">
                <a:solidFill>
                  <a:srgbClr val="C7D2E3"/>
                </a:solidFill>
              </a:rPr>
              <a:t>The billing model is already proven by the category — eval-first competitors meter scoring runs at a premium, separate from ingestion. A subscription only has to prevent a fraction of one incident to pay for itself many times over.</a:t>
            </a:r>
          </a:p>
        </p:txBody>
      </p:sp>
    </p:spTree>
    <p:extLst>
      <p:ext uri="{BB962C8B-B14F-4D97-AF65-F5344CB8AC3E}">
        <p14:creationId xmlns:p14="http://schemas.microsoft.com/office/powerpoint/2010/main" val="307928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DAEE0D-D6AD-7E96-E515-5DFDEEB93875}"/>
              </a:ext>
            </a:extLst>
          </p:cNvPr>
          <p:cNvSpPr txBox="1"/>
          <p:nvPr/>
        </p:nvSpPr>
        <p:spPr>
          <a:xfrm>
            <a:off x="609600" y="508000"/>
            <a:ext cx="508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ROI METRICS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2CAFFC-5103-A15A-E05C-88A73358763E}"/>
              </a:ext>
            </a:extLst>
          </p:cNvPr>
          <p:cNvSpPr txBox="1"/>
          <p:nvPr/>
        </p:nvSpPr>
        <p:spPr>
          <a:xfrm>
            <a:off x="6096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</a:rPr>
              <a:t>The ROI Metrics We Can Measure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369D89-849F-1283-E307-E249C074BE48}"/>
              </a:ext>
            </a:extLst>
          </p:cNvPr>
          <p:cNvSpPr txBox="1"/>
          <p:nvPr/>
        </p:nvSpPr>
        <p:spPr>
          <a:xfrm>
            <a:off x="609600" y="1320800"/>
            <a:ext cx="109728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i="1">
                <a:solidFill>
                  <a:srgbClr val="C7D2E3"/>
                </a:solidFill>
              </a:rPr>
              <a:t>Three candidate metrics — none validated by a paying customer yet.</a:t>
            </a:r>
          </a:p>
        </p:txBody>
      </p:sp>
      <p:sp>
        <p:nvSpPr>
          <p:cNvPr id="5" name="Shape_53">
            <a:extLst>
              <a:ext uri="{FF2B5EF4-FFF2-40B4-BE49-F238E27FC236}">
                <a16:creationId xmlns:a16="http://schemas.microsoft.com/office/drawing/2014/main" id="{A93A7C90-3CA4-1529-7BA8-DA939799F26B}"/>
              </a:ext>
            </a:extLst>
          </p:cNvPr>
          <p:cNvSpPr/>
          <p:nvPr/>
        </p:nvSpPr>
        <p:spPr>
          <a:xfrm>
            <a:off x="609600" y="6350000"/>
            <a:ext cx="10972800" cy="19050"/>
          </a:xfrm>
          <a:prstGeom prst="rect">
            <a:avLst/>
          </a:prstGeom>
          <a:solidFill>
            <a:srgbClr val="24365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DFF968-E8E1-24E8-A098-A9BC66E9718A}"/>
              </a:ext>
            </a:extLst>
          </p:cNvPr>
          <p:cNvSpPr txBox="1"/>
          <p:nvPr/>
        </p:nvSpPr>
        <p:spPr>
          <a:xfrm>
            <a:off x="6096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7C8CA8"/>
                </a:solidFill>
              </a:rPr>
              <a:t>Tricentis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3293E-1E61-05D3-67D6-7B02DA51646D}"/>
              </a:ext>
            </a:extLst>
          </p:cNvPr>
          <p:cNvSpPr txBox="1"/>
          <p:nvPr/>
        </p:nvSpPr>
        <p:spPr>
          <a:xfrm>
            <a:off x="9042400" y="6451600"/>
            <a:ext cx="254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7C8CA8"/>
                </a:solidFill>
              </a:rPr>
              <a:t>9 /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054B4-697A-AB99-C32E-576967ADF2D3}"/>
              </a:ext>
            </a:extLst>
          </p:cNvPr>
          <p:cNvSpPr txBox="1"/>
          <p:nvPr/>
        </p:nvSpPr>
        <p:spPr>
          <a:xfrm>
            <a:off x="609600" y="1676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INCIDENT-INVESTIGATION TIME SAVED</a:t>
            </a:r>
          </a:p>
        </p:txBody>
      </p:sp>
      <p:sp>
        <p:nvSpPr>
          <p:cNvPr id="9" name="Shape_54">
            <a:extLst>
              <a:ext uri="{FF2B5EF4-FFF2-40B4-BE49-F238E27FC236}">
                <a16:creationId xmlns:a16="http://schemas.microsoft.com/office/drawing/2014/main" id="{12289EFB-96A2-6E9D-791A-6AF98191F202}"/>
              </a:ext>
            </a:extLst>
          </p:cNvPr>
          <p:cNvSpPr/>
          <p:nvPr/>
        </p:nvSpPr>
        <p:spPr>
          <a:xfrm>
            <a:off x="6096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B2EFB-4632-F85B-D566-62BCE07DF189}"/>
              </a:ext>
            </a:extLst>
          </p:cNvPr>
          <p:cNvSpPr txBox="1"/>
          <p:nvPr/>
        </p:nvSpPr>
        <p:spPr>
          <a:xfrm>
            <a:off x="787400" y="2108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??? hrs/wk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2731D-88BB-E959-396A-8BE2EB4B36BD}"/>
              </a:ext>
            </a:extLst>
          </p:cNvPr>
          <p:cNvSpPr txBox="1"/>
          <p:nvPr/>
        </p:nvSpPr>
        <p:spPr>
          <a:xfrm>
            <a:off x="787400" y="2463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Baseline unmeasured internally — externally reported ~4.3 hrs/wk</a:t>
            </a:r>
          </a:p>
        </p:txBody>
      </p:sp>
      <p:sp>
        <p:nvSpPr>
          <p:cNvPr id="12" name="Shape_55">
            <a:extLst>
              <a:ext uri="{FF2B5EF4-FFF2-40B4-BE49-F238E27FC236}">
                <a16:creationId xmlns:a16="http://schemas.microsoft.com/office/drawing/2014/main" id="{A1A81B8E-B1DC-9BBB-C83B-12FEFDE8A5A9}"/>
              </a:ext>
            </a:extLst>
          </p:cNvPr>
          <p:cNvSpPr/>
          <p:nvPr/>
        </p:nvSpPr>
        <p:spPr>
          <a:xfrm>
            <a:off x="43307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205EFB-A11F-ED30-7A00-74EF01C56C20}"/>
              </a:ext>
            </a:extLst>
          </p:cNvPr>
          <p:cNvSpPr txBox="1"/>
          <p:nvPr/>
        </p:nvSpPr>
        <p:spPr>
          <a:xfrm>
            <a:off x="4508500" y="2108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25%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C502F9-22EB-FA52-8D53-E1DC5E401B9A}"/>
              </a:ext>
            </a:extLst>
          </p:cNvPr>
          <p:cNvSpPr txBox="1"/>
          <p:nvPr/>
        </p:nvSpPr>
        <p:spPr>
          <a:xfrm>
            <a:off x="4508500" y="2463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Hypothesis: incident-investigation time drops if root-cause attribution works as designed</a:t>
            </a:r>
          </a:p>
        </p:txBody>
      </p:sp>
      <p:sp>
        <p:nvSpPr>
          <p:cNvPr id="15" name="Shape_56">
            <a:extLst>
              <a:ext uri="{FF2B5EF4-FFF2-40B4-BE49-F238E27FC236}">
                <a16:creationId xmlns:a16="http://schemas.microsoft.com/office/drawing/2014/main" id="{E5796F99-B4E4-FB00-59A2-416456CC3754}"/>
              </a:ext>
            </a:extLst>
          </p:cNvPr>
          <p:cNvSpPr/>
          <p:nvPr/>
        </p:nvSpPr>
        <p:spPr>
          <a:xfrm>
            <a:off x="8051800" y="2006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57A969-1B64-4938-40CC-B93F808C7A0B}"/>
              </a:ext>
            </a:extLst>
          </p:cNvPr>
          <p:cNvSpPr txBox="1"/>
          <p:nvPr/>
        </p:nvSpPr>
        <p:spPr>
          <a:xfrm>
            <a:off x="8229600" y="2108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$3.5K/yr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9F1513-4009-83E4-0A6E-F199045E4572}"/>
              </a:ext>
            </a:extLst>
          </p:cNvPr>
          <p:cNvSpPr txBox="1"/>
          <p:nvPr/>
        </p:nvSpPr>
        <p:spPr>
          <a:xfrm>
            <a:off x="8229600" y="2463800"/>
            <a:ext cx="31623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Per-employee value reclaimed if the hypothesis holds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BE421B-AF9F-801C-1064-B7B578C56343}"/>
              </a:ext>
            </a:extLst>
          </p:cNvPr>
          <p:cNvSpPr txBox="1"/>
          <p:nvPr/>
        </p:nvSpPr>
        <p:spPr>
          <a:xfrm>
            <a:off x="609600" y="3073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AUDIT-EVIDENCE TURNAROUND TIME</a:t>
            </a:r>
          </a:p>
        </p:txBody>
      </p:sp>
      <p:sp>
        <p:nvSpPr>
          <p:cNvPr id="19" name="Shape_57">
            <a:extLst>
              <a:ext uri="{FF2B5EF4-FFF2-40B4-BE49-F238E27FC236}">
                <a16:creationId xmlns:a16="http://schemas.microsoft.com/office/drawing/2014/main" id="{A39DB3E7-B018-0CE8-279D-8F0128D00727}"/>
              </a:ext>
            </a:extLst>
          </p:cNvPr>
          <p:cNvSpPr/>
          <p:nvPr/>
        </p:nvSpPr>
        <p:spPr>
          <a:xfrm>
            <a:off x="6096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05612-E319-C7B7-56E2-A3165B8961BC}"/>
              </a:ext>
            </a:extLst>
          </p:cNvPr>
          <p:cNvSpPr txBox="1"/>
          <p:nvPr/>
        </p:nvSpPr>
        <p:spPr>
          <a:xfrm>
            <a:off x="787400" y="3505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??? days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AF4E5B-67FB-F279-084F-478AECD4F852}"/>
              </a:ext>
            </a:extLst>
          </p:cNvPr>
          <p:cNvSpPr txBox="1"/>
          <p:nvPr/>
        </p:nvSpPr>
        <p:spPr>
          <a:xfrm>
            <a:off x="787400" y="3860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Unmeasured, ad hoc today at every account (Wolters Kluwer, Freddie Mac)</a:t>
            </a:r>
          </a:p>
        </p:txBody>
      </p:sp>
      <p:sp>
        <p:nvSpPr>
          <p:cNvPr id="22" name="Shape_58">
            <a:extLst>
              <a:ext uri="{FF2B5EF4-FFF2-40B4-BE49-F238E27FC236}">
                <a16:creationId xmlns:a16="http://schemas.microsoft.com/office/drawing/2014/main" id="{15BC55D9-D838-2E5C-0EB0-1C2924005624}"/>
              </a:ext>
            </a:extLst>
          </p:cNvPr>
          <p:cNvSpPr/>
          <p:nvPr/>
        </p:nvSpPr>
        <p:spPr>
          <a:xfrm>
            <a:off x="43307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251D0F-767B-738A-445E-0BBBD14E7D46}"/>
              </a:ext>
            </a:extLst>
          </p:cNvPr>
          <p:cNvSpPr txBox="1"/>
          <p:nvPr/>
        </p:nvSpPr>
        <p:spPr>
          <a:xfrm>
            <a:off x="4508500" y="3505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Ad Hoc → SLA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FD832D-832A-9929-D109-8418B3563151}"/>
              </a:ext>
            </a:extLst>
          </p:cNvPr>
          <p:cNvSpPr txBox="1"/>
          <p:nvPr/>
        </p:nvSpPr>
        <p:spPr>
          <a:xfrm>
            <a:off x="4508500" y="3860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Hypothesis: the tiered evidence model turns this into a reportable SLA</a:t>
            </a:r>
          </a:p>
        </p:txBody>
      </p:sp>
      <p:sp>
        <p:nvSpPr>
          <p:cNvPr id="25" name="Shape_59">
            <a:extLst>
              <a:ext uri="{FF2B5EF4-FFF2-40B4-BE49-F238E27FC236}">
                <a16:creationId xmlns:a16="http://schemas.microsoft.com/office/drawing/2014/main" id="{39D5CB00-B677-62E2-28F7-10400A106C86}"/>
              </a:ext>
            </a:extLst>
          </p:cNvPr>
          <p:cNvSpPr/>
          <p:nvPr/>
        </p:nvSpPr>
        <p:spPr>
          <a:xfrm>
            <a:off x="8051800" y="3403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D2F286-E799-5F2E-8BAB-0D0FEE197037}"/>
              </a:ext>
            </a:extLst>
          </p:cNvPr>
          <p:cNvSpPr txBox="1"/>
          <p:nvPr/>
        </p:nvSpPr>
        <p:spPr>
          <a:xfrm>
            <a:off x="8229600" y="3505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Before vs. After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7E60EE-EBC3-F9EB-7E14-CE5C43AFFA7C}"/>
              </a:ext>
            </a:extLst>
          </p:cNvPr>
          <p:cNvSpPr txBox="1"/>
          <p:nvPr/>
        </p:nvSpPr>
        <p:spPr>
          <a:xfrm>
            <a:off x="8229600" y="3860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Time-to-evidence at a pilot account, measured before and after AgentScore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7063CE-DA5A-16FB-931D-87FA9E4460E2}"/>
              </a:ext>
            </a:extLst>
          </p:cNvPr>
          <p:cNvSpPr txBox="1"/>
          <p:nvPr/>
        </p:nvSpPr>
        <p:spPr>
          <a:xfrm>
            <a:off x="609600" y="4470400"/>
            <a:ext cx="889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38BDF8"/>
                </a:solidFill>
              </a:rPr>
              <a:t>% OF TOKEN SPEND RECOVERED AS WASTE</a:t>
            </a:r>
          </a:p>
        </p:txBody>
      </p:sp>
      <p:sp>
        <p:nvSpPr>
          <p:cNvPr id="29" name="Shape_60">
            <a:extLst>
              <a:ext uri="{FF2B5EF4-FFF2-40B4-BE49-F238E27FC236}">
                <a16:creationId xmlns:a16="http://schemas.microsoft.com/office/drawing/2014/main" id="{F75553D0-007F-4ED1-0F48-33C3D38C311A}"/>
              </a:ext>
            </a:extLst>
          </p:cNvPr>
          <p:cNvSpPr/>
          <p:nvPr/>
        </p:nvSpPr>
        <p:spPr>
          <a:xfrm>
            <a:off x="6096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35A57D-8A53-FC60-CC0D-B7528733159E}"/>
              </a:ext>
            </a:extLst>
          </p:cNvPr>
          <p:cNvSpPr txBox="1"/>
          <p:nvPr/>
        </p:nvSpPr>
        <p:spPr>
          <a:xfrm>
            <a:off x="787400" y="4902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??? 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138107-F584-B0CD-CF54-4E6621C72DCC}"/>
              </a:ext>
            </a:extLst>
          </p:cNvPr>
          <p:cNvSpPr txBox="1"/>
          <p:nvPr/>
        </p:nvSpPr>
        <p:spPr>
          <a:xfrm>
            <a:off x="787400" y="5257800"/>
            <a:ext cx="31623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No real customer token bill to benchmark against yet</a:t>
            </a:r>
          </a:p>
        </p:txBody>
      </p:sp>
      <p:sp>
        <p:nvSpPr>
          <p:cNvPr id="32" name="Shape_61">
            <a:extLst>
              <a:ext uri="{FF2B5EF4-FFF2-40B4-BE49-F238E27FC236}">
                <a16:creationId xmlns:a16="http://schemas.microsoft.com/office/drawing/2014/main" id="{D5B4D3C3-F1D8-7DA0-86AB-0D6FABA4D90B}"/>
              </a:ext>
            </a:extLst>
          </p:cNvPr>
          <p:cNvSpPr/>
          <p:nvPr/>
        </p:nvSpPr>
        <p:spPr>
          <a:xfrm>
            <a:off x="43307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15446E-0DE0-D992-5EF5-36D18C894AB9}"/>
              </a:ext>
            </a:extLst>
          </p:cNvPr>
          <p:cNvSpPr txBox="1"/>
          <p:nvPr/>
        </p:nvSpPr>
        <p:spPr>
          <a:xfrm>
            <a:off x="4508500" y="4902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40–60%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E8DF0D-67C9-D398-83A7-792CC280DAA1}"/>
              </a:ext>
            </a:extLst>
          </p:cNvPr>
          <p:cNvSpPr txBox="1"/>
          <p:nvPr/>
        </p:nvSpPr>
        <p:spPr>
          <a:xfrm>
            <a:off x="4508500" y="5257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Gartner: agentic token spend that contributes nothing to the answer</a:t>
            </a:r>
          </a:p>
        </p:txBody>
      </p:sp>
      <p:sp>
        <p:nvSpPr>
          <p:cNvPr id="35" name="Shape_62">
            <a:extLst>
              <a:ext uri="{FF2B5EF4-FFF2-40B4-BE49-F238E27FC236}">
                <a16:creationId xmlns:a16="http://schemas.microsoft.com/office/drawing/2014/main" id="{2691CAEC-AB33-64CF-C2EB-4DDCCDA512B9}"/>
              </a:ext>
            </a:extLst>
          </p:cNvPr>
          <p:cNvSpPr/>
          <p:nvPr/>
        </p:nvSpPr>
        <p:spPr>
          <a:xfrm>
            <a:off x="8051800" y="4800600"/>
            <a:ext cx="3517900" cy="838200"/>
          </a:xfrm>
          <a:prstGeom prst="roundRect">
            <a:avLst>
              <a:gd name="adj" fmla="val 12121"/>
            </a:avLst>
          </a:prstGeom>
          <a:solidFill>
            <a:srgbClr val="16294C"/>
          </a:solidFill>
          <a:ln w="0" cap="flat" cmpd="sng" algn="ctr">
            <a:solidFill>
              <a:schemeClr val="accent1">
                <a:shade val="15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56E187-295C-CBF2-1389-EBAD3EC5735F}"/>
              </a:ext>
            </a:extLst>
          </p:cNvPr>
          <p:cNvSpPr txBox="1"/>
          <p:nvPr/>
        </p:nvSpPr>
        <p:spPr>
          <a:xfrm>
            <a:off x="8229600" y="4902200"/>
            <a:ext cx="31623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</a:rPr>
              <a:t>Bill vs. Flag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83B2D1-B801-09BB-00E0-6E2652AA38B3}"/>
              </a:ext>
            </a:extLst>
          </p:cNvPr>
          <p:cNvSpPr txBox="1"/>
          <p:nvPr/>
        </p:nvSpPr>
        <p:spPr>
          <a:xfrm>
            <a:off x="8229600" y="5257800"/>
            <a:ext cx="31623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9B8D1"/>
                </a:solidFill>
              </a:rPr>
              <a:t>AgentScore-flagged low-value spend vs. a pilot customer's actual bill</a:t>
            </a:r>
          </a:p>
        </p:txBody>
      </p:sp>
      <p:sp>
        <p:nvSpPr>
          <p:cNvPr id="38" name="Shape_63">
            <a:extLst>
              <a:ext uri="{FF2B5EF4-FFF2-40B4-BE49-F238E27FC236}">
                <a16:creationId xmlns:a16="http://schemas.microsoft.com/office/drawing/2014/main" id="{07268587-32D5-6224-AF92-96F6645251CC}"/>
              </a:ext>
            </a:extLst>
          </p:cNvPr>
          <p:cNvSpPr/>
          <p:nvPr/>
        </p:nvSpPr>
        <p:spPr>
          <a:xfrm>
            <a:off x="609600" y="5943600"/>
            <a:ext cx="10972800" cy="355600"/>
          </a:xfrm>
          <a:prstGeom prst="roundRect">
            <a:avLst>
              <a:gd name="adj" fmla="val 21429"/>
            </a:avLst>
          </a:prstGeom>
          <a:solidFill>
            <a:srgbClr val="3A2230"/>
          </a:solidFill>
          <a:ln w="12700" cap="flat" cmpd="sng" algn="ctr">
            <a:solidFill>
              <a:srgbClr val="E85B5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2706F8-06C2-95D9-8D40-B84BF7E787CC}"/>
              </a:ext>
            </a:extLst>
          </p:cNvPr>
          <p:cNvSpPr txBox="1"/>
          <p:nvPr/>
        </p:nvSpPr>
        <p:spPr>
          <a:xfrm>
            <a:off x="838200" y="5943600"/>
            <a:ext cx="10515600" cy="253916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sz="1050" b="1">
                <a:solidFill>
                  <a:srgbClr val="FFFFFF"/>
                </a:solidFill>
              </a:rPr>
              <a:t>STATUS: All three are hypotheses, not yet validated by a paying customer — each needs before/after pilot data before it goes in front of a buyer as a claim.</a:t>
            </a:r>
          </a:p>
        </p:txBody>
      </p:sp>
    </p:spTree>
    <p:extLst>
      <p:ext uri="{BB962C8B-B14F-4D97-AF65-F5344CB8AC3E}">
        <p14:creationId xmlns:p14="http://schemas.microsoft.com/office/powerpoint/2010/main" val="90866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1E3B"/>
      </a:lt1>
      <a:dk2>
        <a:srgbClr val="C7D2E3"/>
      </a:dk2>
      <a:lt2>
        <a:srgbClr val="16294C"/>
      </a:lt2>
      <a:accent1>
        <a:srgbClr val="F2994A"/>
      </a:accent1>
      <a:accent2>
        <a:srgbClr val="38BDF8"/>
      </a:accent2>
      <a:accent3>
        <a:srgbClr val="E85B5B"/>
      </a:accent3>
      <a:accent4>
        <a:srgbClr val="4ADE80"/>
      </a:accent4>
      <a:accent5>
        <a:srgbClr val="A78BFA"/>
      </a:accent5>
      <a:accent6>
        <a:srgbClr val="94A3B8"/>
      </a:accent6>
      <a:hlink>
        <a:srgbClr val="467886"/>
      </a:hlink>
      <a:folHlink>
        <a:srgbClr val="96607D"/>
      </a:folHlink>
    </a:clrScheme>
    <a:fontScheme name="Office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1418</Words>
  <Application>Microsoft Macintosh PowerPoint</Application>
  <PresentationFormat>Widescreen</PresentationFormat>
  <Paragraphs>167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Demers</dc:creator>
  <cp:lastModifiedBy>Andrew Demers</cp:lastModifiedBy>
  <cp:revision>19</cp:revision>
  <dcterms:created xsi:type="dcterms:W3CDTF">2026-09-22T20:53:22Z</dcterms:created>
  <dcterms:modified xsi:type="dcterms:W3CDTF">2026-09-23T21:22:28Z</dcterms:modified>
</cp:coreProperties>
</file>