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1" r:id="rId3"/>
    <p:sldId id="263" r:id="rId4"/>
    <p:sldId id="261" r:id="rId5"/>
    <p:sldId id="260" r:id="rId6"/>
    <p:sldId id="269" r:id="rId7"/>
    <p:sldId id="275" r:id="rId8"/>
    <p:sldId id="262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38" autoAdjust="0"/>
  </p:normalViewPr>
  <p:slideViewPr>
    <p:cSldViewPr>
      <p:cViewPr varScale="1">
        <p:scale>
          <a:sx n="69" d="100"/>
          <a:sy n="69" d="100"/>
        </p:scale>
        <p:origin x="264" y="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058400" y="-5114975"/>
            <a:ext cx="24031566" cy="20516950"/>
          </a:xfrm>
          <a:custGeom>
            <a:avLst/>
            <a:gdLst/>
            <a:ahLst/>
            <a:cxnLst/>
            <a:rect l="l" t="t" r="r" b="b"/>
            <a:pathLst>
              <a:path w="24031566" h="20516950">
                <a:moveTo>
                  <a:pt x="0" y="0"/>
                </a:moveTo>
                <a:lnTo>
                  <a:pt x="24031567" y="0"/>
                </a:lnTo>
                <a:lnTo>
                  <a:pt x="24031567" y="20516950"/>
                </a:lnTo>
                <a:lnTo>
                  <a:pt x="0" y="20516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907829" y="3700990"/>
            <a:ext cx="10472342" cy="2875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 b="1" spc="-79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AgentScore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71170" y="5691364"/>
            <a:ext cx="6145659" cy="467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3575" b="1" spc="-1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validation, made defensible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13549"/>
            <a:ext cx="11675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Tricentis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856943" y="413549"/>
            <a:ext cx="4023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47981" y="413549"/>
            <a:ext cx="1192039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AgentScore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9711" y="-248460"/>
            <a:ext cx="14828579" cy="10783920"/>
          </a:xfrm>
          <a:custGeom>
            <a:avLst/>
            <a:gdLst/>
            <a:ahLst/>
            <a:cxnLst/>
            <a:rect l="l" t="t" r="r" b="b"/>
            <a:pathLst>
              <a:path w="14828579" h="10783920">
                <a:moveTo>
                  <a:pt x="0" y="0"/>
                </a:moveTo>
                <a:lnTo>
                  <a:pt x="14828578" y="0"/>
                </a:lnTo>
                <a:lnTo>
                  <a:pt x="14828578" y="10783920"/>
                </a:lnTo>
                <a:lnTo>
                  <a:pt x="0" y="10783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8" b="-86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599002" y="1460210"/>
            <a:ext cx="7089997" cy="4069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712"/>
              </a:lnSpc>
              <a:spcBef>
                <a:spcPct val="0"/>
              </a:spcBef>
            </a:pPr>
            <a:r>
              <a:rPr lang="en-US" sz="26712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87813" y="3238717"/>
            <a:ext cx="11512375" cy="419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r>
              <a:rPr lang="en-US" sz="7800" b="1" u="none" strike="noStrike" spc="-43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 you know your agent is doing what it's supposed to?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41618" y="7900000"/>
            <a:ext cx="12804764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For most teams, the honest answer is a gut check, not a number.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13549"/>
            <a:ext cx="11675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Tricentis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856943" y="413549"/>
            <a:ext cx="4023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47981" y="413549"/>
            <a:ext cx="1192039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AgentScore Intro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32198" y="-3730350"/>
            <a:ext cx="20787936" cy="17747701"/>
          </a:xfrm>
          <a:custGeom>
            <a:avLst/>
            <a:gdLst/>
            <a:ahLst/>
            <a:cxnLst/>
            <a:rect l="l" t="t" r="r" b="b"/>
            <a:pathLst>
              <a:path w="20787936" h="17747701">
                <a:moveTo>
                  <a:pt x="0" y="0"/>
                </a:moveTo>
                <a:lnTo>
                  <a:pt x="20787936" y="0"/>
                </a:lnTo>
                <a:lnTo>
                  <a:pt x="20787936" y="17747700"/>
                </a:lnTo>
                <a:lnTo>
                  <a:pt x="0" y="177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195517"/>
            <a:ext cx="7780774" cy="3300000"/>
            <a:chOff x="0" y="0"/>
            <a:chExt cx="1379590" cy="7295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1379590" cy="815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700000"/>
            <a:ext cx="7780774" cy="3300000"/>
            <a:chOff x="0" y="0"/>
            <a:chExt cx="1379590" cy="7295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1379590" cy="815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8526" y="1195517"/>
            <a:ext cx="7780774" cy="3300000"/>
            <a:chOff x="0" y="0"/>
            <a:chExt cx="1379590" cy="7295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1379590" cy="815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78526" y="4700000"/>
            <a:ext cx="7780774" cy="3300000"/>
            <a:chOff x="0" y="0"/>
            <a:chExt cx="1379590" cy="7295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1379590" cy="815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71013" y="1578105"/>
            <a:ext cx="6296148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&lt;5%  →  40%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1013" y="2104520"/>
            <a:ext cx="6296148" cy="19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 of enterprise apps with task-specific agents, 2025 to end of 2026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520839" y="1578105"/>
            <a:ext cx="6296148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150,000+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20839" y="2104520"/>
            <a:ext cx="6296148" cy="19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 across the Fortune 500 within two years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520839" y="5082587"/>
            <a:ext cx="6296148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40%+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20839" y="5609002"/>
            <a:ext cx="6296148" cy="19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agentic AI projects will be canceled by 2027 (Gartner): cost, unclear value, weak risk controls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71013" y="5082587"/>
            <a:ext cx="6296148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in 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71013" y="5609002"/>
            <a:ext cx="6296148" cy="19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Companies have a mature governance model for autonomous agents. 80% deploy agents without one.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8700" y="413549"/>
            <a:ext cx="11675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Tricentis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856943" y="413549"/>
            <a:ext cx="4023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47981" y="413549"/>
            <a:ext cx="1192039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AgentScore Intro</a:t>
            </a:r>
          </a:p>
        </p:txBody>
      </p:sp>
      <p:pic>
        <p:nvPicPr>
          <p:cNvPr id="26" name="Icon 26"/>
          <p:cNvPicPr/>
          <p:nvPr/>
        </p:nvPicPr>
        <p:blipFill>
          <a:blip r:embed="rId3"/>
          <a:stretch>
            <a:fillRect/>
          </a:stretch>
        </p:blipFill>
        <p:spPr>
          <a:xfrm>
            <a:off x="1471013" y="1657347"/>
            <a:ext cx="420000" cy="420000"/>
          </a:xfrm>
          <a:prstGeom prst="rect">
            <a:avLst/>
          </a:prstGeom>
        </p:spPr>
      </p:pic>
      <p:pic>
        <p:nvPicPr>
          <p:cNvPr id="27" name="Icon 27"/>
          <p:cNvPicPr/>
          <p:nvPr/>
        </p:nvPicPr>
        <p:blipFill>
          <a:blip r:embed="rId4"/>
          <a:stretch>
            <a:fillRect/>
          </a:stretch>
        </p:blipFill>
        <p:spPr>
          <a:xfrm>
            <a:off x="9920839" y="1657347"/>
            <a:ext cx="420000" cy="420000"/>
          </a:xfrm>
          <a:prstGeom prst="rect">
            <a:avLst/>
          </a:prstGeom>
        </p:spPr>
      </p:pic>
      <p:pic>
        <p:nvPicPr>
          <p:cNvPr id="28" name="Icon 28"/>
          <p:cNvPicPr/>
          <p:nvPr/>
        </p:nvPicPr>
        <p:blipFill>
          <a:blip r:embed="rId5"/>
          <a:stretch>
            <a:fillRect/>
          </a:stretch>
        </p:blipFill>
        <p:spPr>
          <a:xfrm>
            <a:off x="9920839" y="5161829"/>
            <a:ext cx="420000" cy="420000"/>
          </a:xfrm>
          <a:prstGeom prst="rect">
            <a:avLst/>
          </a:prstGeom>
        </p:spPr>
      </p:pic>
      <p:pic>
        <p:nvPicPr>
          <p:cNvPr id="29" name="Icon 29"/>
          <p:cNvPicPr/>
          <p:nvPr/>
        </p:nvPicPr>
        <p:blipFill>
          <a:blip r:embed="rId6"/>
          <a:stretch>
            <a:fillRect/>
          </a:stretch>
        </p:blipFill>
        <p:spPr>
          <a:xfrm>
            <a:off x="1471013" y="5161829"/>
            <a:ext cx="420000" cy="420000"/>
          </a:xfrm>
          <a:prstGeom prst="rect">
            <a:avLst/>
          </a:prstGeom>
        </p:spPr>
      </p:pic>
      <p:sp>
        <p:nvSpPr>
          <p:cNvPr id="2001" name="TextBox 15 copy2001"/>
          <p:cNvSpPr txBox="1"/>
          <p:nvPr/>
        </p:nvSpPr>
        <p:spPr>
          <a:xfrm>
            <a:off x="1028700" y="8250000"/>
            <a:ext cx="16230600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 what: someone has to decide whether each agent can go to production. Today, they have no tool.</a:t>
            </a:r>
          </a:p>
        </p:txBody>
      </p:sp>
      <p:sp>
        <p:nvSpPr>
          <p:cNvPr id="2002" name="TextBox 16 copy2002"/>
          <p:cNvSpPr txBox="1"/>
          <p:nvPr/>
        </p:nvSpPr>
        <p:spPr>
          <a:xfrm>
            <a:off x="1028700" y="9500000"/>
            <a:ext cx="16230600" cy="3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Sources: Gartner, Digital Applied, WitnessAI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58792">
            <a:off x="-1186538" y="-12118675"/>
            <a:ext cx="21340665" cy="19793467"/>
          </a:xfrm>
          <a:custGeom>
            <a:avLst/>
            <a:gdLst/>
            <a:ahLst/>
            <a:cxnLst/>
            <a:rect l="l" t="t" r="r" b="b"/>
            <a:pathLst>
              <a:path w="21340665" h="19793467">
                <a:moveTo>
                  <a:pt x="0" y="0"/>
                </a:moveTo>
                <a:lnTo>
                  <a:pt x="21340665" y="0"/>
                </a:lnTo>
                <a:lnTo>
                  <a:pt x="21340665" y="19793467"/>
                </a:lnTo>
                <a:lnTo>
                  <a:pt x="0" y="19793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7775506" cy="5000000"/>
            <a:chOff x="0" y="0"/>
            <a:chExt cx="1378656" cy="14591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8656" cy="1459170"/>
            </a:xfrm>
            <a:custGeom>
              <a:avLst/>
              <a:gdLst/>
              <a:ahLst/>
              <a:cxnLst/>
              <a:rect l="l" t="t" r="r" b="b"/>
              <a:pathLst>
                <a:path w="1378656" h="1459170">
                  <a:moveTo>
                    <a:pt x="50780" y="0"/>
                  </a:moveTo>
                  <a:lnTo>
                    <a:pt x="1327876" y="0"/>
                  </a:lnTo>
                  <a:cubicBezTo>
                    <a:pt x="1355921" y="0"/>
                    <a:pt x="1378656" y="22735"/>
                    <a:pt x="1378656" y="50780"/>
                  </a:cubicBezTo>
                  <a:lnTo>
                    <a:pt x="1378656" y="1408391"/>
                  </a:lnTo>
                  <a:cubicBezTo>
                    <a:pt x="1378656" y="1436436"/>
                    <a:pt x="1355921" y="1459170"/>
                    <a:pt x="1327876" y="1459170"/>
                  </a:cubicBezTo>
                  <a:lnTo>
                    <a:pt x="50780" y="1459170"/>
                  </a:lnTo>
                  <a:cubicBezTo>
                    <a:pt x="22735" y="1459170"/>
                    <a:pt x="0" y="1436436"/>
                    <a:pt x="0" y="1408391"/>
                  </a:cubicBezTo>
                  <a:lnTo>
                    <a:pt x="0" y="50780"/>
                  </a:lnTo>
                  <a:cubicBezTo>
                    <a:pt x="0" y="22735"/>
                    <a:pt x="22735" y="0"/>
                    <a:pt x="5078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1378656" cy="1544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83794" y="1028700"/>
            <a:ext cx="7775506" cy="5000000"/>
            <a:chOff x="0" y="0"/>
            <a:chExt cx="1378656" cy="1459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8656" cy="1459170"/>
            </a:xfrm>
            <a:custGeom>
              <a:avLst/>
              <a:gdLst/>
              <a:ahLst/>
              <a:cxnLst/>
              <a:rect l="l" t="t" r="r" b="b"/>
              <a:pathLst>
                <a:path w="1378656" h="1459170">
                  <a:moveTo>
                    <a:pt x="50780" y="0"/>
                  </a:moveTo>
                  <a:lnTo>
                    <a:pt x="1327876" y="0"/>
                  </a:lnTo>
                  <a:cubicBezTo>
                    <a:pt x="1355921" y="0"/>
                    <a:pt x="1378656" y="22735"/>
                    <a:pt x="1378656" y="50780"/>
                  </a:cubicBezTo>
                  <a:lnTo>
                    <a:pt x="1378656" y="1408391"/>
                  </a:lnTo>
                  <a:cubicBezTo>
                    <a:pt x="1378656" y="1436436"/>
                    <a:pt x="1355921" y="1459170"/>
                    <a:pt x="1327876" y="1459170"/>
                  </a:cubicBezTo>
                  <a:lnTo>
                    <a:pt x="50780" y="1459170"/>
                  </a:lnTo>
                  <a:cubicBezTo>
                    <a:pt x="22735" y="1459170"/>
                    <a:pt x="0" y="1436436"/>
                    <a:pt x="0" y="1408391"/>
                  </a:cubicBezTo>
                  <a:lnTo>
                    <a:pt x="0" y="50780"/>
                  </a:lnTo>
                  <a:cubicBezTo>
                    <a:pt x="0" y="22735"/>
                    <a:pt x="22735" y="0"/>
                    <a:pt x="5078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1378656" cy="1544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06567" y="1475798"/>
            <a:ext cx="6219771" cy="110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Wrong behavior costs money directly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06567" y="3000000"/>
            <a:ext cx="6219771" cy="374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/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/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Bad decisions, incidents, and the cleanup time after. A hallucinated answer looks identical to a correct one until someone downstream acts on it. Fortune 500 teams see ~2.3 AI-driven errors a quarter, at $50K to $2.1M each. 43% of companies saw AI incidents top $2M last year.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61662" y="1475798"/>
            <a:ext cx="6219771" cy="110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Inefficient behavior burns spend even when nothing "breaks"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61662" y="3000000"/>
            <a:ext cx="6219771" cy="374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/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/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Wasted tokens and redundant tool calls run up real cost with no incident report to flag it. The bill just looks like traffic, not waste.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13549"/>
            <a:ext cx="11675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Tricentis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56943" y="413549"/>
            <a:ext cx="4023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47981" y="413549"/>
            <a:ext cx="1192039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AgentScore Intro</a:t>
            </a:r>
          </a:p>
        </p:txBody>
      </p:sp>
      <p:pic>
        <p:nvPicPr>
          <p:cNvPr id="16" name="Icon 16"/>
          <p:cNvPicPr/>
          <p:nvPr/>
        </p:nvPicPr>
        <p:blipFill>
          <a:blip r:embed="rId3"/>
          <a:stretch>
            <a:fillRect/>
          </a:stretch>
        </p:blipFill>
        <p:spPr>
          <a:xfrm>
            <a:off x="1506567" y="1495798"/>
            <a:ext cx="420000" cy="420000"/>
          </a:xfrm>
          <a:prstGeom prst="rect">
            <a:avLst/>
          </a:prstGeom>
        </p:spPr>
      </p:pic>
      <p:pic>
        <p:nvPicPr>
          <p:cNvPr id="17" name="Icon 17"/>
          <p:cNvPicPr/>
          <p:nvPr/>
        </p:nvPicPr>
        <p:blipFill>
          <a:blip r:embed="rId4"/>
          <a:stretch>
            <a:fillRect/>
          </a:stretch>
        </p:blipFill>
        <p:spPr>
          <a:xfrm>
            <a:off x="9961662" y="1495798"/>
            <a:ext cx="420000" cy="420000"/>
          </a:xfrm>
          <a:prstGeom prst="rect">
            <a:avLst/>
          </a:prstGeom>
        </p:spPr>
      </p:pic>
      <p:grpSp>
        <p:nvGrpSpPr>
          <p:cNvPr id="2003" name="Group 6 copy2003"/>
          <p:cNvGrpSpPr/>
          <p:nvPr/>
        </p:nvGrpSpPr>
        <p:grpSpPr>
          <a:xfrm>
            <a:off x="1028700" y="6350000"/>
            <a:ext cx="16230600" cy="2900000"/>
            <a:chOff x="0" y="0"/>
            <a:chExt cx="1378656" cy="1459170"/>
          </a:xfrm>
        </p:grpSpPr>
        <p:sp>
          <p:nvSpPr>
            <p:cNvPr id="2004" name="Freeform 7 copy2004"/>
            <p:cNvSpPr/>
            <p:nvPr/>
          </p:nvSpPr>
          <p:spPr>
            <a:xfrm>
              <a:off x="0" y="0"/>
              <a:ext cx="1378656" cy="1459170"/>
            </a:xfrm>
            <a:custGeom>
              <a:avLst/>
              <a:gdLst/>
              <a:ahLst/>
              <a:cxnLst/>
              <a:rect l="l" t="t" r="r" b="b"/>
              <a:pathLst>
                <a:path w="1378656" h="1459170">
                  <a:moveTo>
                    <a:pt x="50780" y="0"/>
                  </a:moveTo>
                  <a:lnTo>
                    <a:pt x="1327876" y="0"/>
                  </a:lnTo>
                  <a:cubicBezTo>
                    <a:pt x="1355921" y="0"/>
                    <a:pt x="1378656" y="22735"/>
                    <a:pt x="1378656" y="50780"/>
                  </a:cubicBezTo>
                  <a:lnTo>
                    <a:pt x="1378656" y="1408391"/>
                  </a:lnTo>
                  <a:cubicBezTo>
                    <a:pt x="1378656" y="1436436"/>
                    <a:pt x="1355921" y="1459170"/>
                    <a:pt x="1327876" y="1459170"/>
                  </a:cubicBezTo>
                  <a:lnTo>
                    <a:pt x="50780" y="1459170"/>
                  </a:lnTo>
                  <a:cubicBezTo>
                    <a:pt x="22735" y="1459170"/>
                    <a:pt x="0" y="1436436"/>
                    <a:pt x="0" y="1408391"/>
                  </a:cubicBezTo>
                  <a:lnTo>
                    <a:pt x="0" y="50780"/>
                  </a:lnTo>
                  <a:cubicBezTo>
                    <a:pt x="0" y="22735"/>
                    <a:pt x="22735" y="0"/>
                    <a:pt x="5078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5" name="TextBox 8 copy2005"/>
            <p:cNvSpPr txBox="1"/>
            <p:nvPr/>
          </p:nvSpPr>
          <p:spPr>
            <a:xfrm>
              <a:off x="0" y="-85725"/>
              <a:ext cx="1378656" cy="1544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06" name="TextBox 9 copy2006"/>
          <p:cNvSpPr txBox="1"/>
          <p:nvPr/>
        </p:nvSpPr>
        <p:spPr>
          <a:xfrm>
            <a:off x="1506567" y="6700000"/>
            <a:ext cx="15000000" cy="7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 you can't tell when you're ready</a:t>
            </a:r>
          </a:p>
        </p:txBody>
      </p:sp>
      <p:sp>
        <p:nvSpPr>
          <p:cNvPr id="2007" name="TextBox 10 copy2007"/>
          <p:cNvSpPr txBox="1"/>
          <p:nvPr/>
        </p:nvSpPr>
        <p:spPr>
          <a:xfrm>
            <a:off x="1506567" y="7600000"/>
            <a:ext cx="15000000" cy="374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“Teams without evals face weeks of testing while competitors with evals can quickly determine the model's strengths, tune their prompts, and upgrade in days.” Anthropic Engineering. Internal example: ~2.5 months from first agent version to a confident “this works.”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8039951" y="-2113930"/>
            <a:ext cx="22707876" cy="18563688"/>
          </a:xfrm>
          <a:custGeom>
            <a:avLst/>
            <a:gdLst/>
            <a:ahLst/>
            <a:cxnLst/>
            <a:rect l="l" t="t" r="r" b="b"/>
            <a:pathLst>
              <a:path w="22707876" h="18563688">
                <a:moveTo>
                  <a:pt x="22707875" y="0"/>
                </a:moveTo>
                <a:lnTo>
                  <a:pt x="0" y="0"/>
                </a:lnTo>
                <a:lnTo>
                  <a:pt x="0" y="18563688"/>
                </a:lnTo>
                <a:lnTo>
                  <a:pt x="22707875" y="18563688"/>
                </a:lnTo>
                <a:lnTo>
                  <a:pt x="2270787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076549" y="1285038"/>
            <a:ext cx="5182751" cy="3821209"/>
            <a:chOff x="0" y="0"/>
            <a:chExt cx="918941" cy="6775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8941" cy="677529"/>
            </a:xfrm>
            <a:custGeom>
              <a:avLst/>
              <a:gdLst/>
              <a:ahLst/>
              <a:cxnLst/>
              <a:rect l="l" t="t" r="r" b="b"/>
              <a:pathLst>
                <a:path w="918941" h="677529">
                  <a:moveTo>
                    <a:pt x="76183" y="0"/>
                  </a:moveTo>
                  <a:lnTo>
                    <a:pt x="842758" y="0"/>
                  </a:lnTo>
                  <a:cubicBezTo>
                    <a:pt x="884833" y="0"/>
                    <a:pt x="918941" y="34108"/>
                    <a:pt x="918941" y="76183"/>
                  </a:cubicBezTo>
                  <a:lnTo>
                    <a:pt x="918941" y="601346"/>
                  </a:lnTo>
                  <a:cubicBezTo>
                    <a:pt x="918941" y="643421"/>
                    <a:pt x="884833" y="677529"/>
                    <a:pt x="842758" y="677529"/>
                  </a:cubicBezTo>
                  <a:lnTo>
                    <a:pt x="76183" y="677529"/>
                  </a:lnTo>
                  <a:cubicBezTo>
                    <a:pt x="34108" y="677529"/>
                    <a:pt x="0" y="643421"/>
                    <a:pt x="0" y="601346"/>
                  </a:cubicBezTo>
                  <a:lnTo>
                    <a:pt x="0" y="76183"/>
                  </a:lnTo>
                  <a:cubicBezTo>
                    <a:pt x="0" y="34108"/>
                    <a:pt x="34108" y="0"/>
                    <a:pt x="76183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918941" cy="763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8151495"/>
            <a:ext cx="5823238" cy="110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 You Build It Yourself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75862" y="2055869"/>
            <a:ext cx="3984125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curation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13549"/>
            <a:ext cx="11675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Tricentis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6943" y="413549"/>
            <a:ext cx="4023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47981" y="413549"/>
            <a:ext cx="1192039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AgentScore Intro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076549" y="5437091"/>
            <a:ext cx="5182751" cy="3821209"/>
            <a:chOff x="0" y="0"/>
            <a:chExt cx="918941" cy="6775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8941" cy="677529"/>
            </a:xfrm>
            <a:custGeom>
              <a:avLst/>
              <a:gdLst/>
              <a:ahLst/>
              <a:cxnLst/>
              <a:rect l="l" t="t" r="r" b="b"/>
              <a:pathLst>
                <a:path w="918941" h="677529">
                  <a:moveTo>
                    <a:pt x="76183" y="0"/>
                  </a:moveTo>
                  <a:lnTo>
                    <a:pt x="842758" y="0"/>
                  </a:lnTo>
                  <a:cubicBezTo>
                    <a:pt x="884833" y="0"/>
                    <a:pt x="918941" y="34108"/>
                    <a:pt x="918941" y="76183"/>
                  </a:cubicBezTo>
                  <a:lnTo>
                    <a:pt x="918941" y="601346"/>
                  </a:lnTo>
                  <a:cubicBezTo>
                    <a:pt x="918941" y="643421"/>
                    <a:pt x="884833" y="677529"/>
                    <a:pt x="842758" y="677529"/>
                  </a:cubicBezTo>
                  <a:lnTo>
                    <a:pt x="76183" y="677529"/>
                  </a:lnTo>
                  <a:cubicBezTo>
                    <a:pt x="34108" y="677529"/>
                    <a:pt x="0" y="643421"/>
                    <a:pt x="0" y="601346"/>
                  </a:cubicBezTo>
                  <a:lnTo>
                    <a:pt x="0" y="76183"/>
                  </a:lnTo>
                  <a:cubicBezTo>
                    <a:pt x="0" y="34108"/>
                    <a:pt x="34108" y="0"/>
                    <a:pt x="76183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918941" cy="763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975862" y="6207922"/>
            <a:ext cx="3984125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Ongoing upkeep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956605" y="1285038"/>
            <a:ext cx="5182751" cy="3821209"/>
            <a:chOff x="0" y="0"/>
            <a:chExt cx="918941" cy="6775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8941" cy="677529"/>
            </a:xfrm>
            <a:custGeom>
              <a:avLst/>
              <a:gdLst/>
              <a:ahLst/>
              <a:cxnLst/>
              <a:rect l="l" t="t" r="r" b="b"/>
              <a:pathLst>
                <a:path w="918941" h="677529">
                  <a:moveTo>
                    <a:pt x="76183" y="0"/>
                  </a:moveTo>
                  <a:lnTo>
                    <a:pt x="842758" y="0"/>
                  </a:lnTo>
                  <a:cubicBezTo>
                    <a:pt x="884833" y="0"/>
                    <a:pt x="918941" y="34108"/>
                    <a:pt x="918941" y="76183"/>
                  </a:cubicBezTo>
                  <a:lnTo>
                    <a:pt x="918941" y="601346"/>
                  </a:lnTo>
                  <a:cubicBezTo>
                    <a:pt x="918941" y="643421"/>
                    <a:pt x="884833" y="677529"/>
                    <a:pt x="842758" y="677529"/>
                  </a:cubicBezTo>
                  <a:lnTo>
                    <a:pt x="76183" y="677529"/>
                  </a:lnTo>
                  <a:cubicBezTo>
                    <a:pt x="34108" y="677529"/>
                    <a:pt x="0" y="643421"/>
                    <a:pt x="0" y="601346"/>
                  </a:cubicBezTo>
                  <a:lnTo>
                    <a:pt x="0" y="76183"/>
                  </a:lnTo>
                  <a:cubicBezTo>
                    <a:pt x="0" y="34108"/>
                    <a:pt x="34108" y="0"/>
                    <a:pt x="76183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918941" cy="763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855918" y="2055869"/>
            <a:ext cx="4584125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Instrumentation choices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55918" y="2674314"/>
            <a:ext cx="3984125" cy="150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Deciding what to measure, and how, before a single eval ever runs.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75862" y="2674314"/>
            <a:ext cx="3984125" cy="150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Labeled examples, golden sets, judge calibration — built and maintained by hand.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75862" y="6824507"/>
            <a:ext cx="3984125" cy="150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new agent, framework, or model version means redoing the work.</a:t>
            </a:r>
          </a:p>
        </p:txBody>
      </p:sp>
      <p:pic>
        <p:nvPicPr>
          <p:cNvPr id="22" name="Icon 22"/>
          <p:cNvPicPr/>
          <p:nvPr/>
        </p:nvPicPr>
        <p:blipFill>
          <a:blip r:embed="rId3"/>
          <a:stretch>
            <a:fillRect/>
          </a:stretch>
        </p:blipFill>
        <p:spPr>
          <a:xfrm>
            <a:off x="6255918" y="2135111"/>
            <a:ext cx="420000" cy="420000"/>
          </a:xfrm>
          <a:prstGeom prst="rect">
            <a:avLst/>
          </a:prstGeom>
        </p:spPr>
      </p:pic>
      <p:pic>
        <p:nvPicPr>
          <p:cNvPr id="23" name="Icon 23"/>
          <p:cNvPicPr/>
          <p:nvPr/>
        </p:nvPicPr>
        <p:blipFill>
          <a:blip r:embed="rId4"/>
          <a:stretch>
            <a:fillRect/>
          </a:stretch>
        </p:blipFill>
        <p:spPr>
          <a:xfrm>
            <a:off x="12375862" y="2135111"/>
            <a:ext cx="420000" cy="420000"/>
          </a:xfrm>
          <a:prstGeom prst="rect">
            <a:avLst/>
          </a:prstGeom>
        </p:spPr>
      </p:pic>
      <p:pic>
        <p:nvPicPr>
          <p:cNvPr id="24" name="Icon 24"/>
          <p:cNvPicPr/>
          <p:nvPr/>
        </p:nvPicPr>
        <p:blipFill>
          <a:blip r:embed="rId5"/>
          <a:stretch>
            <a:fillRect/>
          </a:stretch>
        </p:blipFill>
        <p:spPr>
          <a:xfrm>
            <a:off x="12375862" y="6287164"/>
            <a:ext cx="420000" cy="420000"/>
          </a:xfrm>
          <a:prstGeom prst="rect">
            <a:avLst/>
          </a:prstGeom>
        </p:spPr>
      </p:pic>
      <p:sp>
        <p:nvSpPr>
          <p:cNvPr id="2008" name="TextBox 6 copy2008"/>
          <p:cNvSpPr txBox="1"/>
          <p:nvPr/>
        </p:nvSpPr>
        <p:spPr>
          <a:xfrm>
            <a:off x="1028700" y="1285038"/>
            <a:ext cx="4600000" cy="110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3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Fear leads to ship paralysis</a:t>
            </a:r>
          </a:p>
        </p:txBody>
      </p:sp>
      <p:sp>
        <p:nvSpPr>
          <p:cNvPr id="2009" name="TextBox 19 copy2009"/>
          <p:cNvSpPr txBox="1"/>
          <p:nvPr/>
        </p:nvSpPr>
        <p:spPr>
          <a:xfrm>
            <a:off x="1028700" y="3000000"/>
            <a:ext cx="4600000" cy="150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teams don't know what to test, how to test it, or whether it's enough. Other tools say go learn to be a data scientist.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601520" y="-4700724"/>
            <a:ext cx="13260440" cy="12299058"/>
          </a:xfrm>
          <a:custGeom>
            <a:avLst/>
            <a:gdLst/>
            <a:ahLst/>
            <a:cxnLst/>
            <a:rect l="l" t="t" r="r" b="b"/>
            <a:pathLst>
              <a:path w="13260440" h="12299058">
                <a:moveTo>
                  <a:pt x="0" y="0"/>
                </a:moveTo>
                <a:lnTo>
                  <a:pt x="13260440" y="0"/>
                </a:lnTo>
                <a:lnTo>
                  <a:pt x="13260440" y="12299058"/>
                </a:lnTo>
                <a:lnTo>
                  <a:pt x="0" y="12299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7062711" y="0"/>
            <a:ext cx="0" cy="8030469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6924805" y="1573678"/>
            <a:ext cx="275812" cy="27581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7062711" y="1711584"/>
            <a:ext cx="197819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6924805" y="3679973"/>
            <a:ext cx="275812" cy="27581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7062711" y="3817879"/>
            <a:ext cx="197819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6924805" y="5786268"/>
            <a:ext cx="275812" cy="27581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7062711" y="5924174"/>
            <a:ext cx="197819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28700" y="5233035"/>
            <a:ext cx="5005311" cy="110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AgentScore 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4000" y="1353555"/>
            <a:ext cx="7767740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Trace In, Zero Setup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0" y="1846315"/>
            <a:ext cx="776774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 agent, any vendor, any framework. AgentScore picks the right evals from 40+ for you.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413549"/>
            <a:ext cx="11675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Tricentis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856943" y="413549"/>
            <a:ext cx="4023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47981" y="413549"/>
            <a:ext cx="1192039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AgentScore Intro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6654115"/>
            <a:ext cx="5005311" cy="3004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Point it at a trace, get back a defensible answer.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Easy to start, with smart defaults that work for most teams.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(We'll walk through this live, end to end, in a moment.)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44000" y="3459850"/>
            <a:ext cx="7767740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0–100 Score + Verdict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44000" y="3952610"/>
            <a:ext cx="776774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ship / warn / block call that answers “can this go to production?”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44000" y="5566145"/>
            <a:ext cx="7767740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Root-Cause Attribution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0" y="6058905"/>
            <a:ext cx="776774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 to the span, with a suggested fix.</a:t>
            </a:r>
          </a:p>
        </p:txBody>
      </p:sp>
      <p:grpSp>
        <p:nvGrpSpPr>
          <p:cNvPr id="2010" name="Group 12 copy2010"/>
          <p:cNvGrpSpPr/>
          <p:nvPr/>
        </p:nvGrpSpPr>
        <p:grpSpPr>
          <a:xfrm>
            <a:off x="6924805" y="7892563"/>
            <a:ext cx="275812" cy="275812"/>
            <a:chOff x="0" y="0"/>
            <a:chExt cx="812800" cy="812800"/>
          </a:xfrm>
        </p:grpSpPr>
        <p:sp>
          <p:nvSpPr>
            <p:cNvPr id="2011" name="Freeform 13 copy20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12" name="TextBox 14 copy20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2013" name="AutoShape 15 copy2013"/>
          <p:cNvSpPr/>
          <p:nvPr/>
        </p:nvSpPr>
        <p:spPr>
          <a:xfrm>
            <a:off x="7062711" y="8030469"/>
            <a:ext cx="197819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14" name="TextBox 29 copy2014"/>
          <p:cNvSpPr txBox="1"/>
          <p:nvPr/>
        </p:nvSpPr>
        <p:spPr>
          <a:xfrm>
            <a:off x="9144000" y="7672440"/>
            <a:ext cx="7767740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Tiered Evidence Model</a:t>
            </a:r>
          </a:p>
        </p:txBody>
      </p:sp>
      <p:sp>
        <p:nvSpPr>
          <p:cNvPr id="2015" name="TextBox 30 copy2015"/>
          <p:cNvSpPr txBox="1"/>
          <p:nvPr/>
        </p:nvSpPr>
        <p:spPr>
          <a:xfrm>
            <a:off x="9144000" y="8165200"/>
            <a:ext cx="776774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Deterministic checks, a judge with confidence intervals, golden-dataset back-testing. Audit-ready, not a black box.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32198" y="-3730350"/>
            <a:ext cx="20787936" cy="17747701"/>
          </a:xfrm>
          <a:custGeom>
            <a:avLst/>
            <a:gdLst/>
            <a:ahLst/>
            <a:cxnLst/>
            <a:rect l="l" t="t" r="r" b="b"/>
            <a:pathLst>
              <a:path w="20787936" h="17747701">
                <a:moveTo>
                  <a:pt x="0" y="0"/>
                </a:moveTo>
                <a:lnTo>
                  <a:pt x="20787936" y="0"/>
                </a:lnTo>
                <a:lnTo>
                  <a:pt x="20787936" y="17747700"/>
                </a:lnTo>
                <a:lnTo>
                  <a:pt x="0" y="177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195517"/>
            <a:ext cx="7780774" cy="4114800"/>
            <a:chOff x="0" y="0"/>
            <a:chExt cx="1379590" cy="7295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1379590" cy="815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5665631"/>
            <a:ext cx="7780774" cy="4114800"/>
            <a:chOff x="0" y="0"/>
            <a:chExt cx="1379590" cy="7295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1379590" cy="815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8526" y="1195517"/>
            <a:ext cx="7780774" cy="4114800"/>
            <a:chOff x="0" y="0"/>
            <a:chExt cx="1379590" cy="7295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1379590" cy="815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78526" y="5665631"/>
            <a:ext cx="7780774" cy="4114800"/>
            <a:chOff x="0" y="0"/>
            <a:chExt cx="1379590" cy="7295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79590" cy="729585"/>
            </a:xfrm>
            <a:custGeom>
              <a:avLst/>
              <a:gdLst/>
              <a:ahLst/>
              <a:cxnLst/>
              <a:rect l="l" t="t" r="r" b="b"/>
              <a:pathLst>
                <a:path w="1379590" h="729585">
                  <a:moveTo>
                    <a:pt x="50745" y="0"/>
                  </a:moveTo>
                  <a:lnTo>
                    <a:pt x="1328845" y="0"/>
                  </a:lnTo>
                  <a:cubicBezTo>
                    <a:pt x="1356871" y="0"/>
                    <a:pt x="1379590" y="22719"/>
                    <a:pt x="1379590" y="50745"/>
                  </a:cubicBezTo>
                  <a:lnTo>
                    <a:pt x="1379590" y="678840"/>
                  </a:lnTo>
                  <a:cubicBezTo>
                    <a:pt x="1379590" y="706866"/>
                    <a:pt x="1356871" y="729585"/>
                    <a:pt x="1328845" y="729585"/>
                  </a:cubicBezTo>
                  <a:lnTo>
                    <a:pt x="50745" y="729585"/>
                  </a:lnTo>
                  <a:cubicBezTo>
                    <a:pt x="22719" y="729585"/>
                    <a:pt x="0" y="706866"/>
                    <a:pt x="0" y="678840"/>
                  </a:cubicBezTo>
                  <a:lnTo>
                    <a:pt x="0" y="50745"/>
                  </a:lnTo>
                  <a:cubicBezTo>
                    <a:pt x="0" y="22719"/>
                    <a:pt x="22719" y="0"/>
                    <a:pt x="507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1379590" cy="815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71013" y="1578105"/>
            <a:ext cx="6296148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 in days, not weeks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1013" y="2104520"/>
            <a:ext cx="6296148" cy="26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 when you're ready, instead of running on vibes. Teams with evals upgrade in days. Teams without face weeks of testing.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520839" y="1578105"/>
            <a:ext cx="6296148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defensible verdict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20839" y="2104520"/>
            <a:ext cx="6296148" cy="26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Replaces “seems fine to me” with one ship / warn / block call leadership can act on, on one yardstick across every team.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520839" y="6048218"/>
            <a:ext cx="6296148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AI team required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20839" y="6574633"/>
            <a:ext cx="6296148" cy="26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Zero-setup profiling gives rigorous coverage without in-house eval expertise.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71013" y="6048218"/>
            <a:ext cx="6296148" cy="578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fix, not just a flag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71013" y="6574633"/>
            <a:ext cx="6296148" cy="263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Root-cause attribution down to the span. Turns debugging into a fix, not a re-run.</a:t>
            </a: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1" indent="0" algn="just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8700" y="413549"/>
            <a:ext cx="11675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Tricentis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856943" y="413549"/>
            <a:ext cx="4023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47981" y="413549"/>
            <a:ext cx="1192039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AgentScore Intro</a:t>
            </a:r>
          </a:p>
        </p:txBody>
      </p:sp>
      <p:pic>
        <p:nvPicPr>
          <p:cNvPr id="26" name="Icon 26"/>
          <p:cNvPicPr/>
          <p:nvPr/>
        </p:nvPicPr>
        <p:blipFill>
          <a:blip r:embed="rId3"/>
          <a:stretch>
            <a:fillRect/>
          </a:stretch>
        </p:blipFill>
        <p:spPr>
          <a:xfrm>
            <a:off x="9920839" y="1657347"/>
            <a:ext cx="420000" cy="420000"/>
          </a:xfrm>
          <a:prstGeom prst="rect">
            <a:avLst/>
          </a:prstGeom>
        </p:spPr>
      </p:pic>
      <p:pic>
        <p:nvPicPr>
          <p:cNvPr id="27" name="Icon 27"/>
          <p:cNvPicPr/>
          <p:nvPr/>
        </p:nvPicPr>
        <p:blipFill>
          <a:blip r:embed="rId4"/>
          <a:stretch>
            <a:fillRect/>
          </a:stretch>
        </p:blipFill>
        <p:spPr>
          <a:xfrm>
            <a:off x="1471013" y="1657347"/>
            <a:ext cx="420000" cy="420000"/>
          </a:xfrm>
          <a:prstGeom prst="rect">
            <a:avLst/>
          </a:prstGeom>
        </p:spPr>
      </p:pic>
      <p:pic>
        <p:nvPicPr>
          <p:cNvPr id="28" name="Icon 28"/>
          <p:cNvPicPr/>
          <p:nvPr/>
        </p:nvPicPr>
        <p:blipFill>
          <a:blip r:embed="rId5"/>
          <a:stretch>
            <a:fillRect/>
          </a:stretch>
        </p:blipFill>
        <p:spPr>
          <a:xfrm>
            <a:off x="1471013" y="6127460"/>
            <a:ext cx="420000" cy="420000"/>
          </a:xfrm>
          <a:prstGeom prst="rect">
            <a:avLst/>
          </a:prstGeom>
        </p:spPr>
      </p:pic>
      <p:pic>
        <p:nvPicPr>
          <p:cNvPr id="29" name="Icon 29"/>
          <p:cNvPicPr/>
          <p:nvPr/>
        </p:nvPicPr>
        <p:blipFill>
          <a:blip r:embed="rId6"/>
          <a:stretch>
            <a:fillRect/>
          </a:stretch>
        </p:blipFill>
        <p:spPr>
          <a:xfrm>
            <a:off x="9920839" y="6127460"/>
            <a:ext cx="420000" cy="4200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400245" y="-8263700"/>
            <a:ext cx="32800490" cy="26814401"/>
          </a:xfrm>
          <a:custGeom>
            <a:avLst/>
            <a:gdLst/>
            <a:ahLst/>
            <a:cxnLst/>
            <a:rect l="l" t="t" r="r" b="b"/>
            <a:pathLst>
              <a:path w="32800490" h="26814401">
                <a:moveTo>
                  <a:pt x="0" y="0"/>
                </a:moveTo>
                <a:lnTo>
                  <a:pt x="32800490" y="0"/>
                </a:lnTo>
                <a:lnTo>
                  <a:pt x="32800490" y="26814400"/>
                </a:lnTo>
                <a:lnTo>
                  <a:pt x="0" y="268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501893"/>
            <a:ext cx="16230600" cy="2297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94"/>
              </a:lnSpc>
              <a:spcBef>
                <a:spcPct val="0"/>
              </a:spcBef>
            </a:pPr>
            <a:r>
              <a:rPr lang="en-US" sz="15094" b="1" spc="-6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let's see it work.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13549"/>
            <a:ext cx="11675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Tricentis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56943" y="413549"/>
            <a:ext cx="402357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47981" y="413549"/>
            <a:ext cx="1192039" cy="21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 b="1" spc="-5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AgentScore Intro</a:t>
            </a:r>
          </a:p>
        </p:txBody>
      </p:sp>
      <p:sp>
        <p:nvSpPr>
          <p:cNvPr id="2016" name="TextBox 3 copy2016"/>
          <p:cNvSpPr txBox="1"/>
          <p:nvPr/>
        </p:nvSpPr>
        <p:spPr>
          <a:xfrm>
            <a:off x="1028700" y="3900000"/>
            <a:ext cx="16230600" cy="7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94"/>
              </a:lnSpc>
              <a:spcBef>
                <a:spcPct val="0"/>
              </a:spcBef>
            </a:pPr>
            <a:r>
              <a:rPr lang="en-US" sz="3200" b="1" spc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it needs is a trace.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Macintosh PowerPoint</Application>
  <PresentationFormat>Custom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Gradient Minimalist Business Slides</dc:title>
  <cp:lastModifiedBy>Andrew Demers</cp:lastModifiedBy>
  <cp:revision>2</cp:revision>
  <dcterms:created xsi:type="dcterms:W3CDTF">2006-08-16T00:00:00Z</dcterms:created>
  <dcterms:modified xsi:type="dcterms:W3CDTF">2026-09-25T19:13:43Z</dcterms:modified>
  <dc:identifier>DAHWNirH3tk</dc:identifier>
</cp:coreProperties>
</file>