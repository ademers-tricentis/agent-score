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9cdeb1ddbd84fd9" /><Relationship Type="http://schemas.openxmlformats.org/package/2006/relationships/metadata/core-properties" Target="/docProps/core.xml" Id="R40f4cfcee7654b1e" /><Relationship Type="http://schemas.openxmlformats.org/officeDocument/2006/relationships/extended-properties" Target="/docProps/app.xml" Id="R9dc8a9a4e24148fa" /><Relationship Type="http://schemas.openxmlformats.org/officeDocument/2006/relationships/custom-properties" Target="/docProps/custom.xml" Id="R1889219c56ee422f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a585268f928f4fe3"/>
  </p:notesMasterIdLst>
  <p:sldIdLst>
    <p:sldId id="256" r:id="R641b4ca3501c4595"/>
    <p:sldId id="257" r:id="R0fe91da1153049da"/>
    <p:sldId id="258" r:id="Rc98e10fbb3fe4cbf"/>
    <p:sldId id="259" r:id="R9baa6d7603de4cd2"/>
    <p:sldId id="260" r:id="Rc0bcb611a5114215"/>
    <p:sldId id="261" r:id="Rfe620f4ec5d94c20"/>
    <p:sldId id="262" r:id="Rdbba9b7f9c8448d5"/>
    <p:sldId id="263" r:id="Rd3b5c461c2fb4d60"/>
    <p:sldId id="264" r:id="R152c95909ee040ce"/>
    <p:sldId id="265" r:id="R3032deead83244f9"/>
    <p:sldId id="266" r:id="Rd34caf45776643a6"/>
    <p:sldId id="267" r:id="Rc43c7c5318b3445e"/>
    <p:sldId id="268" r:id="Re3db0ec4381b410c"/>
    <p:sldId id="269" r:id="Rd01fd32c333c43bf"/>
    <p:sldId id="270" r:id="R8e79ec5986e847b6"/>
    <p:sldId id="271" r:id="R9c83021fe2c349e8"/>
    <p:sldId id="280" r:id="R7f30af9c58fb4414"/>
    <p:sldId id="272" r:id="R0030cf1b103e4a34"/>
    <p:sldId id="273" r:id="Rbfbdc9056a34476f"/>
    <p:sldId id="274" r:id="R46e5eed5f4a84310"/>
    <p:sldId id="275" r:id="R61c8354f7cbe4d52"/>
    <p:sldId id="276" r:id="Rd2cb1d28c2744a57"/>
    <p:sldId id="277" r:id="R071438882f224e30"/>
    <p:sldId id="281" r:id="R2ed544d5eda74e04"/>
    <p:sldId id="278" r:id="Rac570765a8784433"/>
    <p:sldId id="279" r:id="R70cd28c926b5492d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641b4ca3501c4595" /><Relationship Type="http://schemas.openxmlformats.org/officeDocument/2006/relationships/notesMaster" Target="/ppt/notesMasters/notesMaster1.xml" Id="Ra585268f928f4fe3" /><Relationship Type="http://schemas.openxmlformats.org/officeDocument/2006/relationships/slide" Target="/ppt/slides/slide2.xml" Id="R0fe91da1153049da" /><Relationship Type="http://schemas.openxmlformats.org/officeDocument/2006/relationships/slide" Target="/ppt/slides/slide3.xml" Id="Rc98e10fbb3fe4cbf" /><Relationship Type="http://schemas.openxmlformats.org/officeDocument/2006/relationships/slide" Target="/ppt/slides/slide4.xml" Id="R9baa6d7603de4cd2" /><Relationship Type="http://schemas.openxmlformats.org/officeDocument/2006/relationships/slide" Target="/ppt/slides/slide5.xml" Id="Rc0bcb611a5114215" /><Relationship Type="http://schemas.openxmlformats.org/officeDocument/2006/relationships/slide" Target="/ppt/slides/slide6.xml" Id="Rfe620f4ec5d94c20" /><Relationship Type="http://schemas.openxmlformats.org/officeDocument/2006/relationships/slide" Target="/ppt/slides/slide7.xml" Id="Rdbba9b7f9c8448d5" /><Relationship Type="http://schemas.openxmlformats.org/officeDocument/2006/relationships/slide" Target="/ppt/slides/slide8.xml" Id="Rd3b5c461c2fb4d60" /><Relationship Type="http://schemas.openxmlformats.org/officeDocument/2006/relationships/slide" Target="/ppt/slides/slide9.xml" Id="R152c95909ee040ce" /><Relationship Type="http://schemas.openxmlformats.org/officeDocument/2006/relationships/slide" Target="/ppt/slides/slide10.xml" Id="R3032deead83244f9" /><Relationship Type="http://schemas.openxmlformats.org/officeDocument/2006/relationships/slide" Target="/ppt/slides/slide11.xml" Id="Rd34caf45776643a6" /><Relationship Type="http://schemas.openxmlformats.org/officeDocument/2006/relationships/slide" Target="/ppt/slides/slide12.xml" Id="Rc43c7c5318b3445e" /><Relationship Type="http://schemas.openxmlformats.org/officeDocument/2006/relationships/slide" Target="/ppt/slides/slide13.xml" Id="Re3db0ec4381b410c" /><Relationship Type="http://schemas.openxmlformats.org/officeDocument/2006/relationships/slide" Target="/ppt/slides/slide14.xml" Id="Rd01fd32c333c43bf" /><Relationship Type="http://schemas.openxmlformats.org/officeDocument/2006/relationships/slide" Target="/ppt/slides/slide15.xml" Id="R8e79ec5986e847b6" /><Relationship Type="http://schemas.openxmlformats.org/officeDocument/2006/relationships/slide" Target="/ppt/slides/slide16.xml" Id="R9c83021fe2c349e8" /><Relationship Type="http://schemas.openxmlformats.org/officeDocument/2006/relationships/slide" Target="/ppt/slides/slide17.xml" Id="R0030cf1b103e4a34" /><Relationship Type="http://schemas.openxmlformats.org/officeDocument/2006/relationships/slide" Target="/ppt/slides/slide18.xml" Id="Rbfbdc9056a34476f" /><Relationship Type="http://schemas.openxmlformats.org/officeDocument/2006/relationships/slide" Target="/ppt/slides/slide19.xml" Id="R46e5eed5f4a84310" /><Relationship Type="http://schemas.openxmlformats.org/officeDocument/2006/relationships/slide" Target="/ppt/slides/slide20.xml" Id="R61c8354f7cbe4d52" /><Relationship Type="http://schemas.openxmlformats.org/officeDocument/2006/relationships/slide" Target="/ppt/slides/slide21.xml" Id="Rd2cb1d28c2744a57" /><Relationship Type="http://schemas.openxmlformats.org/officeDocument/2006/relationships/slide" Target="/ppt/slides/slide22.xml" Id="R071438882f224e30" /><Relationship Type="http://schemas.openxmlformats.org/officeDocument/2006/relationships/slide" Target="/ppt/slides/slide23.xml" Id="Rac570765a8784433" /><Relationship Type="http://schemas.openxmlformats.org/officeDocument/2006/relationships/slide" Target="/ppt/slides/slide24.xml" Id="R70cd28c926b5492d" /><Relationship Type="http://schemas.openxmlformats.org/officeDocument/2006/relationships/slide" Target="/ppt/slides/slide25.xml" Id="R7f30af9c58fb4414" /><Relationship Type="http://schemas.openxmlformats.org/officeDocument/2006/relationships/slide" Target="/ppt/slides/slide26.xml" Id="R2ed544d5eda74e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a434949865f49d0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ae51e5dd58c4e76" /><Relationship Type="http://schemas.openxmlformats.org/officeDocument/2006/relationships/slide" Target="/ppt/slides/slide1.xml" Id="R937bf05b64a74a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aab79d8723849b0" /><Relationship Type="http://schemas.openxmlformats.org/officeDocument/2006/relationships/slide" Target="/ppt/slides/slide2.xml" Id="Rb028d320f1364c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404f806e6c64397" /><Relationship Type="http://schemas.openxmlformats.org/officeDocument/2006/relationships/slide" Target="/ppt/slides/slide3.xml" Id="Rdb89c86156ab4b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2380f2f45a34b6f" /><Relationship Type="http://schemas.openxmlformats.org/officeDocument/2006/relationships/slide" Target="/ppt/slides/slide4.xml" Id="R3a0637b81a5d43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5a4dfe09131492b" /><Relationship Type="http://schemas.openxmlformats.org/officeDocument/2006/relationships/slide" Target="/ppt/slides/slide5.xml" Id="Rd27cb3db60a245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1d061e9721549ae" /><Relationship Type="http://schemas.openxmlformats.org/officeDocument/2006/relationships/slide" Target="/ppt/slides/slide6.xml" Id="Rb37471ed9f634e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4081ca00d1d4404" /><Relationship Type="http://schemas.openxmlformats.org/officeDocument/2006/relationships/slide" Target="/ppt/slides/slide7.xml" Id="R8755d02ba29449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755e51c75884345" /><Relationship Type="http://schemas.openxmlformats.org/officeDocument/2006/relationships/slide" Target="/ppt/slides/slide8.xml" Id="Ra955bc2621c647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066a001cfb0485e" /><Relationship Type="http://schemas.openxmlformats.org/officeDocument/2006/relationships/slide" Target="/ppt/slides/slide9.xml" Id="Rd434039522bc4e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9d1994b1bd04df9" /><Relationship Type="http://schemas.openxmlformats.org/officeDocument/2006/relationships/slide" Target="/ppt/slides/slide10.xml" Id="Rcf8823830ed2460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3275bf165df4ace" /><Relationship Type="http://schemas.openxmlformats.org/officeDocument/2006/relationships/slide" Target="/ppt/slides/slide11.xml" Id="Ra5a36197bb9945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afc3a4d09ae4523" /><Relationship Type="http://schemas.openxmlformats.org/officeDocument/2006/relationships/slide" Target="/ppt/slides/slide12.xml" Id="R48c32dd6e6da4fc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a14565c77dc4288" /><Relationship Type="http://schemas.openxmlformats.org/officeDocument/2006/relationships/slide" Target="/ppt/slides/slide13.xml" Id="R69859cf476fe49b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f1a299605e24625" /><Relationship Type="http://schemas.openxmlformats.org/officeDocument/2006/relationships/slide" Target="/ppt/slides/slide14.xml" Id="R331ec8af4f3f45b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b5a378b378c43d8" /><Relationship Type="http://schemas.openxmlformats.org/officeDocument/2006/relationships/slide" Target="/ppt/slides/slide15.xml" Id="R10966c2a6c404e3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ac91927dc0b488c" /><Relationship Type="http://schemas.openxmlformats.org/officeDocument/2006/relationships/slide" Target="/ppt/slides/slide16.xml" Id="Ra6b109c74792489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c784e5b46cb49ce" /><Relationship Type="http://schemas.openxmlformats.org/officeDocument/2006/relationships/slide" Target="/ppt/slides/slide17.xml" Id="R012203587c9a438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e974a0da5554237" /><Relationship Type="http://schemas.openxmlformats.org/officeDocument/2006/relationships/slide" Target="/ppt/slides/slide18.xml" Id="R0df442e3ef7b4a1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fe90bf3ec414017" /><Relationship Type="http://schemas.openxmlformats.org/officeDocument/2006/relationships/slide" Target="/ppt/slides/slide19.xml" Id="R201666480973497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facc1891b3140d0" /><Relationship Type="http://schemas.openxmlformats.org/officeDocument/2006/relationships/slide" Target="/ppt/slides/slide20.xml" Id="Rda102e00e4b0420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80282ab74fe4992" /><Relationship Type="http://schemas.openxmlformats.org/officeDocument/2006/relationships/slide" Target="/ppt/slides/slide21.xml" Id="R6b5f9feea5e2454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0d8dc7f87ae4428" /><Relationship Type="http://schemas.openxmlformats.org/officeDocument/2006/relationships/slide" Target="/ppt/slides/slide22.xml" Id="R33413718a0204c7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66ec052bb424be9" /><Relationship Type="http://schemas.openxmlformats.org/officeDocument/2006/relationships/slide" Target="/ppt/slides/slide23.xml" Id="R496a3547d6a3434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a6d7c29361041d9" /><Relationship Type="http://schemas.openxmlformats.org/officeDocument/2006/relationships/slide" Target="/ppt/slides/slide24.xml" Id="R677d44b530e64f1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c3ecc40dfde4e97" /><Relationship Type="http://schemas.openxmlformats.org/officeDocument/2006/relationships/notesMaster" Target="/ppt/notesMasters/notesMaster1.xml" Id="Rd70080de6cd34fa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402fa406173450d" /><Relationship Type="http://schemas.openxmlformats.org/officeDocument/2006/relationships/notesMaster" Target="/ppt/notesMasters/notesMaster1.xml" Id="Ra8fa117737314129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deck sets the internal record on where AgentScore sits versus the agentic eval market, and what we do about the gaps. One message to leave with: AgentScore is the verdict layer competitors aren't building, not another observability dashboard.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is the single sentence we want leadership to remember. Everything else in the deck supports it: we don't ask teams to instrument, author tests, or label data. Traces go in over OTel, a defensible 0-100 score with evidence comes out.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Four camps, most with overlap: tracing-first platforms that bolt on evals, eval/scoring-first platforms built around judge models, simulation-first tools that generate synthetic users pre-prod, and AI TRiSM/runtime guardrail vendors that gate outputs rather than grade behavior. AgentScore doesn't sit cleanly in any one camp - that is the point of the next few slides.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Galileo leads with continuous production scoring and its own fast SLM judges; Braintrust leads with eval-as-verdict and CI integration. Both are credible, well-funded, and GA. Neither one starts from zero-setup automatic grading - you still choose instrumentation, curate datasets, or configure scorers before you get a number.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is the reference half of the table covering scoring and eval capability. The one row that matters most: zero-config/auto-profile is the single green check nobody else in the market has - every competitor here is a red X or partial.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is the second half of the reference table - enterprise readiness, deployment, and ecosystem reach. RBAC and SSO/SAML are red across the board for us while competitors are green at Enterprise tier - that gap is the subject of the next few slides.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is the headline differentiator. Every other product in the market asks a team to make an instrumentation choice, curate a dataset, or configure a scorer before they get a number. We don't ask for any of that - traces go in over OTel and grading starts automatically.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Dashboards ask a human to interpret a chart. We hand back one number, one verdict band, and the evidence behind it - it's built for someone who needs to decide whether to ship, not someone who wants to explore data.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is the technical proof point that's easiest to demo live: hand it a trace no LLM could read in one pass, and watch the orchestrator pull the 0.2% that actually matters instead of choking on the rest.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is the moat slide. Every other differentiator is a feature a well-funded competitor could eventually copy. This one they structurally cannot - they don't have a seat inside TAIS or AI Workspace.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is the gap that shows up most in the compare table - red on our column, green at Enterprise tier everywhere else. It's also the one most directly blocked on a dependency: Tosca SSO landing.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Nearly every serious competitor gives buyers a deployment choice. We give them one option, and it's gated behind a VPN. This is a real, multi-quarter infrastructure investment, not a toggle.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good news buried in this gap: the surface is reserved, not missing. Most of the remaining work is documentation, client generation, and auth scoping on capabilities we already have internally.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We only see traces that already happened - we can't manufacture the scenario a customer is worried about but hasn't hit yet. If the market decides testing and grading are one purchase, this is where we're exposed.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Galileo built a second, cheaper judge tier specifically to run inline at guardrail speed. Matching that isn't a tweak to our scorer - it's a different product decision, and not one we recommend chasing yet.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is the one gap that isn't about a missing feature - it's about finishing what's already built. The validation-gate redefinition is worth calling out directly in the room: it's a process issue we need to close out, not paper over.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is the load-bearing slide of the deck. Say the two things plainly: we're credible and differentiated on the core scoring loop, and we're not yet a market participant on the business side - no external customers, no enterprise auth, no public pricing. Both are true at once. The close of the second paragraph is the sentence that resolves the tension: we don't win a feature checklist, we win by being the grading layer no one else is, delivered where no one else can reach - inside TAIS.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is the go-to-market call: don't fight Langfuse or Braintrust on their turf. Lead with zero setup and the verdict layer framing, and make the large-trace demo and the 0-100 score the thing people remember.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Anyone can wire up an LLM-as-judge call. The value we add is deciding what deserves to be measured in the first place - that's the part of the eval taxonomy work that's actually hard to copy.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isn't a recommendation to build simulation now - it's a recommendation to make a deliberate call on it, one way or the other, rather than letting it sit as an open question while Arato, Patronus, and Maxim keep moving.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trap here is building conformance testing that already has capable free tools. The move is narrower and cheaper: label MCP spans we already ingest, then let the AIW hook do the differentiating work.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is the shortest recommendation and the least negotiable one. We can demo and run closed betas today, but none of that converts to a long-term engagement until these three are fixed.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int4 TrustGate isn't a rival today - it's bootstrapped, brand-new, and narrowly scoped to SAP write-transactions. But it's the first vendor to plant an “AI trust for SAP” flag inside accounts where Tricentis already sells Tosca, and it validates a business outcome (the SAP document) that our behavior-grading doesn't touch. Low urgency, but flag it for the Tosca/SAP GTM team so we're not the last to notice if enterprise buyers start expecting this.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Close on the same line we opened with, plus the positioning answer: we don't win a feature checklist against funded, GA competitors - we win by being the grading layer no one else is building, delivered where no one else can reach - inside TAIS.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Not every gap costs the same to close. RBAC, the read API/SDK, and maturity are mostly execution and packaging work once Tosca SSO lands. On-prem and simulation are real, buildable, multi-quarter investments. Runtime guardrails aren't worth chasing right now - it would mean building a second judge tier just to compete on a dimension that isn't our differentiator.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This closes the recommendations on the piece that's hardest to copy: not the attribution itself (Alyx and Percival already do that), but the end-to-end pipeline from zero-setup ingestion straight through to a fix recommendation. Land the line: we don't just tell you it's broken, we tell you how to fix it.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c29b9b68eb49b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286538fd6347e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e57ed9048941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100f93b7be46a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2d842ab411498e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6b7f949b61a474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2a54d39cf48f3" /><Relationship Type="http://schemas.openxmlformats.org/officeDocument/2006/relationships/notesSlide" Target="/ppt/notesSlides/notesSlide1.xml" Id="R55cfb87cf85d4d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8976d48bc4cdf" /><Relationship Type="http://schemas.openxmlformats.org/officeDocument/2006/relationships/notesSlide" Target="/ppt/notesSlides/notesSlide2.xml" Id="R49565fe99d2343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0cc7cfbc8421f" /><Relationship Type="http://schemas.openxmlformats.org/officeDocument/2006/relationships/notesSlide" Target="/ppt/notesSlides/notesSlide3.xml" Id="R98120df505ab4c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456ed54634a34" /><Relationship Type="http://schemas.openxmlformats.org/officeDocument/2006/relationships/notesSlide" Target="/ppt/notesSlides/notesSlide4.xml" Id="R62f4ab2f5a3249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e167b287349c7" /><Relationship Type="http://schemas.openxmlformats.org/officeDocument/2006/relationships/notesSlide" Target="/ppt/notesSlides/notesSlide5.xml" Id="R4577e5aa26ec4b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4b20b617c40d3" /><Relationship Type="http://schemas.openxmlformats.org/officeDocument/2006/relationships/notesSlide" Target="/ppt/notesSlides/notesSlide6.xml" Id="Rae55ba966e3046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956781fed4f67" /><Relationship Type="http://schemas.openxmlformats.org/officeDocument/2006/relationships/notesSlide" Target="/ppt/notesSlides/notesSlide7.xml" Id="R89129fddaa994e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ecd8d6e884746" /><Relationship Type="http://schemas.openxmlformats.org/officeDocument/2006/relationships/notesSlide" Target="/ppt/notesSlides/notesSlide8.xml" Id="Ra27aa1faa91a4e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51a0cf2f94431" /><Relationship Type="http://schemas.openxmlformats.org/officeDocument/2006/relationships/notesSlide" Target="/ppt/notesSlides/notesSlide9.xml" Id="Rc5a49da962df49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a3b8150084e1b" /><Relationship Type="http://schemas.openxmlformats.org/officeDocument/2006/relationships/notesSlide" Target="/ppt/notesSlides/notesSlide10.xml" Id="R1ed44fa7050446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b1182988542fd" /><Relationship Type="http://schemas.openxmlformats.org/officeDocument/2006/relationships/notesSlide" Target="/ppt/notesSlides/notesSlide11.xml" Id="Re18fd5fe10804dd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06b66f0134e6a" /><Relationship Type="http://schemas.openxmlformats.org/officeDocument/2006/relationships/notesSlide" Target="/ppt/notesSlides/notesSlide12.xml" Id="Re62af0affcdf49e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ed04c231d4ee5" /><Relationship Type="http://schemas.openxmlformats.org/officeDocument/2006/relationships/notesSlide" Target="/ppt/notesSlides/notesSlide13.xml" Id="Rc8f79c5bf9414d9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3270db79f4ad3" /><Relationship Type="http://schemas.openxmlformats.org/officeDocument/2006/relationships/notesSlide" Target="/ppt/notesSlides/notesSlide14.xml" Id="Ra22ddf6e5217481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2cca8d6d64aa2" /><Relationship Type="http://schemas.openxmlformats.org/officeDocument/2006/relationships/notesSlide" Target="/ppt/notesSlides/notesSlide15.xml" Id="R43078015167149b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f03aef2dd4589" /><Relationship Type="http://schemas.openxmlformats.org/officeDocument/2006/relationships/notesSlide" Target="/ppt/notesSlides/notesSlide16.xml" Id="R20b891cda6164cb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cf97d79924555" /><Relationship Type="http://schemas.openxmlformats.org/officeDocument/2006/relationships/notesSlide" Target="/ppt/notesSlides/notesSlide17.xml" Id="R289779d602004a9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ceb1ef5a5449c" /><Relationship Type="http://schemas.openxmlformats.org/officeDocument/2006/relationships/notesSlide" Target="/ppt/notesSlides/notesSlide18.xml" Id="Rd7acf8251af947a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76fce03f24ffb" /><Relationship Type="http://schemas.openxmlformats.org/officeDocument/2006/relationships/notesSlide" Target="/ppt/notesSlides/notesSlide19.xml" Id="R07c75ec0c02948e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3ba08e15044ed" /><Relationship Type="http://schemas.openxmlformats.org/officeDocument/2006/relationships/notesSlide" Target="/ppt/notesSlides/notesSlide20.xml" Id="R1939b2d0fd85442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82b0304f841c6" /><Relationship Type="http://schemas.openxmlformats.org/officeDocument/2006/relationships/notesSlide" Target="/ppt/notesSlides/notesSlide21.xml" Id="R0432d4c1a88f438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3a64c583747a9" /><Relationship Type="http://schemas.openxmlformats.org/officeDocument/2006/relationships/notesSlide" Target="/ppt/notesSlides/notesSlide22.xml" Id="Rfaed8a37a4f24e1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a7873a4e94bfb" /><Relationship Type="http://schemas.openxmlformats.org/officeDocument/2006/relationships/notesSlide" Target="/ppt/notesSlides/notesSlide23.xml" Id="R2278afbac1b3458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4897508a8433f" /><Relationship Type="http://schemas.openxmlformats.org/officeDocument/2006/relationships/notesSlide" Target="/ppt/notesSlides/notesSlide24.xml" Id="Rc6f67efe748749c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130c0efaa4e5c" /><Relationship Type="http://schemas.openxmlformats.org/officeDocument/2006/relationships/notesSlide" Target="/ppt/notesSlides/notesSlide25.xml" Id="R483fe22a56f04b4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a590f06b94c78" /><Relationship Type="http://schemas.openxmlformats.org/officeDocument/2006/relationships/notesSlide" Target="/ppt/notesSlides/notesSlide26.xml" Id="R2ae0cc53a0684dbf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212" name="MotifSolid1"/>
          <p:cNvSpPr/>
          <p:nvPr/>
        </p:nvSpPr>
        <p:spPr>
          <a:xfrm>
            <a:off x="468000" y="5220000"/>
            <a:ext cx="1872000" cy="1116000"/>
          </a:xfrm>
          <a:prstGeom prst="chevron">
            <a:avLst/>
          </a:prstGeom>
          <a:gradFill>
            <a:gsLst>
              <a:gs pos="0">
                <a:srgbClr val="F7941D"/>
              </a:gs>
              <a:gs pos="100000">
                <a:srgbClr val="1E5AA3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100211" name="MotifOutline1"/>
          <p:cNvSpPr/>
          <p:nvPr/>
        </p:nvSpPr>
        <p:spPr>
          <a:xfrm>
            <a:off x="144000" y="5004000"/>
            <a:ext cx="2376000" cy="1548000"/>
          </a:xfrm>
          <a:prstGeom prst="chevron">
            <a:avLst/>
          </a:prstGeom>
          <a:noFill/>
          <a:ln w="19050">
            <a:solidFill>
              <a:srgbClr val="F7941D"/>
            </a:solidFill>
          </a:ln>
        </p:spPr>
        <p:txBody>
          <a:bodyPr/>
          <a:lstStyle/>
          <a:p/>
        </p:txBody>
      </p:sp>
      <p:sp>
        <p:nvSpPr>
          <p:cNvPr id="100000" name="TextBox 1"/>
          <p:cNvSpPr/>
          <p:nvPr/>
        </p:nvSpPr>
        <p:spPr>
          <a:xfrm xmlns:a="http://schemas.openxmlformats.org/drawingml/2006/main">
            <a:off x="11160000" y="360000"/>
            <a:ext cx="576000" cy="576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900000" y="2520000"/>
            <a:ext cx="10393200" cy="14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400" b="1" i="0">
                <a:solidFill>
                  <a:srgbClr val="FFFFFF"/>
                </a:solidFill>
                <a:latin typeface="Calibri"/>
                <a:ea typeface="Calibri"/>
              </a:rPr>
              <a:t>AgentScore Competitive Positioning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900000" y="3996000"/>
            <a:ext cx="103932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0" i="0">
                <a:solidFill>
                  <a:srgbClr val="FFFFFF"/>
                </a:solidFill>
                <a:latin typeface="Calibri"/>
                <a:ea typeface="Calibri"/>
              </a:rPr>
              <a:t>Where we stand in the agentic eval market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900000" y="4536000"/>
            <a:ext cx="103932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0" i="0">
                <a:solidFill>
                  <a:srgbClr val="C9D6ED"/>
                </a:solidFill>
                <a:latin typeface="Calibri"/>
                <a:ea typeface="Calibri"/>
              </a:rPr>
              <a:t>September 2026</a:t>
            </a:r>
          </a:p>
        </p:txBody>
      </p:sp>
      <p:sp>
        <p:nvSpPr>
          <p:cNvPr id="100187" name="Footer1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214" name="MotifSolid2"/>
          <p:cNvSpPr/>
          <p:nvPr/>
        </p:nvSpPr>
        <p:spPr>
          <a:xfrm>
            <a:off x="468000" y="5220000"/>
            <a:ext cx="1872000" cy="1116000"/>
          </a:xfrm>
          <a:prstGeom prst="chevron">
            <a:avLst/>
          </a:prstGeom>
          <a:gradFill>
            <a:gsLst>
              <a:gs pos="0">
                <a:srgbClr val="F7941D"/>
              </a:gs>
              <a:gs pos="100000">
                <a:srgbClr val="1E5AA3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100213" name="MotifOutline2"/>
          <p:cNvSpPr/>
          <p:nvPr/>
        </p:nvSpPr>
        <p:spPr>
          <a:xfrm>
            <a:off x="144000" y="5004000"/>
            <a:ext cx="2376000" cy="1548000"/>
          </a:xfrm>
          <a:prstGeom prst="chevron">
            <a:avLst/>
          </a:prstGeom>
          <a:noFill/>
          <a:ln w="19050">
            <a:solidFill>
              <a:srgbClr val="F7941D"/>
            </a:solidFill>
          </a:ln>
        </p:spPr>
        <p:txBody>
          <a:bodyPr/>
          <a:lstStyle/>
          <a:p/>
        </p:txBody>
      </p:sp>
      <p:sp>
        <p:nvSpPr>
          <p:cNvPr id="100005" name="TextBox 2"/>
          <p:cNvSpPr/>
          <p:nvPr/>
        </p:nvSpPr>
        <p:spPr>
          <a:xfrm xmlns:a="http://schemas.openxmlformats.org/drawingml/2006/main">
            <a:off x="3240000" y="900000"/>
            <a:ext cx="5713200" cy="571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>
              <a:alpha val="7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004" name="TextBox 1"/>
          <p:cNvSpPr/>
          <p:nvPr/>
        </p:nvSpPr>
        <p:spPr>
          <a:xfrm xmlns:a="http://schemas.openxmlformats.org/drawingml/2006/main">
            <a:off x="11160000" y="360000"/>
            <a:ext cx="576000" cy="576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06" name="TextBox 3"/>
          <p:cNvSpPr txBox="1"/>
          <p:nvPr/>
        </p:nvSpPr>
        <p:spPr>
          <a:xfrm xmlns:a="http://schemas.openxmlformats.org/drawingml/2006/main">
            <a:off x="900000" y="2016000"/>
            <a:ext cx="10393200" cy="13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000" b="1" i="0">
                <a:solidFill>
                  <a:srgbClr val="FFFFFF"/>
                </a:solidFill>
                <a:latin typeface="Calibri"/>
                <a:ea typeface="Calibri"/>
              </a:rPr>
              <a:t>We are the verdict layer competitors aren't building.</a:t>
            </a:r>
          </a:p>
        </p:txBody>
      </p:sp>
      <p:sp>
        <p:nvSpPr>
          <p:cNvPr id="100007" name="TextBox 4"/>
          <p:cNvSpPr txBox="1"/>
          <p:nvPr/>
        </p:nvSpPr>
        <p:spPr>
          <a:xfrm xmlns:a="http://schemas.openxmlformats.org/drawingml/2006/main">
            <a:off x="1620000" y="3816000"/>
            <a:ext cx="89532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</a:pPr>
            <a:r>
              <a:rPr lang="en-US" sz="2000" b="0" i="0">
                <a:solidFill>
                  <a:srgbClr val="C9D6ED"/>
                </a:solidFill>
                <a:latin typeface="Calibri"/>
                <a:ea typeface="Calibri"/>
              </a:rPr>
              <a:t>Zero-setup automatic grading - no SDK, no test authoring, no labeled data required. OTel-in, one defensible 0-100 score out.</a:t>
            </a:r>
          </a:p>
        </p:txBody>
      </p:sp>
      <p:sp>
        <p:nvSpPr>
          <p:cNvPr id="100188" name="Footer2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008" name="Badge3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09" name="TextBox 2"/>
          <p:cNvSpPr txBox="1"/>
          <p:nvPr/>
        </p:nvSpPr>
        <p:spPr>
          <a:xfrm xmlns:a="http://schemas.openxmlformats.org/drawingml/2006/main">
            <a:off x="457200" y="360000"/>
            <a:ext cx="10260000" cy="12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The agentic eval market splits into four camps</a:t>
            </a:r>
          </a:p>
        </p:txBody>
      </p:sp>
      <p:sp>
        <p:nvSpPr>
          <p:cNvPr id="100010" name="TextBox 3"/>
          <p:cNvSpPr txBox="1"/>
          <p:nvPr/>
        </p:nvSpPr>
        <p:spPr>
          <a:xfrm xmlns:a="http://schemas.openxmlformats.org/drawingml/2006/main">
            <a:off x="457200" y="1674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MARKET MAP</a:t>
            </a:r>
          </a:p>
        </p:txBody>
      </p:sp>
      <p:sp>
        <p:nvSpPr>
          <p:cNvPr id="100011" name="TextBox 4"/>
          <p:cNvSpPr/>
          <p:nvPr/>
        </p:nvSpPr>
        <p:spPr>
          <a:xfrm xmlns:a="http://schemas.openxmlformats.org/drawingml/2006/main">
            <a:off x="457200" y="2016000"/>
            <a:ext cx="5502600" cy="20520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012" name="TextBox 5"/>
          <p:cNvSpPr txBox="1"/>
          <p:nvPr/>
        </p:nvSpPr>
        <p:spPr>
          <a:xfrm xmlns:a="http://schemas.openxmlformats.org/drawingml/2006/main">
            <a:off x="745200" y="2160000"/>
            <a:ext cx="49266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800" b="1" i="0">
                <a:solidFill>
                  <a:srgbClr val="FFFFFF"/>
                </a:solidFill>
                <a:latin typeface="Calibri"/>
                <a:ea typeface="Calibri"/>
              </a:rPr>
              <a:t>Observability / tracing-first</a:t>
            </a:r>
          </a:p>
        </p:txBody>
      </p:sp>
      <p:sp>
        <p:nvSpPr>
          <p:cNvPr id="100013" name="TextBox 6"/>
          <p:cNvSpPr txBox="1"/>
          <p:nvPr/>
        </p:nvSpPr>
        <p:spPr>
          <a:xfrm xmlns:a="http://schemas.openxmlformats.org/drawingml/2006/main">
            <a:off x="745200" y="2574000"/>
            <a:ext cx="49266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400" b="0" i="0">
                <a:solidFill>
                  <a:srgbClr val="FFFFFF"/>
                </a:solidFill>
                <a:latin typeface="Calibri"/>
                <a:ea typeface="Calibri"/>
              </a:rPr>
              <a:t>Focus on capturing traces, then add evals on top.</a:t>
            </a:r>
          </a:p>
        </p:txBody>
      </p:sp>
      <p:sp>
        <p:nvSpPr>
          <p:cNvPr id="100014" name="TextBox 7"/>
          <p:cNvSpPr txBox="1"/>
          <p:nvPr/>
        </p:nvSpPr>
        <p:spPr>
          <a:xfrm xmlns:a="http://schemas.openxmlformats.org/drawingml/2006/main">
            <a:off x="745200" y="3294000"/>
            <a:ext cx="49266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50" b="0" i="1">
                <a:solidFill>
                  <a:srgbClr val="E4ECFA"/>
                </a:solidFill>
                <a:latin typeface="Calibri"/>
                <a:ea typeface="Calibri"/>
              </a:rPr>
              <a:t>Langfuse  ·  LangSmith  ·  Arize  ·  W&amp;B Weave</a:t>
            </a:r>
          </a:p>
        </p:txBody>
      </p:sp>
      <p:sp>
        <p:nvSpPr>
          <p:cNvPr id="100015" name="TextBox 8"/>
          <p:cNvSpPr/>
          <p:nvPr/>
        </p:nvSpPr>
        <p:spPr>
          <a:xfrm xmlns:a="http://schemas.openxmlformats.org/drawingml/2006/main">
            <a:off x="6233400" y="2016000"/>
            <a:ext cx="5502600" cy="20520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016" name="TextBox 9"/>
          <p:cNvSpPr txBox="1"/>
          <p:nvPr/>
        </p:nvSpPr>
        <p:spPr>
          <a:xfrm xmlns:a="http://schemas.openxmlformats.org/drawingml/2006/main">
            <a:off x="6521400" y="2160000"/>
            <a:ext cx="49266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800" b="1" i="0">
                <a:solidFill>
                  <a:srgbClr val="FFFFFF"/>
                </a:solidFill>
                <a:latin typeface="Calibri"/>
                <a:ea typeface="Calibri"/>
              </a:rPr>
              <a:t>Eval / scoring-first</a:t>
            </a:r>
          </a:p>
        </p:txBody>
      </p:sp>
      <p:sp>
        <p:nvSpPr>
          <p:cNvPr id="100017" name="TextBox 10"/>
          <p:cNvSpPr txBox="1"/>
          <p:nvPr/>
        </p:nvSpPr>
        <p:spPr>
          <a:xfrm xmlns:a="http://schemas.openxmlformats.org/drawingml/2006/main">
            <a:off x="6521400" y="2574000"/>
            <a:ext cx="49266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400" b="0" i="0">
                <a:solidFill>
                  <a:srgbClr val="FFFFFF"/>
                </a:solidFill>
                <a:latin typeface="Calibri"/>
                <a:ea typeface="Calibri"/>
              </a:rPr>
              <a:t>Quality gates and judge models are the main offering.</a:t>
            </a:r>
          </a:p>
        </p:txBody>
      </p:sp>
      <p:sp>
        <p:nvSpPr>
          <p:cNvPr id="100018" name="TextBox 11"/>
          <p:cNvSpPr txBox="1"/>
          <p:nvPr/>
        </p:nvSpPr>
        <p:spPr>
          <a:xfrm xmlns:a="http://schemas.openxmlformats.org/drawingml/2006/main">
            <a:off x="6521400" y="3294000"/>
            <a:ext cx="49266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50" b="0" i="1">
                <a:solidFill>
                  <a:srgbClr val="E4ECFA"/>
                </a:solidFill>
                <a:latin typeface="Calibri"/>
                <a:ea typeface="Calibri"/>
              </a:rPr>
              <a:t>Braintrust  ·  Galileo  ·  Confident AI / DeepEval  ·  Comet Opik</a:t>
            </a:r>
          </a:p>
        </p:txBody>
      </p:sp>
      <p:sp>
        <p:nvSpPr>
          <p:cNvPr id="100019" name="TextBox 12"/>
          <p:cNvSpPr/>
          <p:nvPr/>
        </p:nvSpPr>
        <p:spPr>
          <a:xfrm xmlns:a="http://schemas.openxmlformats.org/drawingml/2006/main">
            <a:off x="457200" y="4341600"/>
            <a:ext cx="5502600" cy="20520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020" name="TextBox 13"/>
          <p:cNvSpPr txBox="1"/>
          <p:nvPr/>
        </p:nvSpPr>
        <p:spPr>
          <a:xfrm xmlns:a="http://schemas.openxmlformats.org/drawingml/2006/main">
            <a:off x="745200" y="4485600"/>
            <a:ext cx="49266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800" b="1" i="0">
                <a:solidFill>
                  <a:srgbClr val="FFFFFF"/>
                </a:solidFill>
                <a:latin typeface="Calibri"/>
                <a:ea typeface="Calibri"/>
              </a:rPr>
              <a:t>Simulation-first</a:t>
            </a:r>
          </a:p>
        </p:txBody>
      </p:sp>
      <p:sp>
        <p:nvSpPr>
          <p:cNvPr id="100021" name="TextBox 14"/>
          <p:cNvSpPr txBox="1"/>
          <p:nvPr/>
        </p:nvSpPr>
        <p:spPr>
          <a:xfrm xmlns:a="http://schemas.openxmlformats.org/drawingml/2006/main">
            <a:off x="745200" y="4899600"/>
            <a:ext cx="49266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400" b="0" i="0">
                <a:solidFill>
                  <a:srgbClr val="FFFFFF"/>
                </a:solidFill>
                <a:latin typeface="Calibri"/>
                <a:ea typeface="Calibri"/>
              </a:rPr>
              <a:t>Generate synthetic users and scenarios to stress-test before prod.</a:t>
            </a:r>
          </a:p>
        </p:txBody>
      </p:sp>
      <p:sp>
        <p:nvSpPr>
          <p:cNvPr id="100022" name="TextBox 15"/>
          <p:cNvSpPr txBox="1"/>
          <p:nvPr/>
        </p:nvSpPr>
        <p:spPr>
          <a:xfrm xmlns:a="http://schemas.openxmlformats.org/drawingml/2006/main">
            <a:off x="745200" y="5619600"/>
            <a:ext cx="49266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50" b="0" i="1">
                <a:solidFill>
                  <a:srgbClr val="E4ECFA"/>
                </a:solidFill>
                <a:latin typeface="Calibri"/>
                <a:ea typeface="Calibri"/>
              </a:rPr>
              <a:t>Arato  ·  Patronus  ·  Maxim</a:t>
            </a:r>
          </a:p>
        </p:txBody>
      </p:sp>
      <p:sp>
        <p:nvSpPr>
          <p:cNvPr id="100023" name="TextBox 16"/>
          <p:cNvSpPr/>
          <p:nvPr/>
        </p:nvSpPr>
        <p:spPr>
          <a:xfrm xmlns:a="http://schemas.openxmlformats.org/drawingml/2006/main">
            <a:off x="6233400" y="4341600"/>
            <a:ext cx="5502600" cy="20520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024" name="TextBox 17"/>
          <p:cNvSpPr txBox="1"/>
          <p:nvPr/>
        </p:nvSpPr>
        <p:spPr>
          <a:xfrm xmlns:a="http://schemas.openxmlformats.org/drawingml/2006/main">
            <a:off x="6521400" y="4485600"/>
            <a:ext cx="49266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800" b="1" i="0">
                <a:solidFill>
                  <a:srgbClr val="FFFFFF"/>
                </a:solidFill>
                <a:latin typeface="Calibri"/>
                <a:ea typeface="Calibri"/>
              </a:rPr>
              <a:t>AI TRiSM / runtime guardrails</a:t>
            </a:r>
          </a:p>
        </p:txBody>
      </p:sp>
      <p:sp>
        <p:nvSpPr>
          <p:cNvPr id="100025" name="TextBox 18"/>
          <p:cNvSpPr txBox="1"/>
          <p:nvPr/>
        </p:nvSpPr>
        <p:spPr>
          <a:xfrm xmlns:a="http://schemas.openxmlformats.org/drawingml/2006/main">
            <a:off x="6521400" y="4899600"/>
            <a:ext cx="49266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400" b="0" i="0">
                <a:solidFill>
                  <a:srgbClr val="FFFFFF"/>
                </a:solidFill>
                <a:latin typeface="Calibri"/>
                <a:ea typeface="Calibri"/>
              </a:rPr>
              <a:t>Intercept and gate agent outputs at runtime rather than grade behavior.</a:t>
            </a:r>
          </a:p>
        </p:txBody>
      </p:sp>
      <p:sp>
        <p:nvSpPr>
          <p:cNvPr id="100026" name="TextBox 19"/>
          <p:cNvSpPr txBox="1"/>
          <p:nvPr/>
        </p:nvSpPr>
        <p:spPr>
          <a:xfrm xmlns:a="http://schemas.openxmlformats.org/drawingml/2006/main">
            <a:off x="6521400" y="5619600"/>
            <a:ext cx="49266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50" b="0" i="1">
                <a:solidFill>
                  <a:srgbClr val="E4ECFA"/>
                </a:solidFill>
                <a:latin typeface="Calibri"/>
                <a:ea typeface="Calibri"/>
              </a:rPr>
              <a:t>int4 TrustGate  ·  NeuralTrust  ·  Guardrails AI</a:t>
            </a:r>
          </a:p>
        </p:txBody>
      </p:sp>
      <p:sp>
        <p:nvSpPr>
          <p:cNvPr id="100189" name="Footer3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027" name="Badge4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100028" name="TextBox 2"/>
          <p:cNvSpPr txBox="1"/>
          <p:nvPr/>
        </p:nvSpPr>
        <p:spPr>
          <a:xfrm xmlns:a="http://schemas.openxmlformats.org/drawingml/2006/main">
            <a:off x="457200" y="360000"/>
            <a:ext cx="10260000" cy="12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Our closest neighbors: Galileo and Braintrust</a:t>
            </a:r>
          </a:p>
        </p:txBody>
      </p:sp>
      <p:sp>
        <p:nvSpPr>
          <p:cNvPr id="100029" name="TextBox 3"/>
          <p:cNvSpPr txBox="1"/>
          <p:nvPr/>
        </p:nvSpPr>
        <p:spPr>
          <a:xfrm xmlns:a="http://schemas.openxmlformats.org/drawingml/2006/main">
            <a:off x="457200" y="1674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CLOSEST NEIGHBORS</a:t>
            </a:r>
          </a:p>
        </p:txBody>
      </p:sp>
      <p:sp>
        <p:nvSpPr>
          <p:cNvPr id="100030" name="TextBox 4"/>
          <p:cNvSpPr/>
          <p:nvPr/>
        </p:nvSpPr>
        <p:spPr>
          <a:xfrm xmlns:a="http://schemas.openxmlformats.org/drawingml/2006/main">
            <a:off x="457200" y="2016000"/>
            <a:ext cx="5502600" cy="39240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031" name="TextBox 5"/>
          <p:cNvSpPr txBox="1"/>
          <p:nvPr/>
        </p:nvSpPr>
        <p:spPr>
          <a:xfrm xmlns:a="http://schemas.openxmlformats.org/drawingml/2006/main">
            <a:off x="709200" y="2124000"/>
            <a:ext cx="49986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</a:rPr>
              <a:t>Galileo</a:t>
            </a:r>
          </a:p>
        </p:txBody>
      </p:sp>
      <p:sp>
        <p:nvSpPr>
          <p:cNvPr id="100032" name="TextBox 6"/>
          <p:cNvSpPr txBox="1"/>
          <p:nvPr/>
        </p:nvSpPr>
        <p:spPr>
          <a:xfrm xmlns:a="http://schemas.openxmlformats.org/drawingml/2006/main">
            <a:off x="709200" y="2520000"/>
            <a:ext cx="49986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150" b="1" i="0">
                <a:solidFill>
                  <a:srgbClr val="FDB44E"/>
                </a:solidFill>
                <a:latin typeface="Calibri"/>
                <a:ea typeface="Calibri"/>
              </a:rPr>
              <a:t>›  VALUE PROP</a:t>
            </a:r>
          </a:p>
        </p:txBody>
      </p:sp>
      <p:sp>
        <p:nvSpPr>
          <p:cNvPr id="100033" name="TextBox 7"/>
          <p:cNvSpPr txBox="1"/>
          <p:nvPr/>
        </p:nvSpPr>
        <p:spPr>
          <a:xfrm xmlns:a="http://schemas.openxmlformats.org/drawingml/2006/main">
            <a:off x="709200" y="2772000"/>
            <a:ext cx="49986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1250" b="0" i="0">
                <a:solidFill>
                  <a:srgbClr val="FFFFFF"/>
                </a:solidFill>
                <a:latin typeface="Calibri"/>
                <a:ea typeface="Calibri"/>
              </a:rPr>
              <a:t>Continuous eval + guardrails via proprietary Luna-2 SLM judges - sub-200ms, ~98% cheaper than frontier LLM-as-judge.</a:t>
            </a:r>
          </a:p>
        </p:txBody>
      </p:sp>
      <p:sp>
        <p:nvSpPr>
          <p:cNvPr id="100034" name="TextBox 8"/>
          <p:cNvSpPr txBox="1"/>
          <p:nvPr/>
        </p:nvSpPr>
        <p:spPr>
          <a:xfrm xmlns:a="http://schemas.openxmlformats.org/drawingml/2006/main">
            <a:off x="709200" y="3492000"/>
            <a:ext cx="49986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150" b="1" i="0">
                <a:solidFill>
                  <a:srgbClr val="FDB44E"/>
                </a:solidFill>
                <a:latin typeface="Calibri"/>
                <a:ea typeface="Calibri"/>
              </a:rPr>
              <a:t>›  PRICING</a:t>
            </a:r>
          </a:p>
        </p:txBody>
      </p:sp>
      <p:sp>
        <p:nvSpPr>
          <p:cNvPr id="100035" name="TextBox 9"/>
          <p:cNvSpPr txBox="1"/>
          <p:nvPr/>
        </p:nvSpPr>
        <p:spPr>
          <a:xfrm xmlns:a="http://schemas.openxmlformats.org/drawingml/2006/main">
            <a:off x="709200" y="3744000"/>
            <a:ext cx="49986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1250" b="0" i="0">
                <a:solidFill>
                  <a:srgbClr val="FFFFFF"/>
                </a:solidFill>
                <a:latin typeface="Calibri"/>
                <a:ea typeface="Calibri"/>
              </a:rPr>
              <a:t>Free (5k traces/mo); Pro $100/mo; Enterprise custom.</a:t>
            </a:r>
          </a:p>
        </p:txBody>
      </p:sp>
      <p:sp>
        <p:nvSpPr>
          <p:cNvPr id="100036" name="TextBox 10"/>
          <p:cNvSpPr txBox="1"/>
          <p:nvPr/>
        </p:nvSpPr>
        <p:spPr>
          <a:xfrm xmlns:a="http://schemas.openxmlformats.org/drawingml/2006/main">
            <a:off x="709200" y="4284000"/>
            <a:ext cx="49986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150" b="1" i="0">
                <a:solidFill>
                  <a:srgbClr val="FDB44E"/>
                </a:solidFill>
                <a:latin typeface="Calibri"/>
                <a:ea typeface="Calibri"/>
              </a:rPr>
              <a:t>›  EVAL / SCORING</a:t>
            </a:r>
          </a:p>
        </p:txBody>
      </p:sp>
      <p:sp>
        <p:nvSpPr>
          <p:cNvPr id="100037" name="TextBox 11"/>
          <p:cNvSpPr txBox="1"/>
          <p:nvPr/>
        </p:nvSpPr>
        <p:spPr>
          <a:xfrm xmlns:a="http://schemas.openxmlformats.org/drawingml/2006/main">
            <a:off x="709200" y="4536000"/>
            <a:ext cx="49986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1250" b="0" i="0">
                <a:solidFill>
                  <a:srgbClr val="FFFFFF"/>
                </a:solidFill>
                <a:latin typeface="Calibri"/>
                <a:ea typeface="Calibri"/>
              </a:rPr>
              <a:t>Continuous production scoring; LLM-as-judge + SLM judges; agent/safety metrics.</a:t>
            </a:r>
          </a:p>
        </p:txBody>
      </p:sp>
      <p:sp>
        <p:nvSpPr>
          <p:cNvPr id="100038" name="TextBox 12"/>
          <p:cNvSpPr txBox="1"/>
          <p:nvPr/>
        </p:nvSpPr>
        <p:spPr>
          <a:xfrm xmlns:a="http://schemas.openxmlformats.org/drawingml/2006/main">
            <a:off x="709200" y="5076000"/>
            <a:ext cx="49986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150" b="1" i="0">
                <a:solidFill>
                  <a:srgbClr val="FDB44E"/>
                </a:solidFill>
                <a:latin typeface="Calibri"/>
                <a:ea typeface="Calibri"/>
              </a:rPr>
              <a:t>›  KEY SIGNAL</a:t>
            </a:r>
          </a:p>
        </p:txBody>
      </p:sp>
      <p:sp>
        <p:nvSpPr>
          <p:cNvPr id="100039" name="TextBox 13"/>
          <p:cNvSpPr txBox="1"/>
          <p:nvPr/>
        </p:nvSpPr>
        <p:spPr>
          <a:xfrm xmlns:a="http://schemas.openxmlformats.org/drawingml/2006/main">
            <a:off x="709200" y="5328000"/>
            <a:ext cx="49986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1250" b="0" i="0">
                <a:solidFill>
                  <a:srgbClr val="FFFFFF"/>
                </a:solidFill>
                <a:latin typeface="Calibri"/>
                <a:ea typeface="Calibri"/>
              </a:rPr>
              <a:t>~$68M raised. Acquired by Cisco (May 2026) → Splunk. Customers: Verizon, Comcast, HP.</a:t>
            </a:r>
          </a:p>
        </p:txBody>
      </p:sp>
      <p:sp>
        <p:nvSpPr>
          <p:cNvPr id="100040" name="TextBox 14"/>
          <p:cNvSpPr/>
          <p:nvPr/>
        </p:nvSpPr>
        <p:spPr>
          <a:xfrm xmlns:a="http://schemas.openxmlformats.org/drawingml/2006/main">
            <a:off x="6233400" y="2016000"/>
            <a:ext cx="5502600" cy="39240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041" name="TextBox 15"/>
          <p:cNvSpPr txBox="1"/>
          <p:nvPr/>
        </p:nvSpPr>
        <p:spPr>
          <a:xfrm xmlns:a="http://schemas.openxmlformats.org/drawingml/2006/main">
            <a:off x="6485400" y="2124000"/>
            <a:ext cx="49986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</a:rPr>
              <a:t>Braintrust</a:t>
            </a:r>
          </a:p>
        </p:txBody>
      </p:sp>
      <p:sp>
        <p:nvSpPr>
          <p:cNvPr id="100042" name="TextBox 16"/>
          <p:cNvSpPr txBox="1"/>
          <p:nvPr/>
        </p:nvSpPr>
        <p:spPr>
          <a:xfrm xmlns:a="http://schemas.openxmlformats.org/drawingml/2006/main">
            <a:off x="6485400" y="2520000"/>
            <a:ext cx="49986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150" b="1" i="0">
                <a:solidFill>
                  <a:srgbClr val="FDB44E"/>
                </a:solidFill>
                <a:latin typeface="Calibri"/>
                <a:ea typeface="Calibri"/>
              </a:rPr>
              <a:t>›  VALUE PROP</a:t>
            </a:r>
          </a:p>
        </p:txBody>
      </p:sp>
      <p:sp>
        <p:nvSpPr>
          <p:cNvPr id="100043" name="TextBox 17"/>
          <p:cNvSpPr txBox="1"/>
          <p:nvPr/>
        </p:nvSpPr>
        <p:spPr>
          <a:xfrm xmlns:a="http://schemas.openxmlformats.org/drawingml/2006/main">
            <a:off x="6485400" y="2772000"/>
            <a:ext cx="49986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1250" b="0" i="0">
                <a:solidFill>
                  <a:srgbClr val="FFFFFF"/>
                </a:solidFill>
                <a:latin typeface="Calibri"/>
                <a:ea typeface="Calibri"/>
              </a:rPr>
              <a:t>Eval-first observability: capture traces, score with scorers, turn failures into CI.</a:t>
            </a:r>
          </a:p>
        </p:txBody>
      </p:sp>
      <p:sp>
        <p:nvSpPr>
          <p:cNvPr id="100044" name="TextBox 18"/>
          <p:cNvSpPr txBox="1"/>
          <p:nvPr/>
        </p:nvSpPr>
        <p:spPr>
          <a:xfrm xmlns:a="http://schemas.openxmlformats.org/drawingml/2006/main">
            <a:off x="6485400" y="3492000"/>
            <a:ext cx="49986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150" b="1" i="0">
                <a:solidFill>
                  <a:srgbClr val="FDB44E"/>
                </a:solidFill>
                <a:latin typeface="Calibri"/>
                <a:ea typeface="Calibri"/>
              </a:rPr>
              <a:t>›  PRICING</a:t>
            </a:r>
          </a:p>
        </p:txBody>
      </p:sp>
      <p:sp>
        <p:nvSpPr>
          <p:cNvPr id="100045" name="TextBox 19"/>
          <p:cNvSpPr txBox="1"/>
          <p:nvPr/>
        </p:nvSpPr>
        <p:spPr>
          <a:xfrm xmlns:a="http://schemas.openxmlformats.org/drawingml/2006/main">
            <a:off x="6485400" y="3744000"/>
            <a:ext cx="49986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1250" b="0" i="0">
                <a:solidFill>
                  <a:srgbClr val="FFFFFF"/>
                </a:solidFill>
                <a:latin typeface="Calibri"/>
                <a:ea typeface="Calibri"/>
              </a:rPr>
              <a:t>Free (1GB/10k scores); Pro $249/mo; Enterprise custom (SSO, RBAC, self-host).</a:t>
            </a:r>
          </a:p>
        </p:txBody>
      </p:sp>
      <p:sp>
        <p:nvSpPr>
          <p:cNvPr id="100046" name="TextBox 20"/>
          <p:cNvSpPr txBox="1"/>
          <p:nvPr/>
        </p:nvSpPr>
        <p:spPr>
          <a:xfrm xmlns:a="http://schemas.openxmlformats.org/drawingml/2006/main">
            <a:off x="6485400" y="4284000"/>
            <a:ext cx="49986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150" b="1" i="0">
                <a:solidFill>
                  <a:srgbClr val="FDB44E"/>
                </a:solidFill>
                <a:latin typeface="Calibri"/>
                <a:ea typeface="Calibri"/>
              </a:rPr>
              <a:t>›  EVAL / SCORING</a:t>
            </a:r>
          </a:p>
        </p:txBody>
      </p:sp>
      <p:sp>
        <p:nvSpPr>
          <p:cNvPr id="100047" name="TextBox 21"/>
          <p:cNvSpPr txBox="1"/>
          <p:nvPr/>
        </p:nvSpPr>
        <p:spPr>
          <a:xfrm xmlns:a="http://schemas.openxmlformats.org/drawingml/2006/main">
            <a:off x="6485400" y="4536000"/>
            <a:ext cx="49986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1250" b="0" i="0">
                <a:solidFill>
                  <a:srgbClr val="FFFFFF"/>
                </a:solidFill>
                <a:latin typeface="Calibri"/>
                <a:ea typeface="Calibri"/>
              </a:rPr>
              <a:t>Real-time + batch scoring; configurable LLM-as-judge; “Loop” AI assistant.</a:t>
            </a:r>
          </a:p>
        </p:txBody>
      </p:sp>
      <p:sp>
        <p:nvSpPr>
          <p:cNvPr id="100048" name="TextBox 22"/>
          <p:cNvSpPr txBox="1"/>
          <p:nvPr/>
        </p:nvSpPr>
        <p:spPr>
          <a:xfrm xmlns:a="http://schemas.openxmlformats.org/drawingml/2006/main">
            <a:off x="6485400" y="5076000"/>
            <a:ext cx="49986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150" b="1" i="0">
                <a:solidFill>
                  <a:srgbClr val="FDB44E"/>
                </a:solidFill>
                <a:latin typeface="Calibri"/>
                <a:ea typeface="Calibri"/>
              </a:rPr>
              <a:t>›  KEY SIGNAL</a:t>
            </a:r>
          </a:p>
        </p:txBody>
      </p:sp>
      <p:sp>
        <p:nvSpPr>
          <p:cNvPr id="100049" name="TextBox 23"/>
          <p:cNvSpPr txBox="1"/>
          <p:nvPr/>
        </p:nvSpPr>
        <p:spPr>
          <a:xfrm xmlns:a="http://schemas.openxmlformats.org/drawingml/2006/main">
            <a:off x="6485400" y="5328000"/>
            <a:ext cx="49986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1250" b="0" i="0">
                <a:solidFill>
                  <a:srgbClr val="FFFFFF"/>
                </a:solidFill>
                <a:latin typeface="Calibri"/>
                <a:ea typeface="Calibri"/>
              </a:rPr>
              <a:t>$36M Series A + $80M Series B (~$800M val.). Customers: Notion, Stripe, Vercel, Ramp.</a:t>
            </a:r>
          </a:p>
        </p:txBody>
      </p:sp>
      <p:sp>
        <p:nvSpPr>
          <p:cNvPr id="100050" name="TextBox 24"/>
          <p:cNvSpPr/>
          <p:nvPr/>
        </p:nvSpPr>
        <p:spPr>
          <a:xfrm xmlns:a="http://schemas.openxmlformats.org/drawingml/2006/main">
            <a:off x="457200" y="6048000"/>
            <a:ext cx="11278800" cy="324000"/>
          </a:xfrm>
          <a:prstGeom xmlns:a="http://schemas.openxmlformats.org/drawingml/2006/main" prst="roundRect">
            <a:avLst/>
          </a:prstGeom>
          <a:solidFill>
            <a:srgbClr val="1C4C8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051" name="TextBox 25"/>
          <p:cNvSpPr txBox="1"/>
          <p:nvPr/>
        </p:nvSpPr>
        <p:spPr>
          <a:xfrm xmlns:a="http://schemas.openxmlformats.org/drawingml/2006/main">
            <a:off x="673200" y="6048000"/>
            <a:ext cx="108468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Bottom line: neither leads with “zero-setup automatic grading.”</a:t>
            </a:r>
          </a:p>
        </p:txBody>
      </p:sp>
      <p:sp>
        <p:nvSpPr>
          <p:cNvPr id="100190" name="Footer4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052" name="Badge5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</a:rPr>
              <a:t>5</a:t>
            </a:r>
          </a:p>
        </p:txBody>
      </p:sp>
      <p:sp>
        <p:nvSpPr>
          <p:cNvPr id="100053" name="TextBox 2"/>
          <p:cNvSpPr txBox="1"/>
          <p:nvPr/>
        </p:nvSpPr>
        <p:spPr>
          <a:xfrm xmlns:a="http://schemas.openxmlformats.org/drawingml/2006/main">
            <a:off x="457200" y="360000"/>
            <a:ext cx="10260000" cy="12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How AgentScore compares - scoring and eval capability</a:t>
            </a:r>
          </a:p>
        </p:txBody>
      </p:sp>
      <p:sp>
        <p:nvSpPr>
          <p:cNvPr id="100054" name="TextBox 3"/>
          <p:cNvSpPr txBox="1"/>
          <p:nvPr/>
        </p:nvSpPr>
        <p:spPr>
          <a:xfrm xmlns:a="http://schemas.openxmlformats.org/drawingml/2006/main">
            <a:off x="457200" y="1674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✅ shipped / mature     🟡 partial, gated, or in progress     ❌ absent     n/p not public</a:t>
            </a:r>
          </a:p>
        </p:txBody>
      </p:sp>
      <p:graphicFrame>
        <p:nvGraphicFramePr>
          <p:cNvPr id="100055" name="CompareTable5"/>
          <p:cNvGraphicFramePr/>
          <p:nvPr/>
        </p:nvGraphicFramePr>
        <p:xfrm>
          <a:off xmlns:a="http://schemas.openxmlformats.org/drawingml/2006/main" x="457200" y="2016000"/>
          <a:ext xmlns:a="http://schemas.openxmlformats.org/drawingml/2006/main" cx="11270520" cy="4168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16000"/>
                <a:gridCol w="1080000"/>
                <a:gridCol w="908280"/>
                <a:gridCol w="908280"/>
                <a:gridCol w="908280"/>
                <a:gridCol w="908280"/>
                <a:gridCol w="908280"/>
                <a:gridCol w="908280"/>
                <a:gridCol w="908280"/>
                <a:gridCol w="908280"/>
                <a:gridCol w="908280"/>
              </a:tblGrid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Dimension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AgentScore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Langfuse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Braintrust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Arize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Galileo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LangSmith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W&amp;B Weave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Arato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Patronus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int4 TrustGate†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</a:tr>
              <a:tr h="38088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Core stance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Auto-grade real behavior, zero setup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OSS observability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Eval-first + CI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Observability + eval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Continuous scoring + guardrails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Tracing for LangChain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Drop-in trace + eval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Sim-first testing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Judge models + sim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SAP write-txn guardrail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  <a:tr h="38088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Trace/run scoring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(20-trace floor)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(sim)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 document-level, not trace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  <a:tr h="38088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Session-based scoring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(session-level)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(multi-turn)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  <a:tr h="38088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LLM-as-judge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(G-Eval, Hybrid)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+ SLM judges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 n/p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(Lynx/GLIDER)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 deterministic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  <a:tr h="38088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Multi-model judge catalog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7 models (Bedrock)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n/p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 (n/a)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  <a:tr h="38088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Customer-selectable judge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n/p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 (n/a)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  <a:tr h="38088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Failure attribution / root-cause diagnosis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decomposes to evidence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n/p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 "Loop" assistant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"Alyx" debugger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n/p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n/p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n/p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n/p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"Percival" (20+ modes)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 (n/a)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  <a:tr h="38088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Zero-config / auto-profile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differentiated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  <a:tr h="38088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Simulation / synthetic users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 prod replay (Prove)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  <a:tr h="38088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Guardrails / runtime protect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core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</a:tbl>
          </a:graphicData>
        </a:graphic>
      </p:graphicFrame>
      <p:sp>
        <p:nvSpPr>
          <p:cNvPr id="100056" name="TextBox 4"/>
          <p:cNvSpPr txBox="1"/>
          <p:nvPr/>
        </p:nvSpPr>
        <p:spPr>
          <a:xfrm xmlns:a="http://schemas.openxmlformats.org/drawingml/2006/main">
            <a:off x="457200" y="6390000"/>
            <a:ext cx="1127880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0800" tIns="10800" rIns="10800" bIns="10800"/>
          <a:lstStyle xmlns:a="http://schemas.openxmlformats.org/drawingml/2006/main"/>
          <a:p xmlns:a="http://schemas.openxmlformats.org/drawingml/2006/main">
            <a:pPr algn="l"/>
            <a:r>
              <a:rPr lang="en-US" sz="900" b="0" i="1">
                <a:solidFill>
                  <a:srgbClr val="C9D6ED"/>
                </a:solidFill>
                <a:latin typeface="Calibri"/>
                <a:ea typeface="Calibri"/>
              </a:rPr>
              <a:t>† int4 TrustGate is AI TRiSM / SAP runtime guardrails, not a general agent-quality evaluator - included for reference, not as a like-for-like rival.</a:t>
            </a:r>
          </a:p>
        </p:txBody>
      </p:sp>
      <p:sp>
        <p:nvSpPr>
          <p:cNvPr id="100191" name="Footer5"/>
          <p:cNvSpPr txBox="1"/>
          <p:nvPr/>
        </p:nvSpPr>
        <p:spPr>
          <a:xfrm>
            <a:off x="457200" y="6606000"/>
            <a:ext cx="7200000" cy="162000"/>
          </a:xfrm>
          <a:prstGeom prst="rect">
            <a:avLst/>
          </a:prstGeom>
          <a:noFill/>
          <a:ln>
            <a:noFill/>
          </a:ln>
        </p:spPr>
        <p:txBody>
          <a:bodyPr lIns="10800" tIns="10800" rIns="10800" bIns="10800" anchor="ctr"/>
          <a:lstStyle/>
          <a:p>
            <a:pPr algn="l"/>
            <a:r>
              <a:rPr lang="en-US" sz="8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057" name="Badge6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</a:rPr>
              <a:t>6</a:t>
            </a:r>
          </a:p>
        </p:txBody>
      </p:sp>
      <p:sp>
        <p:nvSpPr>
          <p:cNvPr id="100058" name="TextBox 2"/>
          <p:cNvSpPr txBox="1"/>
          <p:nvPr/>
        </p:nvSpPr>
        <p:spPr>
          <a:xfrm xmlns:a="http://schemas.openxmlformats.org/drawingml/2006/main">
            <a:off x="457200" y="360000"/>
            <a:ext cx="10260000" cy="12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How AgentScore compares - enterprise, deployment, and ecosystem</a:t>
            </a:r>
          </a:p>
        </p:txBody>
      </p:sp>
      <p:sp>
        <p:nvSpPr>
          <p:cNvPr id="100059" name="TextBox 3"/>
          <p:cNvSpPr txBox="1"/>
          <p:nvPr/>
        </p:nvSpPr>
        <p:spPr>
          <a:xfrm xmlns:a="http://schemas.openxmlformats.org/drawingml/2006/main">
            <a:off x="457200" y="1674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✅ shipped / mature     🟡 partial, gated, or in progress     ❌ absent     n/p not public</a:t>
            </a:r>
          </a:p>
        </p:txBody>
      </p:sp>
      <p:graphicFrame>
        <p:nvGraphicFramePr>
          <p:cNvPr id="100060" name="CompareTable6"/>
          <p:cNvGraphicFramePr/>
          <p:nvPr/>
        </p:nvGraphicFramePr>
        <p:xfrm>
          <a:off xmlns:a="http://schemas.openxmlformats.org/drawingml/2006/main" x="457200" y="2016000"/>
          <a:ext xmlns:a="http://schemas.openxmlformats.org/drawingml/2006/main" cx="11270520" cy="4158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16000"/>
                <a:gridCol w="1080000"/>
                <a:gridCol w="908280"/>
                <a:gridCol w="908280"/>
                <a:gridCol w="908280"/>
                <a:gridCol w="908280"/>
                <a:gridCol w="908280"/>
                <a:gridCol w="908280"/>
                <a:gridCol w="908280"/>
                <a:gridCol w="908280"/>
                <a:gridCol w="908280"/>
              </a:tblGrid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Dimension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AgentScore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Langfuse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Braintrust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Arize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Galileo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LangSmith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W&amp;B Weave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Arato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Patronus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int4 TrustGate†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F7941D"/>
                    </a:solidFill>
                  </a:tcPr>
                </a:tc>
              </a:tr>
              <a:tr h="47475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RBAC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 not built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 paid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Ent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Ent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Pro+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 Ent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 Ent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n/p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n/p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  <a:tr h="47475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SSO/SAML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 not built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 add-on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Ent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Ent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Ent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Ent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Ent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n/p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 OIDC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n/p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  <a:tr h="47475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API key mgmt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 ingest keys only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n/p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n/p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  <a:tr h="47475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SDK breadth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 none (OTel only); Read API reserved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Py, JS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6 langs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Py/TS/Java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Py/TS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Py/JS(+)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Py/TS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API+SDK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Py/TS/Java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 SAP-only, no SDK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  <a:tr h="47475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OTel-native ingest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(only path)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 (SAP proxy)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  <a:tr h="47475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Self-host / on-prem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❌ cloud-only (VPN-gated)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Ent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Ent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Ent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n/p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n/p (in-line ERP proxy)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  <a:tr h="47475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Deployment maturity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 internal beta, 0 ext customers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GA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GA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GA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GA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GA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GA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early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GA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🟡 new (~H2 2026)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  <a:tr h="474750">
                <a:tc>
                  <a:txBody>
                    <a:bodyPr wrap="square"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Ecosystem hook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AIW, any OTel-compatible agent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1E5A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LangChain-agnostic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broad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broad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Splunk / Cisco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LangChain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W&amp;B / CoreWeave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any stack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Datadog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800" b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✅ SAP (Joule / Agentforce)</a:t>
                      </a:r>
                    </a:p>
                  </a:txBody>
                  <a:tcPr anchor="ctr">
                    <a:lnL w="6350">
                      <a:solidFill>
                        <a:srgbClr val="C9D6ED"/>
                      </a:solidFill>
                      <a:prstDash val="solid"/>
                    </a:lnL>
                    <a:lnR w="6350">
                      <a:solidFill>
                        <a:srgbClr val="C9D6ED"/>
                      </a:solidFill>
                      <a:prstDash val="solid"/>
                    </a:lnR>
                    <a:lnT w="6350">
                      <a:solidFill>
                        <a:srgbClr val="C9D6ED"/>
                      </a:solidFill>
                      <a:prstDash val="solid"/>
                    </a:lnT>
                    <a:lnB w="6350">
                      <a:solidFill>
                        <a:srgbClr val="C9D6ED"/>
                      </a:solidFill>
                      <a:prstDash val="solid"/>
                    </a:lnB>
                    <a:solidFill>
                      <a:srgbClr val="0F2A52"/>
                    </a:solidFill>
                  </a:tcPr>
                </a:tc>
              </a:tr>
            </a:tbl>
          </a:graphicData>
        </a:graphic>
      </p:graphicFrame>
      <p:sp>
        <p:nvSpPr>
          <p:cNvPr id="100061" name="TextBox 4"/>
          <p:cNvSpPr txBox="1"/>
          <p:nvPr/>
        </p:nvSpPr>
        <p:spPr>
          <a:xfrm xmlns:a="http://schemas.openxmlformats.org/drawingml/2006/main">
            <a:off x="457200" y="6210000"/>
            <a:ext cx="112788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000" b="0" i="1">
                <a:solidFill>
                  <a:srgbClr val="C9D6ED"/>
                </a:solidFill>
                <a:latin typeface="Calibri"/>
                <a:ea typeface="Calibri"/>
              </a:rPr>
              <a:t>† int4 TrustGate is AI TRiSM / SAP runtime guardrails, not a general agent-quality evaluator - included for reference, not as a like-for-like rival.</a:t>
            </a:r>
          </a:p>
        </p:txBody>
      </p:sp>
      <p:sp>
        <p:nvSpPr>
          <p:cNvPr id="100192" name="Footer6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062" name="Badge7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</a:rPr>
              <a:t>7</a:t>
            </a:r>
          </a:p>
        </p:txBody>
      </p:sp>
      <p:sp>
        <p:nvSpPr>
          <p:cNvPr id="100063" name="TextBox 2"/>
          <p:cNvSpPr txBox="1"/>
          <p:nvPr/>
        </p:nvSpPr>
        <p:spPr>
          <a:xfrm xmlns:a="http://schemas.openxmlformats.org/drawingml/2006/main">
            <a:off x="457200" y="360000"/>
            <a:ext cx="1026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Zero-setup automatic grading</a:t>
            </a:r>
          </a:p>
        </p:txBody>
      </p:sp>
      <p:sp>
        <p:nvSpPr>
          <p:cNvPr id="100064" name="TextBox 3"/>
          <p:cNvSpPr txBox="1"/>
          <p:nvPr/>
        </p:nvSpPr>
        <p:spPr>
          <a:xfrm xmlns:a="http://schemas.openxmlformats.org/drawingml/2006/main">
            <a:off x="457200" y="1566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DIFFERENTIATOR 1 OF 4</a:t>
            </a:r>
          </a:p>
        </p:txBody>
      </p:sp>
      <p:sp>
        <p:nvSpPr>
          <p:cNvPr id="100065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No SDK, no labeled data, no test authoring, no AI expertise needed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Auto agent recognition plus automatic profile-fitting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None of the other competitors we profiled offer this combination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Alternatives all require instrumentation choices, dataset curation, or scorer configuration - or some mix of all three</a:t>
            </a:r>
          </a:p>
        </p:txBody>
      </p:sp>
      <p:sp>
        <p:nvSpPr>
          <p:cNvPr id="100066" name="Panel7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1C4C8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067" name="TextBox 6"/>
          <p:cNvSpPr txBox="1"/>
          <p:nvPr/>
        </p:nvSpPr>
        <p:spPr>
          <a:xfrm xmlns:a="http://schemas.openxmlformats.org/drawingml/2006/main">
            <a:off x="8485200" y="3240000"/>
            <a:ext cx="32508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 i="0">
                <a:solidFill>
                  <a:srgbClr val="F7941D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68" name="TextBox 7"/>
          <p:cNvSpPr txBox="1"/>
          <p:nvPr/>
        </p:nvSpPr>
        <p:spPr>
          <a:xfrm xmlns:a="http://schemas.openxmlformats.org/drawingml/2006/main">
            <a:off x="8845200" y="4752000"/>
            <a:ext cx="2530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DIFFERENTIATOR</a:t>
            </a:r>
          </a:p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1 OF 4</a:t>
            </a:r>
          </a:p>
        </p:txBody>
      </p:sp>
      <p:sp>
        <p:nvSpPr>
          <p:cNvPr id="100193" name="Footer7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069" name="Badge8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</a:rPr>
              <a:t>8</a:t>
            </a:r>
          </a:p>
        </p:txBody>
      </p:sp>
      <p:sp>
        <p:nvSpPr>
          <p:cNvPr id="100070" name="TextBox 2"/>
          <p:cNvSpPr txBox="1"/>
          <p:nvPr/>
        </p:nvSpPr>
        <p:spPr>
          <a:xfrm xmlns:a="http://schemas.openxmlformats.org/drawingml/2006/main">
            <a:off x="457200" y="360000"/>
            <a:ext cx="1026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One defensible answer, with evidence</a:t>
            </a:r>
          </a:p>
        </p:txBody>
      </p:sp>
      <p:sp>
        <p:nvSpPr>
          <p:cNvPr id="100071" name="TextBox 3"/>
          <p:cNvSpPr txBox="1"/>
          <p:nvPr/>
        </p:nvSpPr>
        <p:spPr>
          <a:xfrm xmlns:a="http://schemas.openxmlformats.org/drawingml/2006/main">
            <a:off x="457200" y="1566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DIFFERENTIATOR 2 OF 4</a:t>
            </a:r>
          </a:p>
        </p:txBody>
      </p:sp>
      <p:sp>
        <p:nvSpPr>
          <p:cNvPr id="100072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A single 0-100 score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Five-band verdict, spanning ship, review, and don't-ship outcomes - with a confidence interval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Every number is evidence-backed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Built as a decision-maker artifact, not a dashboard</a:t>
            </a:r>
          </a:p>
        </p:txBody>
      </p:sp>
      <p:sp>
        <p:nvSpPr>
          <p:cNvPr id="100073" name="Panel8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074" name="TextBox 6"/>
          <p:cNvSpPr txBox="1"/>
          <p:nvPr/>
        </p:nvSpPr>
        <p:spPr>
          <a:xfrm xmlns:a="http://schemas.openxmlformats.org/drawingml/2006/main">
            <a:off x="8485200" y="3240000"/>
            <a:ext cx="32508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 i="0">
                <a:solidFill>
                  <a:srgbClr val="F7941D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75" name="TextBox 7"/>
          <p:cNvSpPr txBox="1"/>
          <p:nvPr/>
        </p:nvSpPr>
        <p:spPr>
          <a:xfrm xmlns:a="http://schemas.openxmlformats.org/drawingml/2006/main">
            <a:off x="8845200" y="4752000"/>
            <a:ext cx="2530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DIFFERENTIATOR</a:t>
            </a:r>
          </a:p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2 OF 4</a:t>
            </a:r>
          </a:p>
        </p:txBody>
      </p:sp>
      <p:sp>
        <p:nvSpPr>
          <p:cNvPr id="100194" name="Footer8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076" name="Badge9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</a:rPr>
              <a:t>9</a:t>
            </a:r>
          </a:p>
        </p:txBody>
      </p:sp>
      <p:sp>
        <p:nvSpPr>
          <p:cNvPr id="100077" name="TextBox 2"/>
          <p:cNvSpPr txBox="1"/>
          <p:nvPr/>
        </p:nvSpPr>
        <p:spPr>
          <a:xfrm xmlns:a="http://schemas.openxmlformats.org/drawingml/2006/main">
            <a:off x="457200" y="360000"/>
            <a:ext cx="10260000" cy="12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Grading traces too large for a model's context window</a:t>
            </a:r>
          </a:p>
        </p:txBody>
      </p:sp>
      <p:sp>
        <p:nvSpPr>
          <p:cNvPr id="100078" name="TextBox 3"/>
          <p:cNvSpPr txBox="1"/>
          <p:nvPr/>
        </p:nvSpPr>
        <p:spPr>
          <a:xfrm xmlns:a="http://schemas.openxmlformats.org/drawingml/2006/main">
            <a:off x="457200" y="1674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DIFFERENTIATOR 3 OF 4</a:t>
            </a:r>
          </a:p>
        </p:txBody>
      </p:sp>
      <p:sp>
        <p:nvSpPr>
          <p:cNvPr id="100079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Grades 30-50 MB traces - large enough to exceed a typical LLM context window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The agentic orchestrator fetches only the relevant parts - about 0.2% of trace data in testing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A concrete, demoable edge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None of the profiled products advertise this capability</a:t>
            </a:r>
          </a:p>
        </p:txBody>
      </p:sp>
      <p:sp>
        <p:nvSpPr>
          <p:cNvPr id="100080" name="Panel9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081" name="TextBox 6"/>
          <p:cNvSpPr txBox="1"/>
          <p:nvPr/>
        </p:nvSpPr>
        <p:spPr>
          <a:xfrm xmlns:a="http://schemas.openxmlformats.org/drawingml/2006/main">
            <a:off x="8485200" y="3240000"/>
            <a:ext cx="32508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 i="0">
                <a:solidFill>
                  <a:srgbClr val="F7941D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82" name="TextBox 7"/>
          <p:cNvSpPr txBox="1"/>
          <p:nvPr/>
        </p:nvSpPr>
        <p:spPr>
          <a:xfrm xmlns:a="http://schemas.openxmlformats.org/drawingml/2006/main">
            <a:off x="8845200" y="4752000"/>
            <a:ext cx="2530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DIFFERENTIATOR</a:t>
            </a:r>
          </a:p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3 OF 4</a:t>
            </a:r>
          </a:p>
        </p:txBody>
      </p:sp>
      <p:sp>
        <p:nvSpPr>
          <p:cNvPr id="100195" name="Footer9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083" name="Badge10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10</a:t>
            </a:r>
          </a:p>
        </p:txBody>
      </p:sp>
      <p:sp>
        <p:nvSpPr>
          <p:cNvPr id="100084" name="TextBox 2"/>
          <p:cNvSpPr txBox="1"/>
          <p:nvPr/>
        </p:nvSpPr>
        <p:spPr>
          <a:xfrm xmlns:a="http://schemas.openxmlformats.org/drawingml/2006/main">
            <a:off x="457200" y="360000"/>
            <a:ext cx="1026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The TAIS and AI Workspace ecosystem hook</a:t>
            </a:r>
          </a:p>
        </p:txBody>
      </p:sp>
      <p:sp>
        <p:nvSpPr>
          <p:cNvPr id="100085" name="TextBox 3"/>
          <p:cNvSpPr txBox="1"/>
          <p:nvPr/>
        </p:nvSpPr>
        <p:spPr>
          <a:xfrm xmlns:a="http://schemas.openxmlformats.org/drawingml/2006/main">
            <a:off x="457200" y="1566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DIFFERENTIATOR 4 OF 4</a:t>
            </a:r>
          </a:p>
        </p:txBody>
      </p:sp>
      <p:sp>
        <p:nvSpPr>
          <p:cNvPr id="100086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AIW agents auto-provision a tenant and get graded with zero setup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A distribution channel inside Tricentis that no external vendor can replicate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This is the moat: no outside vendor can reach agents through TAIS / AI Workspace the way we can</a:t>
            </a:r>
          </a:p>
        </p:txBody>
      </p:sp>
      <p:sp>
        <p:nvSpPr>
          <p:cNvPr id="100087" name="Panel10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088" name="TextBox 6"/>
          <p:cNvSpPr txBox="1"/>
          <p:nvPr/>
        </p:nvSpPr>
        <p:spPr>
          <a:xfrm xmlns:a="http://schemas.openxmlformats.org/drawingml/2006/main">
            <a:off x="8485200" y="3240000"/>
            <a:ext cx="32508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 i="0">
                <a:solidFill>
                  <a:srgbClr val="F7941D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100089" name="TextBox 7"/>
          <p:cNvSpPr txBox="1"/>
          <p:nvPr/>
        </p:nvSpPr>
        <p:spPr>
          <a:xfrm xmlns:a="http://schemas.openxmlformats.org/drawingml/2006/main">
            <a:off x="8845200" y="4752000"/>
            <a:ext cx="2530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DIFFERENTIATOR</a:t>
            </a:r>
          </a:p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4 OF 4</a:t>
            </a:r>
          </a:p>
        </p:txBody>
      </p:sp>
      <p:sp>
        <p:nvSpPr>
          <p:cNvPr id="100196" name="Footer10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090" name="Badge11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11</a:t>
            </a:r>
          </a:p>
        </p:txBody>
      </p:sp>
      <p:sp>
        <p:nvSpPr>
          <p:cNvPr id="100091" name="TextBox 2"/>
          <p:cNvSpPr txBox="1"/>
          <p:nvPr/>
        </p:nvSpPr>
        <p:spPr>
          <a:xfrm xmlns:a="http://schemas.openxmlformats.org/drawingml/2006/main">
            <a:off x="457200" y="360000"/>
            <a:ext cx="1026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No enterprise auth</a:t>
            </a:r>
          </a:p>
        </p:txBody>
      </p:sp>
      <p:sp>
        <p:nvSpPr>
          <p:cNvPr id="100092" name="TextBox 3"/>
          <p:cNvSpPr txBox="1"/>
          <p:nvPr/>
        </p:nvSpPr>
        <p:spPr>
          <a:xfrm xmlns:a="http://schemas.openxmlformats.org/drawingml/2006/main">
            <a:off x="457200" y="1566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GAP 1 OF 6</a:t>
            </a:r>
          </a:p>
        </p:txBody>
      </p:sp>
      <p:sp>
        <p:nvSpPr>
          <p:cNvPr id="100093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RBAC and SSO/SAML are basic requirements for most enterprise customers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AgentScore has separate superadmin and customer roles today, but they are extremely limited and do not provide true RBAC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For a Tricentis-branded enterprise product, this is table stakes - we cannot sell without it</a:t>
            </a:r>
          </a:p>
        </p:txBody>
      </p:sp>
      <p:sp>
        <p:nvSpPr>
          <p:cNvPr id="100094" name="Panel11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095" name="TextBox 6"/>
          <p:cNvSpPr txBox="1"/>
          <p:nvPr/>
        </p:nvSpPr>
        <p:spPr>
          <a:xfrm xmlns:a="http://schemas.openxmlformats.org/drawingml/2006/main">
            <a:off x="8485200" y="3240000"/>
            <a:ext cx="32508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 i="0">
                <a:solidFill>
                  <a:srgbClr val="F7941D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96" name="TextBox 7"/>
          <p:cNvSpPr txBox="1"/>
          <p:nvPr/>
        </p:nvSpPr>
        <p:spPr>
          <a:xfrm xmlns:a="http://schemas.openxmlformats.org/drawingml/2006/main">
            <a:off x="8845200" y="4752000"/>
            <a:ext cx="2530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GAP</a:t>
            </a:r>
          </a:p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1 OF 6</a:t>
            </a:r>
          </a:p>
        </p:txBody>
      </p:sp>
      <p:sp>
        <p:nvSpPr>
          <p:cNvPr id="100197" name="Footer11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097" name="Badge12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12</a:t>
            </a:r>
          </a:p>
        </p:txBody>
      </p:sp>
      <p:sp>
        <p:nvSpPr>
          <p:cNvPr id="100098" name="TextBox 2"/>
          <p:cNvSpPr txBox="1"/>
          <p:nvPr/>
        </p:nvSpPr>
        <p:spPr>
          <a:xfrm xmlns:a="http://schemas.openxmlformats.org/drawingml/2006/main">
            <a:off x="457200" y="360000"/>
            <a:ext cx="1026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Cloud-only</a:t>
            </a:r>
          </a:p>
        </p:txBody>
      </p:sp>
      <p:sp>
        <p:nvSpPr>
          <p:cNvPr id="100099" name="TextBox 3"/>
          <p:cNvSpPr txBox="1"/>
          <p:nvPr/>
        </p:nvSpPr>
        <p:spPr>
          <a:xfrm xmlns:a="http://schemas.openxmlformats.org/drawingml/2006/main">
            <a:off x="457200" y="1566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GAP 2 OF 6</a:t>
            </a:r>
          </a:p>
        </p:txBody>
      </p:sp>
      <p:sp>
        <p:nvSpPr>
          <p:cNvPr id="100100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Langfuse, Arize, Galileo, Braintrust, and Patronus all offer self-host, VPC, or on-prem deployment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AgentScore today is cloud-only and VPN-gated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A good portion of our users will require on-prem or self-host capabilities</a:t>
            </a:r>
          </a:p>
        </p:txBody>
      </p:sp>
      <p:sp>
        <p:nvSpPr>
          <p:cNvPr id="100101" name="Panel12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102" name="TextBox 6"/>
          <p:cNvSpPr txBox="1"/>
          <p:nvPr/>
        </p:nvSpPr>
        <p:spPr>
          <a:xfrm xmlns:a="http://schemas.openxmlformats.org/drawingml/2006/main">
            <a:off x="8485200" y="3240000"/>
            <a:ext cx="32508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 i="0">
                <a:solidFill>
                  <a:srgbClr val="F7941D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103" name="TextBox 7"/>
          <p:cNvSpPr txBox="1"/>
          <p:nvPr/>
        </p:nvSpPr>
        <p:spPr>
          <a:xfrm xmlns:a="http://schemas.openxmlformats.org/drawingml/2006/main">
            <a:off x="8845200" y="4752000"/>
            <a:ext cx="2530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GAP</a:t>
            </a:r>
          </a:p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2 OF 6</a:t>
            </a:r>
          </a:p>
        </p:txBody>
      </p:sp>
      <p:sp>
        <p:nvSpPr>
          <p:cNvPr id="100198" name="Footer12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104" name="Badge13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13</a:t>
            </a:r>
          </a:p>
        </p:txBody>
      </p:sp>
      <p:sp>
        <p:nvSpPr>
          <p:cNvPr id="100105" name="TextBox 2"/>
          <p:cNvSpPr txBox="1"/>
          <p:nvPr/>
        </p:nvSpPr>
        <p:spPr>
          <a:xfrm xmlns:a="http://schemas.openxmlformats.org/drawingml/2006/main">
            <a:off x="457200" y="360000"/>
            <a:ext cx="1026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No SDK or read API</a:t>
            </a:r>
          </a:p>
        </p:txBody>
      </p:sp>
      <p:sp>
        <p:nvSpPr>
          <p:cNvPr id="100106" name="TextBox 3"/>
          <p:cNvSpPr txBox="1"/>
          <p:nvPr/>
        </p:nvSpPr>
        <p:spPr>
          <a:xfrm xmlns:a="http://schemas.openxmlformats.org/drawingml/2006/main">
            <a:off x="457200" y="1566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GAP 3 OF 6</a:t>
            </a:r>
          </a:p>
        </p:txBody>
      </p:sp>
      <p:sp>
        <p:nvSpPr>
          <p:cNvPr id="100107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OTel-only ingest is elegant for zero-setup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The reserved ck_ Read API and Python SDK are unimplemented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Competitors expose programmatic read and eval access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Limits CI integration and data-out use cases</a:t>
            </a:r>
          </a:p>
        </p:txBody>
      </p:sp>
      <p:sp>
        <p:nvSpPr>
          <p:cNvPr id="100108" name="Panel13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109" name="TextBox 6"/>
          <p:cNvSpPr txBox="1"/>
          <p:nvPr/>
        </p:nvSpPr>
        <p:spPr>
          <a:xfrm xmlns:a="http://schemas.openxmlformats.org/drawingml/2006/main">
            <a:off x="8485200" y="3240000"/>
            <a:ext cx="32508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 i="0">
                <a:solidFill>
                  <a:srgbClr val="F7941D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110" name="TextBox 7"/>
          <p:cNvSpPr txBox="1"/>
          <p:nvPr/>
        </p:nvSpPr>
        <p:spPr>
          <a:xfrm xmlns:a="http://schemas.openxmlformats.org/drawingml/2006/main">
            <a:off x="8845200" y="4752000"/>
            <a:ext cx="2530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GAP</a:t>
            </a:r>
          </a:p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3 OF 6</a:t>
            </a:r>
          </a:p>
        </p:txBody>
      </p:sp>
      <p:sp>
        <p:nvSpPr>
          <p:cNvPr id="100199" name="Footer13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111" name="Badge14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14</a:t>
            </a:r>
          </a:p>
        </p:txBody>
      </p:sp>
      <p:sp>
        <p:nvSpPr>
          <p:cNvPr id="100112" name="TextBox 2"/>
          <p:cNvSpPr txBox="1"/>
          <p:nvPr/>
        </p:nvSpPr>
        <p:spPr>
          <a:xfrm xmlns:a="http://schemas.openxmlformats.org/drawingml/2006/main">
            <a:off x="457200" y="360000"/>
            <a:ext cx="1026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No simulation capability</a:t>
            </a:r>
          </a:p>
        </p:txBody>
      </p:sp>
      <p:sp>
        <p:nvSpPr>
          <p:cNvPr id="100113" name="TextBox 3"/>
          <p:cNvSpPr txBox="1"/>
          <p:nvPr/>
        </p:nvSpPr>
        <p:spPr>
          <a:xfrm xmlns:a="http://schemas.openxmlformats.org/drawingml/2006/main">
            <a:off x="457200" y="1566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GAP 4 OF 6</a:t>
            </a:r>
          </a:p>
        </p:txBody>
      </p:sp>
      <p:sp>
        <p:nvSpPr>
          <p:cNvPr id="100114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The hottest adjacent subsegment - Arato, Patronus, Maxim - generates synthetic users to test pre-prod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AgentScore only grades what already happened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Not our lane today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A strategic hole if buyers consolidate around "test + grade" as one purchase</a:t>
            </a:r>
          </a:p>
        </p:txBody>
      </p:sp>
      <p:sp>
        <p:nvSpPr>
          <p:cNvPr id="100115" name="Panel14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116" name="TextBox 6"/>
          <p:cNvSpPr txBox="1"/>
          <p:nvPr/>
        </p:nvSpPr>
        <p:spPr>
          <a:xfrm xmlns:a="http://schemas.openxmlformats.org/drawingml/2006/main">
            <a:off x="8485200" y="3240000"/>
            <a:ext cx="32508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 i="0">
                <a:solidFill>
                  <a:srgbClr val="F7941D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100117" name="TextBox 7"/>
          <p:cNvSpPr txBox="1"/>
          <p:nvPr/>
        </p:nvSpPr>
        <p:spPr>
          <a:xfrm xmlns:a="http://schemas.openxmlformats.org/drawingml/2006/main">
            <a:off x="8845200" y="4752000"/>
            <a:ext cx="2530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GAP</a:t>
            </a:r>
          </a:p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4 OF 6</a:t>
            </a:r>
          </a:p>
        </p:txBody>
      </p:sp>
      <p:sp>
        <p:nvSpPr>
          <p:cNvPr id="100200" name="Footer14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118" name="Badge15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15</a:t>
            </a:r>
          </a:p>
        </p:txBody>
      </p:sp>
      <p:sp>
        <p:nvSpPr>
          <p:cNvPr id="100119" name="TextBox 2"/>
          <p:cNvSpPr txBox="1"/>
          <p:nvPr/>
        </p:nvSpPr>
        <p:spPr>
          <a:xfrm xmlns:a="http://schemas.openxmlformats.org/drawingml/2006/main">
            <a:off x="457200" y="360000"/>
            <a:ext cx="1026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No runtime guardrails</a:t>
            </a:r>
          </a:p>
        </p:txBody>
      </p:sp>
      <p:sp>
        <p:nvSpPr>
          <p:cNvPr id="100120" name="TextBox 3"/>
          <p:cNvSpPr txBox="1"/>
          <p:nvPr/>
        </p:nvSpPr>
        <p:spPr>
          <a:xfrm xmlns:a="http://schemas.openxmlformats.org/drawingml/2006/main">
            <a:off x="457200" y="1566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GAP 5 OF 6</a:t>
            </a:r>
          </a:p>
        </p:txBody>
      </p:sp>
      <p:sp>
        <p:nvSpPr>
          <p:cNvPr id="100121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Galileo's inline Protect runs on proprietary SLM judges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Those judges score sub-200ms and roughly 98% cheaper than frontier LLM-as-judge calls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Our frontier-Bedrock judge stack does not meet that cost/latency bar for high-volume scoring</a:t>
            </a:r>
          </a:p>
        </p:txBody>
      </p:sp>
      <p:sp>
        <p:nvSpPr>
          <p:cNvPr id="100122" name="Panel15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123" name="TextBox 6"/>
          <p:cNvSpPr txBox="1"/>
          <p:nvPr/>
        </p:nvSpPr>
        <p:spPr>
          <a:xfrm xmlns:a="http://schemas.openxmlformats.org/drawingml/2006/main">
            <a:off x="8485200" y="3240000"/>
            <a:ext cx="32508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 i="0">
                <a:solidFill>
                  <a:srgbClr val="F7941D"/>
                </a:solidFill>
                <a:latin typeface="Calibri"/>
                <a:ea typeface="Calibri"/>
              </a:rPr>
              <a:t>5</a:t>
            </a:r>
          </a:p>
        </p:txBody>
      </p:sp>
      <p:sp>
        <p:nvSpPr>
          <p:cNvPr id="100124" name="TextBox 7"/>
          <p:cNvSpPr txBox="1"/>
          <p:nvPr/>
        </p:nvSpPr>
        <p:spPr>
          <a:xfrm xmlns:a="http://schemas.openxmlformats.org/drawingml/2006/main">
            <a:off x="8845200" y="4752000"/>
            <a:ext cx="2530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GAP</a:t>
            </a:r>
          </a:p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5 OF 6</a:t>
            </a:r>
          </a:p>
        </p:txBody>
      </p:sp>
      <p:sp>
        <p:nvSpPr>
          <p:cNvPr id="100201" name="Footer15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125" name="Badge16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16</a:t>
            </a:r>
          </a:p>
        </p:txBody>
      </p:sp>
      <p:sp>
        <p:nvSpPr>
          <p:cNvPr id="100126" name="TextBox 2"/>
          <p:cNvSpPr txBox="1"/>
          <p:nvPr/>
        </p:nvSpPr>
        <p:spPr>
          <a:xfrm xmlns:a="http://schemas.openxmlformats.org/drawingml/2006/main">
            <a:off x="457200" y="360000"/>
            <a:ext cx="1026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Maturity</a:t>
            </a:r>
          </a:p>
        </p:txBody>
      </p:sp>
      <p:sp>
        <p:nvSpPr>
          <p:cNvPr id="100127" name="TextBox 3"/>
          <p:cNvSpPr txBox="1"/>
          <p:nvPr/>
        </p:nvSpPr>
        <p:spPr>
          <a:xfrm xmlns:a="http://schemas.openxmlformats.org/drawingml/2006/main">
            <a:off x="457200" y="1566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GAP 6 OF 6</a:t>
            </a:r>
          </a:p>
        </p:txBody>
      </p:sp>
      <p:sp>
        <p:nvSpPr>
          <p:cNvPr id="100128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Internal alpha moving to beta - no live external customers yet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Agentic judge cutover incomplete: 2-3 PRs still pending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The validation gate was redefined same-day to pass - a process concern, not just a feature gap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Chat assistant and recommendations are built but dark, not yet live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Every competitor in the comparison table is GA</a:t>
            </a:r>
          </a:p>
        </p:txBody>
      </p:sp>
      <p:sp>
        <p:nvSpPr>
          <p:cNvPr id="100129" name="Panel16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130" name="TextBox 6"/>
          <p:cNvSpPr txBox="1"/>
          <p:nvPr/>
        </p:nvSpPr>
        <p:spPr>
          <a:xfrm xmlns:a="http://schemas.openxmlformats.org/drawingml/2006/main">
            <a:off x="8485200" y="3240000"/>
            <a:ext cx="32508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 i="0">
                <a:solidFill>
                  <a:srgbClr val="F7941D"/>
                </a:solidFill>
                <a:latin typeface="Calibri"/>
                <a:ea typeface="Calibri"/>
              </a:rPr>
              <a:t>6</a:t>
            </a:r>
          </a:p>
        </p:txBody>
      </p:sp>
      <p:sp>
        <p:nvSpPr>
          <p:cNvPr id="100131" name="TextBox 7"/>
          <p:cNvSpPr txBox="1"/>
          <p:nvPr/>
        </p:nvSpPr>
        <p:spPr>
          <a:xfrm xmlns:a="http://schemas.openxmlformats.org/drawingml/2006/main">
            <a:off x="8845200" y="4752000"/>
            <a:ext cx="2530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GAP</a:t>
            </a:r>
          </a:p>
          <a:p xmlns:a="http://schemas.openxmlformats.org/drawingml/2006/main"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6 OF 6</a:t>
            </a:r>
          </a:p>
        </p:txBody>
      </p:sp>
      <p:sp>
        <p:nvSpPr>
          <p:cNvPr id="100202" name="Footer16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132" name="Badge17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18</a:t>
            </a:r>
          </a:p>
        </p:txBody>
      </p:sp>
      <p:sp>
        <p:nvSpPr>
          <p:cNvPr id="100133" name="TextBox 2"/>
          <p:cNvSpPr txBox="1"/>
          <p:nvPr/>
        </p:nvSpPr>
        <p:spPr>
          <a:xfrm xmlns:a="http://schemas.openxmlformats.org/drawingml/2006/main">
            <a:off x="457200" y="360000"/>
            <a:ext cx="1026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Where AgentScore sits</a:t>
            </a:r>
          </a:p>
        </p:txBody>
      </p:sp>
      <p:sp>
        <p:nvSpPr>
          <p:cNvPr id="100134" name="TextBox 3"/>
          <p:cNvSpPr txBox="1"/>
          <p:nvPr/>
        </p:nvSpPr>
        <p:spPr>
          <a:xfrm xmlns:a="http://schemas.openxmlformats.org/drawingml/2006/main">
            <a:off x="457200" y="1566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POSITIONING ASSESSMENT</a:t>
            </a:r>
          </a:p>
        </p:txBody>
      </p:sp>
      <p:sp>
        <p:nvSpPr>
          <p:cNvPr id="100135" name="TextBox 4"/>
          <p:cNvSpPr txBox="1"/>
          <p:nvPr/>
        </p:nvSpPr>
        <p:spPr>
          <a:xfrm xmlns:a="http://schemas.openxmlformats.org/drawingml/2006/main">
            <a:off x="457200" y="2016000"/>
            <a:ext cx="10162800" cy="16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AgentScore is different from most existing products. It seeks to automatically grade agent performance and behavior - no SDK, no test authoring, no labeled data required (it's optional). OTel-in, one defensible 0-100 score out. Our closest neighbors are Galileo (continuous production scoring) and Braintrust (eval-as-verdict), but neither leads with “zero-setup automatic grading.”</a:t>
            </a:r>
          </a:p>
        </p:txBody>
      </p:sp>
      <p:sp>
        <p:nvSpPr>
          <p:cNvPr id="100136" name="TextBox 5"/>
          <p:cNvSpPr txBox="1"/>
          <p:nvPr/>
        </p:nvSpPr>
        <p:spPr>
          <a:xfrm xmlns:a="http://schemas.openxmlformats.org/drawingml/2006/main">
            <a:off x="457200" y="3744000"/>
            <a:ext cx="10162800" cy="26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On the core scoring loop, the technology is credible and in some ways differentiated - zero-setup, large-trace, evidence-backed verdicts. But with no external customers, no enterprise auth, cloud-only VPN-gated access, and no public pricing, AgentScore is not yet a market participant - it is a strong internal alpha with a defensible wedge. The competitors are funded ($50-125M rounds), acquired (ClickHouse, Cisco, CoreWeave), and GA with marquee logos. We do not win a feature-checklist war today. We win by being the grading layer no one else is, delivered where no one else can reach (inside TAIS).</a:t>
            </a:r>
          </a:p>
        </p:txBody>
      </p:sp>
      <p:sp>
        <p:nvSpPr>
          <p:cNvPr id="100137" name="PositioningPanel"/>
          <p:cNvSpPr/>
          <p:nvPr/>
        </p:nvSpPr>
        <p:spPr>
          <a:xfrm xmlns:a="http://schemas.openxmlformats.org/drawingml/2006/main">
            <a:off x="10800000" y="2016000"/>
            <a:ext cx="936000" cy="4384800"/>
          </a:xfrm>
          <a:prstGeom xmlns:a="http://schemas.openxmlformats.org/drawingml/2006/main" prst="rect">
            <a:avLst/>
          </a:prstGeom>
          <a:solidFill>
            <a:srgbClr val="1C4C8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138" name="TextBox 7"/>
          <p:cNvSpPr txBox="1"/>
          <p:nvPr/>
        </p:nvSpPr>
        <p:spPr>
          <a:xfrm xmlns:a="http://schemas.openxmlformats.org/drawingml/2006/main">
            <a:off x="10800000" y="2016000"/>
            <a:ext cx="936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vert27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</a:pPr>
            <a:r>
              <a:rPr lang="en-US" sz="1400" b="1" i="0">
                <a:solidFill>
                  <a:srgbClr val="FFFFFF"/>
                </a:solidFill>
                <a:latin typeface="Calibri"/>
                <a:ea typeface="Calibri"/>
              </a:rPr>
              <a:t>NOT YET A MARKET PARTICIPANT - A DEFENSIBLE WEDGE</a:t>
            </a:r>
          </a:p>
        </p:txBody>
      </p:sp>
      <p:sp>
        <p:nvSpPr>
          <p:cNvPr id="100203" name="Footer17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139" name="Badge18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19</a:t>
            </a:r>
          </a:p>
        </p:txBody>
      </p:sp>
      <p:sp>
        <p:nvSpPr>
          <p:cNvPr id="100140" name="TextBox 2"/>
          <p:cNvSpPr txBox="1"/>
          <p:nvPr/>
        </p:nvSpPr>
        <p:spPr>
          <a:xfrm xmlns:a="http://schemas.openxmlformats.org/drawingml/2006/main">
            <a:off x="457200" y="360000"/>
            <a:ext cx="10260000" cy="12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Lead with features competitors can't easily copy</a:t>
            </a:r>
          </a:p>
        </p:txBody>
      </p:sp>
      <p:sp>
        <p:nvSpPr>
          <p:cNvPr id="100141" name="TextBox 3"/>
          <p:cNvSpPr txBox="1"/>
          <p:nvPr/>
        </p:nvSpPr>
        <p:spPr>
          <a:xfrm xmlns:a="http://schemas.openxmlformats.org/drawingml/2006/main">
            <a:off x="457200" y="1674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STRATEGIC RECOMMENDATION 1 OF 6</a:t>
            </a:r>
          </a:p>
        </p:txBody>
      </p:sp>
      <p:sp>
        <p:nvSpPr>
          <p:cNvPr id="100142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Lead message: “automatic grading with zero setup - inside your Tricentis stack.” No competitor offers this combination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Don't position as another observability/eval dashboard - that's a comparison we'd almost certainly lose to incumbents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Position as the verdict layer - ship, review, or don't ship, plus evidence - that plugs directly into AI Workspace with no instrumentation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Also supports scoring and evaluation of a company's existing or external agents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Make large-trace grading and the evidence-backed 0-100 score the demo centerpiece</a:t>
            </a:r>
          </a:p>
        </p:txBody>
      </p:sp>
      <p:sp>
        <p:nvSpPr>
          <p:cNvPr id="100143" name="Panel18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144" name="TextBox 6"/>
          <p:cNvSpPr txBox="1"/>
          <p:nvPr/>
        </p:nvSpPr>
        <p:spPr>
          <a:xfrm xmlns:a="http://schemas.openxmlformats.org/drawingml/2006/main">
            <a:off x="8485200" y="3240000"/>
            <a:ext cx="32508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 i="0">
                <a:solidFill>
                  <a:srgbClr val="F7941D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145" name="TextBox 7"/>
          <p:cNvSpPr txBox="1"/>
          <p:nvPr/>
        </p:nvSpPr>
        <p:spPr>
          <a:xfrm xmlns:a="http://schemas.openxmlformats.org/drawingml/2006/main">
            <a:off x="8845200" y="4752000"/>
            <a:ext cx="2530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STRATEGIC REC</a:t>
            </a:r>
          </a:p>
          <a:p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1 OF 6</a:t>
            </a:r>
          </a:p>
        </p:txBody>
      </p:sp>
      <p:sp>
        <p:nvSpPr>
          <p:cNvPr id="100204" name="Footer18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146" name="Badge19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20</a:t>
            </a:r>
          </a:p>
        </p:txBody>
      </p:sp>
      <p:sp>
        <p:nvSpPr>
          <p:cNvPr id="100147" name="TextBox 2"/>
          <p:cNvSpPr txBox="1"/>
          <p:nvPr/>
        </p:nvSpPr>
        <p:spPr>
          <a:xfrm xmlns:a="http://schemas.openxmlformats.org/drawingml/2006/main">
            <a:off x="457200" y="360000"/>
            <a:ext cx="10260000" cy="12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Knowing what to measure is the hardest part</a:t>
            </a:r>
          </a:p>
        </p:txBody>
      </p:sp>
      <p:sp>
        <p:nvSpPr>
          <p:cNvPr id="100148" name="TextBox 3"/>
          <p:cNvSpPr txBox="1"/>
          <p:nvPr/>
        </p:nvSpPr>
        <p:spPr>
          <a:xfrm xmlns:a="http://schemas.openxmlformats.org/drawingml/2006/main">
            <a:off x="457200" y="1674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STRATEGIC RECOMMENDATION 2 OF 6</a:t>
            </a:r>
          </a:p>
        </p:txBody>
      </p:sp>
      <p:sp>
        <p:nvSpPr>
          <p:cNvPr id="100149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There are a ton of open-source eval frameworks and tools already out there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Evaluating the agent isn't the hard part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The hard part is knowing what actually needs to be evaluated - and making sure every relevant aspect of an agent is measured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That completeness is what gives users confidence their agent is actually ready to ship</a:t>
            </a:r>
          </a:p>
        </p:txBody>
      </p:sp>
      <p:sp>
        <p:nvSpPr>
          <p:cNvPr id="100150" name="Panel19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151" name="TextBox 6"/>
          <p:cNvSpPr txBox="1"/>
          <p:nvPr/>
        </p:nvSpPr>
        <p:spPr>
          <a:xfrm xmlns:a="http://schemas.openxmlformats.org/drawingml/2006/main">
            <a:off x="8485200" y="3240000"/>
            <a:ext cx="32508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 i="0">
                <a:solidFill>
                  <a:srgbClr val="F7941D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152" name="TextBox 7"/>
          <p:cNvSpPr txBox="1"/>
          <p:nvPr/>
        </p:nvSpPr>
        <p:spPr>
          <a:xfrm xmlns:a="http://schemas.openxmlformats.org/drawingml/2006/main">
            <a:off x="8845200" y="4752000"/>
            <a:ext cx="2530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STRATEGIC REC</a:t>
            </a:r>
          </a:p>
          <a:p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2 OF 6</a:t>
            </a:r>
          </a:p>
        </p:txBody>
      </p:sp>
      <p:sp>
        <p:nvSpPr>
          <p:cNvPr id="100205" name="Footer19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153" name="Badge20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21</a:t>
            </a:r>
          </a:p>
        </p:txBody>
      </p:sp>
      <p:sp>
        <p:nvSpPr>
          <p:cNvPr id="100154" name="TextBox 2"/>
          <p:cNvSpPr txBox="1"/>
          <p:nvPr/>
        </p:nvSpPr>
        <p:spPr>
          <a:xfrm xmlns:a="http://schemas.openxmlformats.org/drawingml/2006/main">
            <a:off x="457200" y="360000"/>
            <a:ext cx="1026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Make a call on simulation and guardrails</a:t>
            </a:r>
          </a:p>
        </p:txBody>
      </p:sp>
      <p:sp>
        <p:nvSpPr>
          <p:cNvPr id="100155" name="TextBox 3"/>
          <p:cNvSpPr txBox="1"/>
          <p:nvPr/>
        </p:nvSpPr>
        <p:spPr>
          <a:xfrm xmlns:a="http://schemas.openxmlformats.org/drawingml/2006/main">
            <a:off x="457200" y="1566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STRATEGIC RECOMMENDATION 3 OF 6</a:t>
            </a:r>
          </a:p>
        </p:txBody>
      </p:sp>
      <p:sp>
        <p:nvSpPr>
          <p:cNvPr id="100156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Simulation testing is a quickly growing market capability - and a serious gap for AgentScore today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Only agents already in production can be tested; only traces real users are actually emitting can be graded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Specific situations remain incredibly difficult to test, and we can't confirm every aspect of desired behavior has been covered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Deciding to tackle this is what makes AgentScore a well-rounded, complete AI agent testing platform</a:t>
            </a:r>
          </a:p>
        </p:txBody>
      </p:sp>
      <p:sp>
        <p:nvSpPr>
          <p:cNvPr id="100157" name="Panel20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158" name="TextBox 6"/>
          <p:cNvSpPr txBox="1"/>
          <p:nvPr/>
        </p:nvSpPr>
        <p:spPr>
          <a:xfrm xmlns:a="http://schemas.openxmlformats.org/drawingml/2006/main">
            <a:off x="8485200" y="3240000"/>
            <a:ext cx="32508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 i="0">
                <a:solidFill>
                  <a:srgbClr val="F7941D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159" name="TextBox 7"/>
          <p:cNvSpPr txBox="1"/>
          <p:nvPr/>
        </p:nvSpPr>
        <p:spPr>
          <a:xfrm xmlns:a="http://schemas.openxmlformats.org/drawingml/2006/main">
            <a:off x="8845200" y="4752000"/>
            <a:ext cx="2530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STRATEGIC REC</a:t>
            </a:r>
          </a:p>
          <a:p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3 OF 6</a:t>
            </a:r>
          </a:p>
        </p:txBody>
      </p:sp>
      <p:sp>
        <p:nvSpPr>
          <p:cNvPr id="100206" name="Footer20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21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160" name="Badge21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22</a:t>
            </a:r>
          </a:p>
        </p:txBody>
      </p:sp>
      <p:sp>
        <p:nvSpPr>
          <p:cNvPr id="100161" name="TextBox 2"/>
          <p:cNvSpPr txBox="1"/>
          <p:nvPr/>
        </p:nvSpPr>
        <p:spPr>
          <a:xfrm xmlns:a="http://schemas.openxmlformats.org/drawingml/2006/main">
            <a:off x="457200" y="360000"/>
            <a:ext cx="1026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MCP capabilities</a:t>
            </a:r>
          </a:p>
        </p:txBody>
      </p:sp>
      <p:sp>
        <p:nvSpPr>
          <p:cNvPr id="100162" name="TextBox 3"/>
          <p:cNvSpPr txBox="1"/>
          <p:nvPr/>
        </p:nvSpPr>
        <p:spPr>
          <a:xfrm xmlns:a="http://schemas.openxmlformats.org/drawingml/2006/main">
            <a:off x="457200" y="1566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STRATEGIC RECOMMENDATION 4 OF 6</a:t>
            </a:r>
          </a:p>
        </p:txBody>
      </p:sp>
      <p:sp>
        <p:nvSpPr>
          <p:cNvPr id="100163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Don't build MCP server conformance testing - already served by MCP Inspector and similar CLIs, with no real product moat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MCP tool calls are just tool-call spans on an OTel trace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Ingestion should recognize and label MCP traces so a report can show “how well did the agent use MCP tools” as a first-class view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Low effort, fits our zero-setup story - but not a differentiator by itself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The moat comes from pairing MCP-awareness with the AIW hook: AIW agents calling out to MCP tools get graded automatically</a:t>
            </a:r>
          </a:p>
        </p:txBody>
      </p:sp>
      <p:sp>
        <p:nvSpPr>
          <p:cNvPr id="100164" name="Panel21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165" name="TextBox 6"/>
          <p:cNvSpPr txBox="1"/>
          <p:nvPr/>
        </p:nvSpPr>
        <p:spPr>
          <a:xfrm xmlns:a="http://schemas.openxmlformats.org/drawingml/2006/main">
            <a:off x="8485200" y="3240000"/>
            <a:ext cx="32508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 i="0">
                <a:solidFill>
                  <a:srgbClr val="F7941D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100166" name="TextBox 7"/>
          <p:cNvSpPr txBox="1"/>
          <p:nvPr/>
        </p:nvSpPr>
        <p:spPr>
          <a:xfrm xmlns:a="http://schemas.openxmlformats.org/drawingml/2006/main">
            <a:off x="8845200" y="4752000"/>
            <a:ext cx="2530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STRATEGIC REC</a:t>
            </a:r>
          </a:p>
          <a:p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4 OF 6</a:t>
            </a:r>
          </a:p>
        </p:txBody>
      </p:sp>
      <p:sp>
        <p:nvSpPr>
          <p:cNvPr id="100207" name="Footer21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167" name="Badge22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23</a:t>
            </a:r>
          </a:p>
        </p:txBody>
      </p:sp>
      <p:sp>
        <p:nvSpPr>
          <p:cNvPr id="100168" name="TextBox 2"/>
          <p:cNvSpPr txBox="1"/>
          <p:nvPr/>
        </p:nvSpPr>
        <p:spPr>
          <a:xfrm xmlns:a="http://schemas.openxmlformats.org/drawingml/2006/main">
            <a:off x="457200" y="360000"/>
            <a:ext cx="1026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Fix enterprise readiness</a:t>
            </a:r>
          </a:p>
        </p:txBody>
      </p:sp>
      <p:sp>
        <p:nvSpPr>
          <p:cNvPr id="100169" name="TextBox 3"/>
          <p:cNvSpPr txBox="1"/>
          <p:nvPr/>
        </p:nvSpPr>
        <p:spPr>
          <a:xfrm xmlns:a="http://schemas.openxmlformats.org/drawingml/2006/main">
            <a:off x="457200" y="1566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STRATEGIC RECOMMENDATION 5 OF 6</a:t>
            </a:r>
          </a:p>
        </p:txBody>
      </p:sp>
      <p:sp>
        <p:nvSpPr>
          <p:cNvPr id="100170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RBAC, SSO/SAML, and non-VPN access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These three are actual blockers to any external design partner converting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We can still offer demos and closed betas in the current state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But they are table stakes for any long-term engagement</a:t>
            </a:r>
          </a:p>
        </p:txBody>
      </p:sp>
      <p:sp>
        <p:nvSpPr>
          <p:cNvPr id="100171" name="Panel22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172" name="TextBox 6"/>
          <p:cNvSpPr txBox="1"/>
          <p:nvPr/>
        </p:nvSpPr>
        <p:spPr>
          <a:xfrm xmlns:a="http://schemas.openxmlformats.org/drawingml/2006/main">
            <a:off x="8485200" y="3240000"/>
            <a:ext cx="32508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 i="0">
                <a:solidFill>
                  <a:srgbClr val="F7941D"/>
                </a:solidFill>
                <a:latin typeface="Calibri"/>
                <a:ea typeface="Calibri"/>
              </a:rPr>
              <a:t>5</a:t>
            </a:r>
          </a:p>
        </p:txBody>
      </p:sp>
      <p:sp>
        <p:nvSpPr>
          <p:cNvPr id="100173" name="TextBox 7"/>
          <p:cNvSpPr txBox="1"/>
          <p:nvPr/>
        </p:nvSpPr>
        <p:spPr>
          <a:xfrm xmlns:a="http://schemas.openxmlformats.org/drawingml/2006/main">
            <a:off x="8845200" y="4752000"/>
            <a:ext cx="2530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STRATEGIC REC</a:t>
            </a:r>
          </a:p>
          <a:p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5 OF 6</a:t>
            </a:r>
          </a:p>
        </p:txBody>
      </p:sp>
      <p:sp>
        <p:nvSpPr>
          <p:cNvPr id="100208" name="Footer22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174" name="Badge23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25</a:t>
            </a:r>
          </a:p>
        </p:txBody>
      </p:sp>
      <p:sp>
        <p:nvSpPr>
          <p:cNvPr id="100175" name="TextBox 2"/>
          <p:cNvSpPr txBox="1"/>
          <p:nvPr/>
        </p:nvSpPr>
        <p:spPr>
          <a:xfrm xmlns:a="http://schemas.openxmlformats.org/drawingml/2006/main">
            <a:off x="457200" y="360000"/>
            <a:ext cx="1026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The SAP angle: int4 TrustGate</a:t>
            </a:r>
          </a:p>
        </p:txBody>
      </p:sp>
      <p:sp>
        <p:nvSpPr>
          <p:cNvPr id="100176" name="TextBox 3"/>
          <p:cNvSpPr txBox="1"/>
          <p:nvPr/>
        </p:nvSpPr>
        <p:spPr>
          <a:xfrm xmlns:a="http://schemas.openxmlformats.org/drawingml/2006/main">
            <a:off x="457200" y="1566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WATCH ITEM - LOW URGENCY, TRICENTIS-ADJACENT</a:t>
            </a:r>
          </a:p>
        </p:txBody>
      </p:sp>
      <p:sp>
        <p:nvSpPr>
          <p:cNvPr id="100177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int4 TrustGate is not a head-to-head evaluator - but it's first to plant an “AI trust for SAP” flag: runtime guardrails on agents writing to S/4HANA, inside enterprise accounts Tricentis already sells Tosca into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It validates the business outcome (the SAP document) - a framing our behavior-grading doesn't cover - and it lands right where Tosca's SAP testing strength lives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Implication A: a plausible integration/partner surface (grade the agent's behavior + gate its write) more than a rival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Implication B: if enterprise buyers start expecting “AI trust for my ERP agents,” decide whether AgentScore's verdict layer plugs into that story via Tosca, rather than ceding the SAP-agent conversation</a:t>
            </a:r>
          </a:p>
        </p:txBody>
      </p:sp>
      <p:sp>
        <p:nvSpPr>
          <p:cNvPr id="100178" name="WatchPanel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179" name="TextBox 6"/>
          <p:cNvSpPr txBox="1"/>
          <p:nvPr/>
        </p:nvSpPr>
        <p:spPr>
          <a:xfrm xmlns:a="http://schemas.openxmlformats.org/drawingml/2006/main">
            <a:off x="8485200" y="2592000"/>
            <a:ext cx="3250800" cy="12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</a:pPr>
            <a:r>
              <a:rPr lang="en-US" sz="3400" b="1" i="0">
                <a:solidFill>
                  <a:srgbClr val="F7941D"/>
                </a:solidFill>
                <a:latin typeface="Calibri"/>
                <a:ea typeface="Calibri"/>
              </a:rPr>
              <a:t>LOW</a:t>
            </a:r>
          </a:p>
          <a:p xmlns:a="http://schemas.openxmlformats.org/drawingml/2006/main">
            <a:pPr algn="ctr">
              <a:lnSpc>
                <a:spcPct val="110000"/>
              </a:lnSpc>
            </a:pPr>
            <a:r>
              <a:rPr lang="en-US" sz="3400" b="1" i="0">
                <a:solidFill>
                  <a:srgbClr val="F7941D"/>
                </a:solidFill>
                <a:latin typeface="Calibri"/>
                <a:ea typeface="Calibri"/>
              </a:rPr>
              <a:t>URGENCY</a:t>
            </a:r>
          </a:p>
        </p:txBody>
      </p:sp>
      <p:sp>
        <p:nvSpPr>
          <p:cNvPr id="100180" name="TextBox 7"/>
          <p:cNvSpPr txBox="1"/>
          <p:nvPr/>
        </p:nvSpPr>
        <p:spPr>
          <a:xfrm xmlns:a="http://schemas.openxmlformats.org/drawingml/2006/main">
            <a:off x="8809200" y="4032000"/>
            <a:ext cx="26028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</a:pPr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Brand-new, bootstrapped, unproven</a:t>
            </a:r>
          </a:p>
        </p:txBody>
      </p:sp>
      <p:sp>
        <p:nvSpPr>
          <p:cNvPr id="100181" name="TextBox 8"/>
          <p:cNvSpPr/>
          <p:nvPr/>
        </p:nvSpPr>
        <p:spPr>
          <a:xfrm xmlns:a="http://schemas.openxmlformats.org/drawingml/2006/main">
            <a:off x="8845200" y="5436000"/>
            <a:ext cx="2530800" cy="540000"/>
          </a:xfrm>
          <a:prstGeom xmlns:a="http://schemas.openxmlformats.org/drawingml/2006/main" prst="roundRect">
            <a:avLst/>
          </a:prstGeom>
          <a:solidFill>
            <a:srgbClr val="F794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182" name="TextBox 9"/>
          <p:cNvSpPr txBox="1"/>
          <p:nvPr/>
        </p:nvSpPr>
        <p:spPr>
          <a:xfrm xmlns:a="http://schemas.openxmlformats.org/drawingml/2006/main">
            <a:off x="8845200" y="5436000"/>
            <a:ext cx="25308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300" b="1" i="0">
                <a:solidFill>
                  <a:srgbClr val="FFFFFF"/>
                </a:solidFill>
                <a:latin typeface="Calibri"/>
                <a:ea typeface="Calibri"/>
              </a:rPr>
              <a:t>FLAG FOR TOSCA / SAP GTM</a:t>
            </a:r>
          </a:p>
        </p:txBody>
      </p:sp>
      <p:sp>
        <p:nvSpPr>
          <p:cNvPr id="100209" name="Footer23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24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216" name="MotifSolid24"/>
          <p:cNvSpPr/>
          <p:nvPr/>
        </p:nvSpPr>
        <p:spPr>
          <a:xfrm>
            <a:off x="468000" y="5220000"/>
            <a:ext cx="1872000" cy="1116000"/>
          </a:xfrm>
          <a:prstGeom prst="chevron">
            <a:avLst/>
          </a:prstGeom>
          <a:gradFill>
            <a:gsLst>
              <a:gs pos="0">
                <a:srgbClr val="F7941D"/>
              </a:gs>
              <a:gs pos="100000">
                <a:srgbClr val="1E5AA3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100215" name="MotifOutline24"/>
          <p:cNvSpPr/>
          <p:nvPr/>
        </p:nvSpPr>
        <p:spPr>
          <a:xfrm>
            <a:off x="144000" y="5004000"/>
            <a:ext cx="2376000" cy="1548000"/>
          </a:xfrm>
          <a:prstGeom prst="chevron">
            <a:avLst/>
          </a:prstGeom>
          <a:noFill/>
          <a:ln w="19050">
            <a:solidFill>
              <a:srgbClr val="F7941D"/>
            </a:solidFill>
          </a:ln>
        </p:spPr>
        <p:txBody>
          <a:bodyPr/>
          <a:lstStyle/>
          <a:p/>
        </p:txBody>
      </p:sp>
      <p:sp>
        <p:nvSpPr>
          <p:cNvPr id="100184" name="TextBox 2"/>
          <p:cNvSpPr/>
          <p:nvPr/>
        </p:nvSpPr>
        <p:spPr>
          <a:xfrm xmlns:a="http://schemas.openxmlformats.org/drawingml/2006/main">
            <a:off x="3240000" y="900000"/>
            <a:ext cx="5713200" cy="571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>
              <a:alpha val="7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183" name="Badge24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26</a:t>
            </a:r>
          </a:p>
        </p:txBody>
      </p:sp>
      <p:sp>
        <p:nvSpPr>
          <p:cNvPr id="100185" name="TextBox 3"/>
          <p:cNvSpPr txBox="1"/>
          <p:nvPr/>
        </p:nvSpPr>
        <p:spPr>
          <a:xfrm xmlns:a="http://schemas.openxmlformats.org/drawingml/2006/main">
            <a:off x="900000" y="2016000"/>
            <a:ext cx="10393200" cy="12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We are the verdict layer competitors aren't building.</a:t>
            </a:r>
          </a:p>
        </p:txBody>
      </p:sp>
      <p:sp>
        <p:nvSpPr>
          <p:cNvPr id="100186" name="TextBox 4"/>
          <p:cNvSpPr txBox="1"/>
          <p:nvPr/>
        </p:nvSpPr>
        <p:spPr>
          <a:xfrm xmlns:a="http://schemas.openxmlformats.org/drawingml/2006/main">
            <a:off x="1440000" y="3708000"/>
            <a:ext cx="93132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</a:pPr>
            <a:r>
              <a:rPr lang="en-US" sz="2000" b="0" i="0">
                <a:solidFill>
                  <a:srgbClr val="C9D6ED"/>
                </a:solidFill>
                <a:latin typeface="Calibri"/>
                <a:ea typeface="Calibri"/>
              </a:rPr>
              <a:t>We win by being the grading layer no one else is, delivered where no one else can reach.</a:t>
            </a:r>
          </a:p>
        </p:txBody>
      </p:sp>
      <p:sp>
        <p:nvSpPr>
          <p:cNvPr id="100210" name="Footer24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25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217" name="Badge16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17</a:t>
            </a:r>
          </a:p>
        </p:txBody>
      </p:sp>
      <p:sp>
        <p:nvSpPr>
          <p:cNvPr id="100218" name="TextBox 2"/>
          <p:cNvSpPr txBox="1"/>
          <p:nvPr/>
        </p:nvSpPr>
        <p:spPr>
          <a:xfrm xmlns:a="http://schemas.openxmlformats.org/drawingml/2006/main">
            <a:off x="457200" y="360000"/>
            <a:ext cx="1026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Not all gaps cost the same to close</a:t>
            </a:r>
          </a:p>
        </p:txBody>
      </p:sp>
      <p:sp>
        <p:nvSpPr>
          <p:cNvPr id="100219" name="TextBox 3"/>
          <p:cNvSpPr txBox="1"/>
          <p:nvPr/>
        </p:nvSpPr>
        <p:spPr>
          <a:xfrm xmlns:a="http://schemas.openxmlformats.org/drawingml/2006/main">
            <a:off x="457200" y="1566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CAPABILITY GAPS · EFFORT &amp; SEQUENCING</a:t>
            </a:r>
          </a:p>
        </p:txBody>
      </p:sp>
      <p:sp>
        <p:nvSpPr>
          <p:cNvPr id="100220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Low effort, near-term: RBAC, SDK/Read API, and Maturity - policy and execution work once Tosca SSO lands, not new architecture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Medium/high effort, roadmap: on-prem/self-host and user simulation - real, buildable capabilities, but multi-quarter investments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Not recommended now: runtime guardrails - would mean standing up a second, cheaper judge tier to compete on a dimension that is not our differentiator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Net: ship RBAC and API/SDK exposure opportunistically, close out maturity this quarter, and hold on-prem and simulation as deliberate roadmap decisions</a:t>
            </a:r>
          </a:p>
        </p:txBody>
      </p:sp>
      <p:sp>
        <p:nvSpPr>
          <p:cNvPr id="100221" name="Panel16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222" name="TextBox 6"/>
          <p:cNvSpPr txBox="1"/>
          <p:nvPr/>
        </p:nvSpPr>
        <p:spPr>
          <a:xfrm xmlns:a="http://schemas.openxmlformats.org/drawingml/2006/main">
            <a:off x="8485200" y="3240000"/>
            <a:ext cx="32508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 i="0">
                <a:solidFill>
                  <a:srgbClr val="F7941D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223" name="TextBox 7"/>
          <p:cNvSpPr txBox="1"/>
          <p:nvPr/>
        </p:nvSpPr>
        <p:spPr>
          <a:xfrm xmlns:a="http://schemas.openxmlformats.org/drawingml/2006/main">
            <a:off x="8845200" y="4752000"/>
            <a:ext cx="2530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EFFORT &amp;</a:t>
            </a:r>
          </a:p>
          <a:p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SEQUENCING</a:t>
            </a:r>
          </a:p>
        </p:txBody>
      </p:sp>
      <p:sp>
        <p:nvSpPr>
          <p:cNvPr id="100224" name="Footer16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slides/slide26.xml><?xml version="1.0" encoding="utf-8"?>
<p:sld xmlns:a="http://schemas.openxmlformats.org/drawingml/2006/main" xmlns:p="http://schemas.openxmlformats.org/presentationml/2006/main">
  <p:cSld>
    <p:bg>
      <p:bgPr>
        <a:gradFill>
          <a:gsLst>
            <a:gs pos="0">
              <a:srgbClr val="0D2B5C"/>
            </a:gs>
            <a:gs pos="100000">
              <a:srgbClr val="0410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225" name="Badge22"/>
          <p:cNvSpPr/>
          <p:nvPr/>
        </p:nvSpPr>
        <p:spPr>
          <a:xfrm xmlns:a="http://schemas.openxmlformats.org/drawingml/2006/main">
            <a:off x="11052000" y="324000"/>
            <a:ext cx="684000" cy="684000"/>
          </a:xfrm>
          <a:prstGeom xmlns:a="http://schemas.openxmlformats.org/drawingml/2006/main" prst="ellipse">
            <a:avLst/>
          </a:prstGeom>
          <a:solidFill>
            <a:srgbClr val="163A6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</a:rPr>
              <a:t>24</a:t>
            </a:r>
          </a:p>
        </p:txBody>
      </p:sp>
      <p:sp>
        <p:nvSpPr>
          <p:cNvPr id="100226" name="TextBox 2"/>
          <p:cNvSpPr txBox="1"/>
          <p:nvPr/>
        </p:nvSpPr>
        <p:spPr>
          <a:xfrm xmlns:a="http://schemas.openxmlformats.org/drawingml/2006/main">
            <a:off x="457200" y="360000"/>
            <a:ext cx="1026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 i="0">
                <a:solidFill>
                  <a:srgbClr val="FFFFFF"/>
                </a:solidFill>
                <a:latin typeface="Calibri"/>
                <a:ea typeface="Calibri"/>
              </a:rPr>
              <a:t>Make the ingest-to-fix pipeline the story, not attribution alone</a:t>
            </a:r>
          </a:p>
        </p:txBody>
      </p:sp>
      <p:sp>
        <p:nvSpPr>
          <p:cNvPr id="100227" name="TextBox 3"/>
          <p:cNvSpPr txBox="1"/>
          <p:nvPr/>
        </p:nvSpPr>
        <p:spPr>
          <a:xfrm xmlns:a="http://schemas.openxmlformats.org/drawingml/2006/main">
            <a:off x="457200" y="1566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FDB44E"/>
                </a:solidFill>
                <a:latin typeface="Calibri"/>
                <a:ea typeface="Calibri"/>
              </a:rPr>
              <a:t>›  STRATEGIC RECOMMENDATION 6 OF 6</a:t>
            </a:r>
          </a:p>
        </p:txBody>
      </p:sp>
      <p:sp>
        <p:nvSpPr>
          <p:cNvPr id="100228" name="TextBox 4"/>
          <p:cNvSpPr txBox="1"/>
          <p:nvPr/>
        </p:nvSpPr>
        <p:spPr>
          <a:xfrm xmlns:a="http://schemas.openxmlformats.org/drawingml/2006/main">
            <a:off x="457200" y="2016000"/>
            <a:ext cx="7740000" cy="43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Failure attribution alone is not unique - Arize's Alyx and Patronus's Percival already do it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What is harder to copy is the pipeline it sits inside, running end-to-end on zero-setup OTel traces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Competitors hand you an explanation only after setup work; we hand you the explanation as a byproduct of the same zero-touch ingestion that produced the score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Neither Alyx nor Percival is documented to close the loop from "why it failed" to "what to do about it"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lang="en-US" sz="1800" b="0" i="0">
                <a:solidFill>
                  <a:srgbClr val="FFFFFF"/>
                </a:solidFill>
                <a:latin typeface="Calibri"/>
                <a:ea typeface="Calibri"/>
              </a:rPr>
              <a:t>•  "We don't just tell you it's broken, we tell you how to fix it" - a claim none of the profiled competitors can make</a:t>
            </a:r>
          </a:p>
        </p:txBody>
      </p:sp>
      <p:sp>
        <p:nvSpPr>
          <p:cNvPr id="100229" name="Panel22"/>
          <p:cNvSpPr/>
          <p:nvPr/>
        </p:nvSpPr>
        <p:spPr>
          <a:xfrm xmlns:a="http://schemas.openxmlformats.org/drawingml/2006/main">
            <a:off x="8485200" y="2016000"/>
            <a:ext cx="3250800" cy="4384800"/>
          </a:xfrm>
          <a:prstGeom xmlns:a="http://schemas.openxmlformats.org/drawingml/2006/main" prst="roundRect">
            <a:avLst/>
          </a:prstGeom>
          <a:solidFill>
            <a:srgbClr val="0F2A5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333333"/>
              </a:solidFill>
              <a:latin typeface="Calibri"/>
              <a:ea typeface="Calibri"/>
            </a:endParaRPr>
          </a:p>
        </p:txBody>
      </p:sp>
      <p:sp>
        <p:nvSpPr>
          <p:cNvPr id="100230" name="TextBox 6"/>
          <p:cNvSpPr txBox="1"/>
          <p:nvPr/>
        </p:nvSpPr>
        <p:spPr>
          <a:xfrm xmlns:a="http://schemas.openxmlformats.org/drawingml/2006/main">
            <a:off x="8485200" y="3240000"/>
            <a:ext cx="32508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 i="0">
                <a:solidFill>
                  <a:srgbClr val="F7941D"/>
                </a:solidFill>
                <a:latin typeface="Calibri"/>
                <a:ea typeface="Calibri"/>
              </a:rPr>
              <a:t>6</a:t>
            </a:r>
          </a:p>
        </p:txBody>
      </p:sp>
      <p:sp>
        <p:nvSpPr>
          <p:cNvPr id="100231" name="TextBox 7"/>
          <p:cNvSpPr txBox="1"/>
          <p:nvPr/>
        </p:nvSpPr>
        <p:spPr>
          <a:xfrm xmlns:a="http://schemas.openxmlformats.org/drawingml/2006/main">
            <a:off x="8845200" y="4752000"/>
            <a:ext cx="25308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STRATEGIC REC</a:t>
            </a:r>
          </a:p>
          <a:p>
            <a:pPr algn="ctr">
              <a:lnSpc>
                <a:spcPct val="120000"/>
              </a:lnSpc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</a:rPr>
              <a:t>6 OF 6</a:t>
            </a:r>
          </a:p>
        </p:txBody>
      </p:sp>
      <p:sp>
        <p:nvSpPr>
          <p:cNvPr id="100232" name="Footer22"/>
          <p:cNvSpPr txBox="1"/>
          <p:nvPr/>
        </p:nvSpPr>
        <p:spPr>
          <a:xfrm>
            <a:off x="457200" y="6606000"/>
            <a:ext cx="7200000" cy="23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900" b="0" i="0">
                <a:solidFill>
                  <a:srgbClr val="C9D6ED"/>
                </a:solidFill>
                <a:latin typeface="Calibri"/>
                <a:ea typeface="Calibri"/>
              </a:rPr>
              <a:t>© Tricentis. All rights reserved.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2026-09-10T18:01:29Z</dcterms:created>
  <cp:lastModifiedBy>OfficeCLI</cp:lastModifiedBy>
  <dcterms:modified xsi:type="dcterms:W3CDTF">2026-09-10T18:01:29Z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2026-09-11T16:35:47Z</vt:lpwstr>
  </op:property>
</op:Properties>
</file>