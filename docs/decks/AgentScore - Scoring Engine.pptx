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837b2a3a85b44ef" /><Relationship Type="http://schemas.openxmlformats.org/package/2006/relationships/metadata/core-properties" Target="/docProps/core.xml" Id="Rf90b321a4b0a425e" /><Relationship Type="http://schemas.openxmlformats.org/officeDocument/2006/relationships/extended-properties" Target="/docProps/app.xml" Id="Rba8bdc4e38e84f62" /><Relationship Type="http://schemas.openxmlformats.org/officeDocument/2006/relationships/custom-properties" Target="/docProps/custom.xml" Id="R88de5983ae56432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430feca87e04843"/>
  </p:notesMasterIdLst>
  <p:sldIdLst>
    <p:sldId id="256" r:id="Rea945a39f9f24c7d"/>
    <p:sldId id="257" r:id="Reaa6bcd3e1ea4a36"/>
    <p:sldId id="258" r:id="Rb95818a4a2e5490e"/>
    <p:sldId id="259" r:id="Rd7962d495ded42f0"/>
    <p:sldId id="260" r:id="R43eb663c0c424811"/>
    <p:sldId id="261" r:id="Reaa47ed50ecb44c2"/>
    <p:sldId id="262" r:id="Re65fd140bf924b26"/>
    <p:sldId id="263" r:id="Rf11fbaeaf88743a9"/>
    <p:sldId id="264" r:id="R8af440481b674430"/>
    <p:sldId id="265" r:id="Rff89da806de84b9f"/>
    <p:sldId id="266" r:id="R590b774bc4dc4c5b"/>
    <p:sldId id="267" r:id="Rafd054da69574f23"/>
    <p:sldId id="268" r:id="R88c77f375e3d4880"/>
    <p:sldId id="269" r:id="R6fad3d4616064c42"/>
    <p:sldId id="270" r:id="R1041658f08644679"/>
    <p:sldId id="271" r:id="Rc9c2c141a16e453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a945a39f9f24c7d" /><Relationship Type="http://schemas.openxmlformats.org/officeDocument/2006/relationships/notesMaster" Target="/ppt/notesMasters/notesMaster1.xml" Id="R0430feca87e04843" /><Relationship Type="http://schemas.openxmlformats.org/officeDocument/2006/relationships/slide" Target="/ppt/slides/slide2.xml" Id="Reaa6bcd3e1ea4a36" /><Relationship Type="http://schemas.openxmlformats.org/officeDocument/2006/relationships/slide" Target="/ppt/slides/slide3.xml" Id="Rb95818a4a2e5490e" /><Relationship Type="http://schemas.openxmlformats.org/officeDocument/2006/relationships/slide" Target="/ppt/slides/slide4.xml" Id="Rd7962d495ded42f0" /><Relationship Type="http://schemas.openxmlformats.org/officeDocument/2006/relationships/slide" Target="/ppt/slides/slide5.xml" Id="R43eb663c0c424811" /><Relationship Type="http://schemas.openxmlformats.org/officeDocument/2006/relationships/slide" Target="/ppt/slides/slide6.xml" Id="Reaa47ed50ecb44c2" /><Relationship Type="http://schemas.openxmlformats.org/officeDocument/2006/relationships/slide" Target="/ppt/slides/slide7.xml" Id="Re65fd140bf924b26" /><Relationship Type="http://schemas.openxmlformats.org/officeDocument/2006/relationships/slide" Target="/ppt/slides/slide8.xml" Id="Rf11fbaeaf88743a9" /><Relationship Type="http://schemas.openxmlformats.org/officeDocument/2006/relationships/slide" Target="/ppt/slides/slide9.xml" Id="R8af440481b674430" /><Relationship Type="http://schemas.openxmlformats.org/officeDocument/2006/relationships/slide" Target="/ppt/slides/slide10.xml" Id="Rff89da806de84b9f" /><Relationship Type="http://schemas.openxmlformats.org/officeDocument/2006/relationships/slide" Target="/ppt/slides/slide11.xml" Id="R590b774bc4dc4c5b" /><Relationship Type="http://schemas.openxmlformats.org/officeDocument/2006/relationships/slide" Target="/ppt/slides/slide12.xml" Id="Rafd054da69574f23" /><Relationship Type="http://schemas.openxmlformats.org/officeDocument/2006/relationships/slide" Target="/ppt/slides/slide13.xml" Id="R88c77f375e3d4880" /><Relationship Type="http://schemas.openxmlformats.org/officeDocument/2006/relationships/slide" Target="/ppt/slides/slide14.xml" Id="R6fad3d4616064c42" /><Relationship Type="http://schemas.openxmlformats.org/officeDocument/2006/relationships/slide" Target="/ppt/slides/slide15.xml" Id="R1041658f08644679" /><Relationship Type="http://schemas.openxmlformats.org/officeDocument/2006/relationships/slide" Target="/ppt/slides/slide16.xml" Id="Rc9c2c141a16e45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1fa39ea7e6463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4963c7057674a7f" /><Relationship Type="http://schemas.openxmlformats.org/officeDocument/2006/relationships/slide" Target="/ppt/slides/slide1.xml" Id="R259f8dd26975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4af6ead8f84cc7" /><Relationship Type="http://schemas.openxmlformats.org/officeDocument/2006/relationships/slide" Target="/ppt/slides/slide2.xml" Id="R2a8c380240f9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f151f66b7b84e59" /><Relationship Type="http://schemas.openxmlformats.org/officeDocument/2006/relationships/slide" Target="/ppt/slides/slide3.xml" Id="Rae042e4673b2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b25ed63d38d41f6" /><Relationship Type="http://schemas.openxmlformats.org/officeDocument/2006/relationships/slide" Target="/ppt/slides/slide4.xml" Id="R3e89cec97576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b81a0f163724a90" /><Relationship Type="http://schemas.openxmlformats.org/officeDocument/2006/relationships/slide" Target="/ppt/slides/slide5.xml" Id="R4c2044031ab444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9a679bfde64d13" /><Relationship Type="http://schemas.openxmlformats.org/officeDocument/2006/relationships/slide" Target="/ppt/slides/slide6.xml" Id="R33fd54a372dd4e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d35cf120b48e1" /><Relationship Type="http://schemas.openxmlformats.org/officeDocument/2006/relationships/slide" Target="/ppt/slides/slide7.xml" Id="R6ccd8651d028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77699c6a3946a6" /><Relationship Type="http://schemas.openxmlformats.org/officeDocument/2006/relationships/slide" Target="/ppt/slides/slide8.xml" Id="Rdbb8d8f4b81b4b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b3e2107c0d4312" /><Relationship Type="http://schemas.openxmlformats.org/officeDocument/2006/relationships/slide" Target="/ppt/slides/slide9.xml" Id="R772884192b904b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f041ff80484231" /><Relationship Type="http://schemas.openxmlformats.org/officeDocument/2006/relationships/slide" Target="/ppt/slides/slide10.xml" Id="R5ae8e3da79f1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f74d97c6604650" /><Relationship Type="http://schemas.openxmlformats.org/officeDocument/2006/relationships/slide" Target="/ppt/slides/slide11.xml" Id="R1952692d91ae46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0a2697906074b18" /><Relationship Type="http://schemas.openxmlformats.org/officeDocument/2006/relationships/slide" Target="/ppt/slides/slide12.xml" Id="Rf2c644ae93ed4f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e1fa272d51f408b" /><Relationship Type="http://schemas.openxmlformats.org/officeDocument/2006/relationships/slide" Target="/ppt/slides/slide13.xml" Id="Rbf74d768169f44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9b618ef65b64f8c" /><Relationship Type="http://schemas.openxmlformats.org/officeDocument/2006/relationships/slide" Target="/ppt/slides/slide14.xml" Id="Rcd4c986c9fb945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4150229556443c" /><Relationship Type="http://schemas.openxmlformats.org/officeDocument/2006/relationships/slide" Target="/ppt/slides/slide15.xml" Id="R5448b389f86b4d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fcb233fef974a5c" /><Relationship Type="http://schemas.openxmlformats.org/officeDocument/2006/relationships/slide" Target="/ppt/slides/slide16.xml" Id="Ra15bb861e5284f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deck is a deep dive into how AgentScore's scoring engine actually works, as implemented today — the companion technical doc is 14-scoring-engine-reference.md. Open by stating the thesis: it never runs your agent, it only reads what your agent already did.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single load-bearing property of the whole system. Agent Score is a read-only observer: 'scoring version V' only works if V's outputs for the golden inputs arrive as traces. There is no re-execution step anywhere.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left to right, top row then bottom row: spans arrive, get stored per-agent in the trace store, and a Run triggers the Producer to enqueue one ScoringRun + N ScoringTask rows in a single transaction. The bottom row is the async job: a worker pool claims tasks off the Postgres queue, and once every task is terminal, one elected worker aggregates into a composite and verdict.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 eval is one grading question, scored 0-1. Related evals group into a weighted dimension — no double-counting, since an eval belongs to exactly one dimension within a given profile. A profile bundles dimensions + weights + verdict bands and is immutable per version — editing creates a new version. Every agent gets a benchmark (a pointer to one profile version) atomically at creation, so no agent is ever unscoreable.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evaluator reads this canonical projection — never the raw spans directly. Note the conservative success derivation: a WARNING is not a failure, and an undecidable case is None, never guessed as True or False.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Kind decides how an eval computes: library metrics are per-metric deterministic, G-Eval is the least deterministic (a judge scores free-form criteria), DAG is fully deterministic since it's a fixed decision tree, and Hybrid splits the work so only the REDUCE step (pure code) is guaranteed reproducible.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judge cascade: use this eval's own judge model if one is set, otherwise fall back to the agent's default judge, otherwise the system-wide default. Separately: if required inputs aren't satisfiable, the eval produces N/A, never a zero — this keeps a starved metric from dragging down a composite it never actually measured.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Reference-free evals (faithfulness, tool-correctness, safety) score from day one. Reference-based evals (answer-correctness, JSON conformance) need this human-confirmed answer key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run is dispatched through a Postgres-backed work queue with an independently-scaled worker service — the sole dispatch path; an earlier in-process executor was deleted, not kept as a fallback. Once the last task goes terminal, elect_aggregator() runs exactly once.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task reaches a terminal state and a run finalizes exactly once. A failed run can safely resume into running because every write — score_id, task upserts — is idempotent, so nothing double-counts on retry.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aggregate.py is a pure function, no I/O. The eval-grain min_sample is the only sample floor — there's no separate per-dimension floor. Weights don't need to sum to 1; they're always renormalized over whatever actually qualified for that run. A single-dimension profile is valid — its composite is just that dimension's score.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6-state verdict above is collapsed server-side into a human-facing 3-state ship_decision field — the frontend never re-derives banding. This 6-state-&gt;3-state mapping is what the UI actually gates 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run can carry a clean composite yet still be forced provisional for any of three independent OR-branches. The sample_incomplete branch fires regardless of how many tasks did score — a run that scored 30/50 and silently lost 20 to retirement would otherwise publish a clean verdict over a truncated sample.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delta is refused outright only across modes — Production vs Sandbox, genuinely different inputs. Everything else that could confound the comparison still shows a number, just labeled approximate with the specific reason(s) — never silently presented as precise when it isn't.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throughline of the whole design: exclude-not-zero, idempotent writes, the three independent provisional branches, refuse-or-flag deltas, and frozen provenance snapshots all exist to make a misleading composite structurally hard to produce by accident.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recap: the entire engine exists to make Ship/Block verdicts trustworthy without ever touching the agent itself — it is purely a grading layer over traces the agent already produced.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bc960d22a45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72c69007e41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f65e070e347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c16653f5f46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c11ffb16d405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d025815b2b141b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6886bf4e042ff" /><Relationship Type="http://schemas.openxmlformats.org/officeDocument/2006/relationships/notesSlide" Target="/ppt/notesSlides/notesSlide1.xml" Id="Rd452d160c2a54a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459fc129840cc" /><Relationship Type="http://schemas.openxmlformats.org/officeDocument/2006/relationships/notesSlide" Target="/ppt/notesSlides/notesSlide2.xml" Id="R3c34bb7656fd42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ac60549d942b9" /><Relationship Type="http://schemas.openxmlformats.org/officeDocument/2006/relationships/notesSlide" Target="/ppt/notesSlides/notesSlide3.xml" Id="R752afb3eec5247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baac8d5de4751" /><Relationship Type="http://schemas.openxmlformats.org/officeDocument/2006/relationships/notesSlide" Target="/ppt/notesSlides/notesSlide4.xml" Id="R5ba83aa5827f43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eaffe325d4d44" /><Relationship Type="http://schemas.openxmlformats.org/officeDocument/2006/relationships/notesSlide" Target="/ppt/notesSlides/notesSlide5.xml" Id="Re91e19177b464e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7208d91b4aa0" /><Relationship Type="http://schemas.openxmlformats.org/officeDocument/2006/relationships/notesSlide" Target="/ppt/notesSlides/notesSlide6.xml" Id="R83b5130a029343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2068268eb42ba" /><Relationship Type="http://schemas.openxmlformats.org/officeDocument/2006/relationships/notesSlide" Target="/ppt/notesSlides/notesSlide7.xml" Id="R4edbf20353e84f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ea8c483249b4" /><Relationship Type="http://schemas.openxmlformats.org/officeDocument/2006/relationships/notesSlide" Target="/ppt/notesSlides/notesSlide8.xml" Id="Rd0586d3b3128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bf81845664c29" /><Relationship Type="http://schemas.openxmlformats.org/officeDocument/2006/relationships/notesSlide" Target="/ppt/notesSlides/notesSlide9.xml" Id="Rf55a79766705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0b0290d1c44f6" /><Relationship Type="http://schemas.openxmlformats.org/officeDocument/2006/relationships/notesSlide" Target="/ppt/notesSlides/notesSlide10.xml" Id="Rb7f9654b1a1446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578fed3464264" /><Relationship Type="http://schemas.openxmlformats.org/officeDocument/2006/relationships/notesSlide" Target="/ppt/notesSlides/notesSlide11.xml" Id="R3b554a7d51ff45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e06b9e40142c5" /><Relationship Type="http://schemas.openxmlformats.org/officeDocument/2006/relationships/notesSlide" Target="/ppt/notesSlides/notesSlide12.xml" Id="R96f1bedbd5b946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0fd5bde14110" /><Relationship Type="http://schemas.openxmlformats.org/officeDocument/2006/relationships/notesSlide" Target="/ppt/notesSlides/notesSlide13.xml" Id="R3e83ef07bccf4e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4602ed31a400f" /><Relationship Type="http://schemas.openxmlformats.org/officeDocument/2006/relationships/notesSlide" Target="/ppt/notesSlides/notesSlide14.xml" Id="R21ed256e72b34e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2d4e1ca4d4f09" /><Relationship Type="http://schemas.openxmlformats.org/officeDocument/2006/relationships/notesSlide" Target="/ppt/notesSlides/notesSlide15.xml" Id="R817973fb6ac64f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3d099376b419f" /><Relationship Type="http://schemas.openxmlformats.org/officeDocument/2006/relationships/notesSlide" Target="/ppt/notesSlides/notesSlide16.xml" Id="R9f2bd49c14bd494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54A7A"/>
            </a:gs>
            <a:gs pos="100000">
              <a:srgbClr val="12264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0" name="WordAgent"/>
          <p:cNvSpPr txBox="1"/>
          <p:nvPr/>
        </p:nvSpPr>
        <p:spPr>
          <a:xfrm xmlns:a="http://schemas.openxmlformats.org/drawingml/2006/main">
            <a:off x="3398400" y="1656000"/>
            <a:ext cx="25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</a:p>
        </p:txBody>
      </p:sp>
      <p:sp>
        <p:nvSpPr>
          <p:cNvPr id="100001" name="WordScore"/>
          <p:cNvSpPr txBox="1"/>
          <p:nvPr/>
        </p:nvSpPr>
        <p:spPr>
          <a:xfrm xmlns:a="http://schemas.openxmlformats.org/drawingml/2006/main">
            <a:off x="5918400" y="1656000"/>
            <a:ext cx="25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FF6C0E"/>
                </a:solidFill>
                <a:latin typeface="Trebuchet MS"/>
                <a:ea typeface="Trebuchet MS"/>
              </a:rPr>
              <a:t>Score</a:t>
            </a:r>
          </a:p>
        </p:txBody>
      </p:sp>
      <p:sp>
        <p:nvSpPr>
          <p:cNvPr id="100002" name="Headline"/>
          <p:cNvSpPr txBox="1"/>
          <p:nvPr/>
        </p:nvSpPr>
        <p:spPr>
          <a:xfrm xmlns:a="http://schemas.openxmlformats.org/drawingml/2006/main">
            <a:off x="720000" y="2736000"/>
            <a:ext cx="107532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59C8E6"/>
                </a:solidFill>
                <a:latin typeface="Trebuchet MS"/>
                <a:ea typeface="Trebuchet MS"/>
              </a:rPr>
              <a:t>The Scoring Engine</a:t>
            </a:r>
          </a:p>
        </p:txBody>
      </p:sp>
      <p:sp>
        <p:nvSpPr>
          <p:cNvPr id="100003" name="Sub"/>
          <p:cNvSpPr txBox="1"/>
          <p:nvPr/>
        </p:nvSpPr>
        <p:spPr>
          <a:xfrm xmlns:a="http://schemas.openxmlformats.org/drawingml/2006/main">
            <a:off x="720000" y="3348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How raw traces become a Ship / Block verdict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720000" y="6084000"/>
            <a:ext cx="107532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9C8E6"/>
                </a:solidFill>
                <a:latin typeface="Calibri"/>
                <a:ea typeface="Calibri"/>
              </a:rPr>
              <a:t>Technical walkthrough  ·  companion to AgentScore Overview  ·  4 Aug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THE CORE IDEA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Agent Score never executes the agent it scores</a:t>
            </a:r>
          </a:p>
        </p:txBody>
      </p:sp>
      <p:sp>
        <p:nvSpPr>
          <p:cNvPr id="100007" name="Body"/>
          <p:cNvSpPr txBox="1"/>
          <p:nvPr/>
        </p:nvSpPr>
        <p:spPr>
          <a:xfrm xmlns:a="http://schemas.openxmlformats.org/drawingml/2006/main">
            <a:off x="457200" y="1800000"/>
            <a:ext cx="11278800" cy="10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It only reads the traces your agent already sent. A Scoring Run turns a batch of those traces into per-eval scores, rolls them into a composite 0-100, and maps that to a ship / hold verdict.</a:t>
            </a:r>
          </a:p>
        </p:txBody>
      </p:sp>
      <p:sp>
        <p:nvSpPr>
          <p:cNvPr id="100008" name="YourAgent"/>
          <p:cNvSpPr txBox="1"/>
          <p:nvPr/>
        </p:nvSpPr>
        <p:spPr>
          <a:xfrm xmlns:a="http://schemas.openxmlformats.org/drawingml/2006/main">
            <a:off x="457200" y="2988000"/>
            <a:ext cx="237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Your Agent</a:t>
            </a:r>
          </a:p>
        </p:txBody>
      </p:sp>
      <p:sp>
        <p:nvSpPr>
          <p:cNvPr id="100009" name="TraceStore"/>
          <p:cNvSpPr txBox="1"/>
          <p:nvPr/>
        </p:nvSpPr>
        <p:spPr>
          <a:xfrm xmlns:a="http://schemas.openxmlformats.org/drawingml/2006/main">
            <a:off x="3085200" y="2988000"/>
            <a:ext cx="237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Trace Store</a:t>
            </a:r>
          </a:p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(traces already sent)</a:t>
            </a:r>
          </a:p>
        </p:txBody>
      </p:sp>
      <p:sp>
        <p:nvSpPr>
          <p:cNvPr id="100010" name="AgentScoreBox"/>
          <p:cNvSpPr txBox="1"/>
          <p:nvPr/>
        </p:nvSpPr>
        <p:spPr>
          <a:xfrm xmlns:a="http://schemas.openxmlformats.org/drawingml/2006/main">
            <a:off x="5713200" y="2988000"/>
            <a:ext cx="237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FFFFFF"/>
                </a:solidFill>
                <a:latin typeface="Calibri"/>
                <a:ea typeface="Calibri"/>
              </a:rPr>
              <a:t>Agent Score</a:t>
            </a:r>
          </a:p>
          <a:p xmlns:a="http://schemas.openxmlformats.org/drawingml/2006/main">
            <a:pPr algn="ctr"/>
            <a:r>
              <a:rPr lang="en-US" sz="1700" b="0">
                <a:solidFill>
                  <a:srgbClr val="FFFFFF"/>
                </a:solidFill>
                <a:latin typeface="Calibri"/>
                <a:ea typeface="Calibri"/>
              </a:rPr>
              <a:t>(reads only)</a:t>
            </a:r>
          </a:p>
        </p:txBody>
      </p:sp>
      <p:sp>
        <p:nvSpPr>
          <p:cNvPr id="100011" name="Verdict2"/>
          <p:cNvSpPr txBox="1"/>
          <p:nvPr/>
        </p:nvSpPr>
        <p:spPr>
          <a:xfrm xmlns:a="http://schemas.openxmlformats.org/drawingml/2006/main">
            <a:off x="8341200" y="2988000"/>
            <a:ext cx="237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Ship / Hold</a:t>
            </a:r>
          </a:p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Verdict</a:t>
            </a:r>
          </a:p>
        </p:txBody>
      </p:sp>
      <p:cxnSp>
        <p:nvCxnSpPr>
          <p:cNvPr id="100012" name="Connector 1"/>
          <p:cNvCxnSpPr>
            <a:stCxn xmlns:a="http://schemas.openxmlformats.org/drawingml/2006/main" id="100008" idx="0"/>
            <a:endCxn xmlns:a="http://schemas.openxmlformats.org/drawingml/2006/main" id="100009" idx="0"/>
          </p:cNvCxnSpPr>
          <p:nvPr/>
        </p:nvCxnSpPr>
        <p:spPr>
          <a:xfrm xmlns:a="http://schemas.openxmlformats.org/drawingml/2006/main">
            <a:off x="2833200" y="3564000"/>
            <a:ext cx="25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13" name="Connector 2"/>
          <p:cNvCxnSpPr>
            <a:stCxn xmlns:a="http://schemas.openxmlformats.org/drawingml/2006/main" id="100009" idx="0"/>
            <a:endCxn xmlns:a="http://schemas.openxmlformats.org/drawingml/2006/main" id="100010" idx="0"/>
          </p:cNvCxnSpPr>
          <p:nvPr/>
        </p:nvCxnSpPr>
        <p:spPr>
          <a:xfrm xmlns:a="http://schemas.openxmlformats.org/drawingml/2006/main">
            <a:off x="5461200" y="3564000"/>
            <a:ext cx="25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14" name="Connector 3"/>
          <p:cNvCxnSpPr>
            <a:stCxn xmlns:a="http://schemas.openxmlformats.org/drawingml/2006/main" id="100010" idx="0"/>
            <a:endCxn xmlns:a="http://schemas.openxmlformats.org/drawingml/2006/main" id="100011" idx="0"/>
          </p:cNvCxnSpPr>
          <p:nvPr/>
        </p:nvCxnSpPr>
        <p:spPr>
          <a:xfrm xmlns:a="http://schemas.openxmlformats.org/drawingml/2006/main">
            <a:off x="8089200" y="3564000"/>
            <a:ext cx="25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015" name="NoExec"/>
          <p:cNvSpPr txBox="1"/>
          <p:nvPr/>
        </p:nvSpPr>
        <p:spPr>
          <a:xfrm xmlns:a="http://schemas.openxmlformats.org/drawingml/2006/main">
            <a:off x="457200" y="4356000"/>
            <a:ext cx="112788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C0392B"/>
                </a:solidFill>
                <a:latin typeface="Calibri"/>
                <a:ea typeface="Calibri"/>
              </a:rPr>
              <a:t>no re-execution step anywhere in this system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6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PIPELINE</a:t>
            </a:r>
          </a:p>
        </p:txBody>
      </p:sp>
      <p:sp>
        <p:nvSpPr>
          <p:cNvPr id="100017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One pipeline: ingest, queue, score, aggregate</a:t>
            </a:r>
          </a:p>
        </p:txBody>
      </p:sp>
      <p:sp>
        <p:nvSpPr>
          <p:cNvPr id="100018" name="Agent3"/>
          <p:cNvSpPr txBox="1"/>
          <p:nvPr/>
        </p:nvSpPr>
        <p:spPr>
          <a:xfrm xmlns:a="http://schemas.openxmlformats.org/drawingml/2006/main">
            <a:off x="457200" y="2088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Your Agent</a:t>
            </a:r>
          </a:p>
        </p:txBody>
      </p:sp>
      <p:sp>
        <p:nvSpPr>
          <p:cNvPr id="100019" name="Ingest3"/>
          <p:cNvSpPr txBox="1"/>
          <p:nvPr/>
        </p:nvSpPr>
        <p:spPr>
          <a:xfrm xmlns:a="http://schemas.openxmlformats.org/drawingml/2006/main">
            <a:off x="3321900" y="2088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Ingest Service</a:t>
            </a:r>
          </a:p>
        </p:txBody>
      </p:sp>
      <p:sp>
        <p:nvSpPr>
          <p:cNvPr id="100020" name="TraceStore3"/>
          <p:cNvSpPr txBox="1"/>
          <p:nvPr/>
        </p:nvSpPr>
        <p:spPr>
          <a:xfrm xmlns:a="http://schemas.openxmlformats.org/drawingml/2006/main">
            <a:off x="6186600" y="2088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Trace Store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(Langfuse, per-Agent)</a:t>
            </a:r>
          </a:p>
        </p:txBody>
      </p:sp>
      <p:sp>
        <p:nvSpPr>
          <p:cNvPr id="100021" name="Producer3"/>
          <p:cNvSpPr txBox="1"/>
          <p:nvPr/>
        </p:nvSpPr>
        <p:spPr>
          <a:xfrm xmlns:a="http://schemas.openxmlformats.org/drawingml/2006/main">
            <a:off x="9051300" y="2088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Producer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enqueue_run()</a:t>
            </a:r>
          </a:p>
        </p:txBody>
      </p:sp>
      <p:sp>
        <p:nvSpPr>
          <p:cNvPr id="100022" name="Queue3"/>
          <p:cNvSpPr txBox="1"/>
          <p:nvPr/>
        </p:nvSpPr>
        <p:spPr>
          <a:xfrm xmlns:a="http://schemas.openxmlformats.org/drawingml/2006/main">
            <a:off x="457200" y="3744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Postgres Queue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scoring_tasks</a:t>
            </a:r>
          </a:p>
        </p:txBody>
      </p:sp>
      <p:sp>
        <p:nvSpPr>
          <p:cNvPr id="100023" name="Workers3"/>
          <p:cNvSpPr txBox="1"/>
          <p:nvPr/>
        </p:nvSpPr>
        <p:spPr>
          <a:xfrm xmlns:a="http://schemas.openxmlformats.org/drawingml/2006/main">
            <a:off x="3321900" y="3744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Worker Pool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process_task()</a:t>
            </a:r>
          </a:p>
        </p:txBody>
      </p:sp>
      <p:sp>
        <p:nvSpPr>
          <p:cNvPr id="100024" name="Aggregator3"/>
          <p:cNvSpPr txBox="1"/>
          <p:nvPr/>
        </p:nvSpPr>
        <p:spPr>
          <a:xfrm xmlns:a="http://schemas.openxmlformats.org/drawingml/2006/main">
            <a:off x="6186600" y="3744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Aggregator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(elected once)</a:t>
            </a:r>
          </a:p>
        </p:txBody>
      </p:sp>
      <p:sp>
        <p:nvSpPr>
          <p:cNvPr id="100025" name="Result3"/>
          <p:cNvSpPr txBox="1"/>
          <p:nvPr/>
        </p:nvSpPr>
        <p:spPr>
          <a:xfrm xmlns:a="http://schemas.openxmlformats.org/drawingml/2006/main">
            <a:off x="9051300" y="3744000"/>
            <a:ext cx="26847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Composite · Verdict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Back-office UI</a:t>
            </a:r>
          </a:p>
        </p:txBody>
      </p:sp>
      <p:cxnSp>
        <p:nvCxnSpPr>
          <p:cNvPr id="100026" name="Connector 1"/>
          <p:cNvCxnSpPr>
            <a:stCxn xmlns:a="http://schemas.openxmlformats.org/drawingml/2006/main" id="100018" idx="0"/>
            <a:endCxn xmlns:a="http://schemas.openxmlformats.org/drawingml/2006/main" id="100019" idx="0"/>
          </p:cNvCxnSpPr>
          <p:nvPr/>
        </p:nvCxnSpPr>
        <p:spPr>
          <a:xfrm xmlns:a="http://schemas.openxmlformats.org/drawingml/2006/main">
            <a:off x="3141900" y="2574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27" name="Connector 2"/>
          <p:cNvCxnSpPr>
            <a:stCxn xmlns:a="http://schemas.openxmlformats.org/drawingml/2006/main" id="100022" idx="0"/>
            <a:endCxn xmlns:a="http://schemas.openxmlformats.org/drawingml/2006/main" id="100023" idx="0"/>
          </p:cNvCxnSpPr>
          <p:nvPr/>
        </p:nvCxnSpPr>
        <p:spPr>
          <a:xfrm xmlns:a="http://schemas.openxmlformats.org/drawingml/2006/main">
            <a:off x="3141900" y="4230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28" name="Connector 3"/>
          <p:cNvCxnSpPr>
            <a:stCxn xmlns:a="http://schemas.openxmlformats.org/drawingml/2006/main" id="100019" idx="0"/>
            <a:endCxn xmlns:a="http://schemas.openxmlformats.org/drawingml/2006/main" id="100020" idx="0"/>
          </p:cNvCxnSpPr>
          <p:nvPr/>
        </p:nvCxnSpPr>
        <p:spPr>
          <a:xfrm xmlns:a="http://schemas.openxmlformats.org/drawingml/2006/main">
            <a:off x="6006600" y="2574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29" name="Connector 4"/>
          <p:cNvCxnSpPr>
            <a:stCxn xmlns:a="http://schemas.openxmlformats.org/drawingml/2006/main" id="100023" idx="0"/>
            <a:endCxn xmlns:a="http://schemas.openxmlformats.org/drawingml/2006/main" id="100024" idx="0"/>
          </p:cNvCxnSpPr>
          <p:nvPr/>
        </p:nvCxnSpPr>
        <p:spPr>
          <a:xfrm xmlns:a="http://schemas.openxmlformats.org/drawingml/2006/main">
            <a:off x="6006600" y="4230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30" name="Connector 5"/>
          <p:cNvCxnSpPr>
            <a:stCxn xmlns:a="http://schemas.openxmlformats.org/drawingml/2006/main" id="100020" idx="0"/>
            <a:endCxn xmlns:a="http://schemas.openxmlformats.org/drawingml/2006/main" id="100021" idx="0"/>
          </p:cNvCxnSpPr>
          <p:nvPr/>
        </p:nvCxnSpPr>
        <p:spPr>
          <a:xfrm xmlns:a="http://schemas.openxmlformats.org/drawingml/2006/main">
            <a:off x="8871300" y="2574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31" name="Connector 6"/>
          <p:cNvCxnSpPr>
            <a:stCxn xmlns:a="http://schemas.openxmlformats.org/drawingml/2006/main" id="100024" idx="0"/>
            <a:endCxn xmlns:a="http://schemas.openxmlformats.org/drawingml/2006/main" id="100025" idx="0"/>
          </p:cNvCxnSpPr>
          <p:nvPr/>
        </p:nvCxnSpPr>
        <p:spPr>
          <a:xfrm xmlns:a="http://schemas.openxmlformats.org/drawingml/2006/main">
            <a:off x="8871300" y="4230000"/>
            <a:ext cx="18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032" name="RunTrigger"/>
          <p:cNvSpPr txBox="1"/>
          <p:nvPr/>
        </p:nvSpPr>
        <p:spPr>
          <a:xfrm xmlns:a="http://schemas.openxmlformats.org/drawingml/2006/main">
            <a:off x="457200" y="3186000"/>
            <a:ext cx="1127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6C0E"/>
                </a:solidFill>
                <a:latin typeface="Calibri"/>
                <a:ea typeface="Calibri"/>
              </a:rPr>
              <a:t>a Run trigger (manual / scheduled / auto-fit) hands the batch to the queue below ▼</a:t>
            </a:r>
          </a:p>
        </p:txBody>
      </p:sp>
      <p:sp>
        <p:nvSpPr>
          <p:cNvPr id="100033" name="Caption"/>
          <p:cNvSpPr txBox="1"/>
          <p:nvPr/>
        </p:nvSpPr>
        <p:spPr>
          <a:xfrm xmlns:a="http://schemas.openxmlformats.org/drawingml/2006/main">
            <a:off x="457200" y="5040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0087AE"/>
                </a:solidFill>
                <a:latin typeface="Calibri"/>
                <a:ea typeface="Calibri"/>
              </a:rPr>
              <a:t>Read-only observer: every stage above only ever reads and re-shapes traces already sent.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4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CONFIGURATION</a:t>
            </a:r>
          </a:p>
        </p:txBody>
      </p:sp>
      <p:sp>
        <p:nvSpPr>
          <p:cNvPr id="100035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Eval, Dimension, Profile, Benchmark: the rubric setup</a:t>
            </a:r>
          </a:p>
        </p:txBody>
      </p:sp>
      <p:sp>
        <p:nvSpPr>
          <p:cNvPr id="100036" name="EvalGroupLabel"/>
          <p:cNvSpPr txBox="1"/>
          <p:nvPr/>
        </p:nvSpPr>
        <p:spPr>
          <a:xfrm xmlns:a="http://schemas.openxmlformats.org/drawingml/2006/main">
            <a:off x="457200" y="1764000"/>
            <a:ext cx="1127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B7B93"/>
                </a:solidFill>
                <a:latin typeface="Calibri"/>
                <a:ea typeface="Calibri"/>
              </a:rPr>
              <a:t>Eval catalog — one grading question each, kind decides how it computes</a:t>
            </a:r>
          </a:p>
        </p:txBody>
      </p:sp>
      <p:sp>
        <p:nvSpPr>
          <p:cNvPr id="100037" name="Ev1"/>
          <p:cNvSpPr txBox="1"/>
          <p:nvPr/>
        </p:nvSpPr>
        <p:spPr>
          <a:xfrm xmlns:a="http://schemas.openxmlformats.org/drawingml/2006/main">
            <a:off x="457200" y="2124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faithfulness</a:t>
            </a:r>
          </a:p>
        </p:txBody>
      </p:sp>
      <p:sp>
        <p:nvSpPr>
          <p:cNvPr id="100038" name="Ev2"/>
          <p:cNvSpPr txBox="1"/>
          <p:nvPr/>
        </p:nvSpPr>
        <p:spPr>
          <a:xfrm xmlns:a="http://schemas.openxmlformats.org/drawingml/2006/main">
            <a:off x="3321900" y="2124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answer-correctness</a:t>
            </a:r>
          </a:p>
        </p:txBody>
      </p:sp>
      <p:sp>
        <p:nvSpPr>
          <p:cNvPr id="100039" name="Ev3"/>
          <p:cNvSpPr txBox="1"/>
          <p:nvPr/>
        </p:nvSpPr>
        <p:spPr>
          <a:xfrm xmlns:a="http://schemas.openxmlformats.org/drawingml/2006/main">
            <a:off x="6186600" y="2124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tool-correctness</a:t>
            </a:r>
          </a:p>
        </p:txBody>
      </p:sp>
      <p:sp>
        <p:nvSpPr>
          <p:cNvPr id="100040" name="Ev4"/>
          <p:cNvSpPr txBox="1"/>
          <p:nvPr/>
        </p:nvSpPr>
        <p:spPr>
          <a:xfrm xmlns:a="http://schemas.openxmlformats.org/drawingml/2006/main">
            <a:off x="9051300" y="2124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json-correctness</a:t>
            </a:r>
          </a:p>
        </p:txBody>
      </p:sp>
      <p:sp>
        <p:nvSpPr>
          <p:cNvPr id="100041" name="DimGroupLabel"/>
          <p:cNvSpPr txBox="1"/>
          <p:nvPr/>
        </p:nvSpPr>
        <p:spPr>
          <a:xfrm xmlns:a="http://schemas.openxmlformats.org/drawingml/2006/main">
            <a:off x="457200" y="2754000"/>
            <a:ext cx="1127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B7B93"/>
                </a:solidFill>
                <a:latin typeface="Calibri"/>
                <a:ea typeface="Calibri"/>
              </a:rPr>
              <a:t>Dimensions — each eval rolls into exactly one, weighted, per profile</a:t>
            </a:r>
          </a:p>
        </p:txBody>
      </p:sp>
      <p:sp>
        <p:nvSpPr>
          <p:cNvPr id="100042" name="Dim1"/>
          <p:cNvSpPr txBox="1"/>
          <p:nvPr/>
        </p:nvSpPr>
        <p:spPr>
          <a:xfrm xmlns:a="http://schemas.openxmlformats.org/drawingml/2006/main">
            <a:off x="457200" y="3060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Correctness</a:t>
            </a:r>
          </a:p>
        </p:txBody>
      </p:sp>
      <p:sp>
        <p:nvSpPr>
          <p:cNvPr id="100043" name="Dim2"/>
          <p:cNvSpPr txBox="1"/>
          <p:nvPr/>
        </p:nvSpPr>
        <p:spPr>
          <a:xfrm xmlns:a="http://schemas.openxmlformats.org/drawingml/2006/main">
            <a:off x="3321900" y="3060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Groundedness</a:t>
            </a:r>
          </a:p>
        </p:txBody>
      </p:sp>
      <p:sp>
        <p:nvSpPr>
          <p:cNvPr id="100044" name="Dim3"/>
          <p:cNvSpPr txBox="1"/>
          <p:nvPr/>
        </p:nvSpPr>
        <p:spPr>
          <a:xfrm xmlns:a="http://schemas.openxmlformats.org/drawingml/2006/main">
            <a:off x="6186600" y="3060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Agentic</a:t>
            </a:r>
          </a:p>
        </p:txBody>
      </p:sp>
      <p:sp>
        <p:nvSpPr>
          <p:cNvPr id="100045" name="Dim4"/>
          <p:cNvSpPr txBox="1"/>
          <p:nvPr/>
        </p:nvSpPr>
        <p:spPr>
          <a:xfrm xmlns:a="http://schemas.openxmlformats.org/drawingml/2006/main">
            <a:off x="9051300" y="3060000"/>
            <a:ext cx="26847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Safety</a:t>
            </a:r>
          </a:p>
        </p:txBody>
      </p:sp>
      <p:sp>
        <p:nvSpPr>
          <p:cNvPr id="100046" name="Profile"/>
          <p:cNvSpPr txBox="1"/>
          <p:nvPr/>
        </p:nvSpPr>
        <p:spPr>
          <a:xfrm xmlns:a="http://schemas.openxmlformats.org/drawingml/2006/main">
            <a:off x="457200" y="4032000"/>
            <a:ext cx="112788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Profile — immutable per version: eval selection + threshold/weight + dimension weights + verdict bands</a:t>
            </a:r>
          </a:p>
        </p:txBody>
      </p:sp>
      <p:cxnSp>
        <p:nvCxnSpPr>
          <p:cNvPr id="100047" name="Connector 1"/>
          <p:cNvCxnSpPr>
            <a:stCxn xmlns:a="http://schemas.openxmlformats.org/drawingml/2006/main" id="100042" idx="0"/>
            <a:endCxn xmlns:a="http://schemas.openxmlformats.org/drawingml/2006/main" id="100046" idx="0"/>
          </p:cNvCxnSpPr>
          <p:nvPr/>
        </p:nvCxnSpPr>
        <p:spPr>
          <a:xfrm xmlns:a="http://schemas.openxmlformats.org/drawingml/2006/main">
            <a:off x="1799550" y="3600000"/>
            <a:ext cx="4297050" cy="432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48" name="Connector 2"/>
          <p:cNvCxnSpPr>
            <a:stCxn xmlns:a="http://schemas.openxmlformats.org/drawingml/2006/main" id="100043" idx="0"/>
            <a:endCxn xmlns:a="http://schemas.openxmlformats.org/drawingml/2006/main" id="100046" idx="0"/>
          </p:cNvCxnSpPr>
          <p:nvPr/>
        </p:nvCxnSpPr>
        <p:spPr>
          <a:xfrm xmlns:a="http://schemas.openxmlformats.org/drawingml/2006/main">
            <a:off x="4664250" y="3600000"/>
            <a:ext cx="1432350" cy="432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49" name="Connector 3"/>
          <p:cNvCxnSpPr>
            <a:stCxn xmlns:a="http://schemas.openxmlformats.org/drawingml/2006/main" id="100044" idx="0"/>
            <a:endCxn xmlns:a="http://schemas.openxmlformats.org/drawingml/2006/main" id="100046" idx="0"/>
          </p:cNvCxnSpPr>
          <p:nvPr/>
        </p:nvCxnSpPr>
        <p:spPr>
          <a:xfrm xmlns:a="http://schemas.openxmlformats.org/drawingml/2006/main" flipH="1">
            <a:off x="6096600" y="3600000"/>
            <a:ext cx="1432350" cy="432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50" name="Connector 4"/>
          <p:cNvCxnSpPr>
            <a:stCxn xmlns:a="http://schemas.openxmlformats.org/drawingml/2006/main" id="100045" idx="0"/>
            <a:endCxn xmlns:a="http://schemas.openxmlformats.org/drawingml/2006/main" id="100046" idx="0"/>
          </p:cNvCxnSpPr>
          <p:nvPr/>
        </p:nvCxnSpPr>
        <p:spPr>
          <a:xfrm xmlns:a="http://schemas.openxmlformats.org/drawingml/2006/main" flipH="1">
            <a:off x="6096600" y="3600000"/>
            <a:ext cx="4297050" cy="432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051" name="Benchmark"/>
          <p:cNvSpPr txBox="1"/>
          <p:nvPr/>
        </p:nvSpPr>
        <p:spPr>
          <a:xfrm xmlns:a="http://schemas.openxmlformats.org/drawingml/2006/main">
            <a:off x="457200" y="5004000"/>
            <a:ext cx="112788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FFFFFF"/>
                </a:solidFill>
                <a:latin typeface="Calibri"/>
                <a:ea typeface="Calibri"/>
              </a:rPr>
              <a:t>Benchmark — per-agent pointer to one profile version, assigned atomically at agent creation</a:t>
            </a:r>
          </a:p>
        </p:txBody>
      </p:sp>
      <p:cxnSp>
        <p:nvCxnSpPr>
          <p:cNvPr id="100052" name="Connector 5"/>
          <p:cNvCxnSpPr>
            <a:stCxn xmlns:a="http://schemas.openxmlformats.org/drawingml/2006/main" id="100046" idx="0"/>
            <a:endCxn xmlns:a="http://schemas.openxmlformats.org/drawingml/2006/main" id="100051" idx="0"/>
          </p:cNvCxnSpPr>
          <p:nvPr/>
        </p:nvCxnSpPr>
        <p:spPr>
          <a:xfrm xmlns:a="http://schemas.openxmlformats.org/drawingml/2006/main">
            <a:off x="6096600" y="4788000"/>
            <a:ext cx="0" cy="216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053" name="Caption"/>
          <p:cNvSpPr txBox="1"/>
          <p:nvPr/>
        </p:nvSpPr>
        <p:spPr>
          <a:xfrm xmlns:a="http://schemas.openxmlformats.org/drawingml/2006/main">
            <a:off x="457200" y="5904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0087AE"/>
                </a:solidFill>
                <a:latin typeface="Calibri"/>
                <a:ea typeface="Calibri"/>
              </a:rPr>
              <a:t>Single source of scoring config — no separate per-agent metric table to drift against it.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CONFIGURATION</a:t>
            </a:r>
          </a:p>
        </p:txBody>
      </p:sp>
      <p:sp>
        <p:nvSpPr>
          <p:cNvPr id="100055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Before grading: normalize the trace into one clean shape</a:t>
            </a:r>
          </a:p>
        </p:txBody>
      </p:sp>
      <p:sp>
        <p:nvSpPr>
          <p:cNvPr id="100056" name="RawCard"/>
          <p:cNvSpPr txBox="1"/>
          <p:nvPr/>
        </p:nvSpPr>
        <p:spPr>
          <a:xfrm xmlns:a="http://schemas.openxmlformats.org/drawingml/2006/main">
            <a:off x="457200" y="1944000"/>
            <a:ext cx="5459400" cy="3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57" name="RawHeader"/>
          <p:cNvSpPr txBox="1"/>
          <p:nvPr/>
        </p:nvSpPr>
        <p:spPr>
          <a:xfrm xmlns:a="http://schemas.openxmlformats.org/drawingml/2006/main">
            <a:off x="673200" y="2124000"/>
            <a:ext cx="50274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365D"/>
                </a:solidFill>
                <a:latin typeface="Trebuchet MS"/>
                <a:ea typeface="Trebuchet MS"/>
              </a:rPr>
              <a:t>Raw Langfuse trace</a:t>
            </a:r>
          </a:p>
        </p:txBody>
      </p:sp>
      <p:sp>
        <p:nvSpPr>
          <p:cNvPr id="100058" name="RawBody"/>
          <p:cNvSpPr txBox="1"/>
          <p:nvPr/>
        </p:nvSpPr>
        <p:spPr>
          <a:xfrm xmlns:a="http://schemas.openxmlformats.org/drawingml/2006/main">
            <a:off x="673200" y="2628000"/>
            <a:ext cx="5027400" cy="22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LLM generation spans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Tool-call spans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Retry / retry-pair spans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Turn boundaries (implicit)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...and everything else in the raw span tree</a:t>
            </a:r>
          </a:p>
        </p:txBody>
      </p:sp>
      <p:sp>
        <p:nvSpPr>
          <p:cNvPr id="100059" name="CanonCard"/>
          <p:cNvSpPr txBox="1"/>
          <p:nvPr/>
        </p:nvSpPr>
        <p:spPr>
          <a:xfrm xmlns:a="http://schemas.openxmlformats.org/drawingml/2006/main">
            <a:off x="6276600" y="1944000"/>
            <a:ext cx="5459400" cy="3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1B365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60" name="CanonHeader"/>
          <p:cNvSpPr txBox="1"/>
          <p:nvPr/>
        </p:nvSpPr>
        <p:spPr>
          <a:xfrm xmlns:a="http://schemas.openxmlformats.org/drawingml/2006/main">
            <a:off x="6492600" y="2124000"/>
            <a:ext cx="50274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Canonical projection</a:t>
            </a:r>
          </a:p>
        </p:txBody>
      </p:sp>
      <p:sp>
        <p:nvSpPr>
          <p:cNvPr id="100061" name="CanonBody"/>
          <p:cNvSpPr txBox="1"/>
          <p:nvPr/>
        </p:nvSpPr>
        <p:spPr>
          <a:xfrm xmlns:a="http://schemas.openxmlformats.org/drawingml/2006/main">
            <a:off x="6492600" y="2628000"/>
            <a:ext cx="5027400" cy="22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Calibri"/>
                <a:ea typeface="Calibri"/>
              </a:rPr>
              <a:t>tool_executions[]  {span_id, success: bool | None}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Calibri"/>
                <a:ea typeface="Calibri"/>
              </a:rPr>
              <a:t>llm_calls[]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Calibri"/>
                <a:ea typeface="Calibri"/>
              </a:rPr>
              <a:t>retry_pairs[]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Calibri"/>
                <a:ea typeface="Calibri"/>
              </a:rPr>
              <a:t>turns[]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  <a:latin typeface="Calibri"/>
                <a:ea typeface="Calibri"/>
              </a:rPr>
              <a:t>globals</a:t>
            </a:r>
          </a:p>
        </p:txBody>
      </p:sp>
      <p:cxnSp>
        <p:nvCxnSpPr>
          <p:cNvPr id="100062" name="Connector 1"/>
          <p:cNvCxnSpPr>
            <a:stCxn xmlns:a="http://schemas.openxmlformats.org/drawingml/2006/main" id="100056" idx="0"/>
            <a:endCxn xmlns:a="http://schemas.openxmlformats.org/drawingml/2006/main" id="100059" idx="0"/>
          </p:cNvCxnSpPr>
          <p:nvPr/>
        </p:nvCxnSpPr>
        <p:spPr>
          <a:xfrm xmlns:a="http://schemas.openxmlformats.org/drawingml/2006/main">
            <a:off x="5916600" y="3492000"/>
            <a:ext cx="360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6C0E"/>
            </a:solidFill>
            <a:headEnd type="none"/>
            <a:tailEnd type="triangle"/>
          </a:ln>
        </p:spPr>
      </p:cxnSp>
      <p:sp>
        <p:nvSpPr>
          <p:cNvPr id="100063" name="BuildFn"/>
          <p:cNvSpPr txBox="1"/>
          <p:nvPr/>
        </p:nvSpPr>
        <p:spPr>
          <a:xfrm xmlns:a="http://schemas.openxmlformats.org/drawingml/2006/main">
            <a:off x="4836600" y="1674000"/>
            <a:ext cx="25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build_canonical_trace()</a:t>
            </a:r>
          </a:p>
        </p:txBody>
      </p:sp>
      <p:sp>
        <p:nvSpPr>
          <p:cNvPr id="100064" name="Caption"/>
          <p:cNvSpPr txBox="1"/>
          <p:nvPr/>
        </p:nvSpPr>
        <p:spPr>
          <a:xfrm xmlns:a="http://schemas.openxmlformats.org/drawingml/2006/main">
            <a:off x="457200" y="5220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0087AE"/>
                </a:solidFill>
                <a:latin typeface="Calibri"/>
                <a:ea typeface="Calibri"/>
              </a:rPr>
              <a:t>Computed fresh every run, never stored — so it can never drift from the source trace.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5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SCORING</a:t>
            </a:r>
          </a:p>
        </p:txBody>
      </p:sp>
      <p:sp>
        <p:nvSpPr>
          <p:cNvPr id="100066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Four ways an eval can grade one interaction</a:t>
            </a:r>
          </a:p>
        </p:txBody>
      </p:sp>
      <p:sp>
        <p:nvSpPr>
          <p:cNvPr id="100067" name="CardLib"/>
          <p:cNvSpPr txBox="1"/>
          <p:nvPr/>
        </p:nvSpPr>
        <p:spPr>
          <a:xfrm xmlns:a="http://schemas.openxmlformats.org/drawingml/2006/main">
            <a:off x="457200" y="1908000"/>
            <a:ext cx="5502600" cy="20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68" name="CardHLib"/>
          <p:cNvSpPr txBox="1"/>
          <p:nvPr/>
        </p:nvSpPr>
        <p:spPr>
          <a:xfrm xmlns:a="http://schemas.openxmlformats.org/drawingml/2006/main">
            <a:off x="655200" y="2034000"/>
            <a:ext cx="3774600" cy="41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365D"/>
                </a:solidFill>
                <a:latin typeface="Trebuchet MS"/>
                <a:ea typeface="Trebuchet MS"/>
              </a:rPr>
              <a:t>Library</a:t>
            </a:r>
          </a:p>
        </p:txBody>
      </p:sp>
      <p:sp>
        <p:nvSpPr>
          <p:cNvPr id="100069" name="CardMLib"/>
          <p:cNvSpPr txBox="1"/>
          <p:nvPr/>
        </p:nvSpPr>
        <p:spPr>
          <a:xfrm xmlns:a="http://schemas.openxmlformats.org/drawingml/2006/main">
            <a:off x="655200" y="2484000"/>
            <a:ext cx="51066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B365D"/>
                </a:solidFill>
                <a:latin typeface="Calibri"/>
                <a:ea typeface="Calibri"/>
              </a:rPr>
              <a:t>A pre-built DeepEval metric (Faithfulness, Hallucination, Answer Correctness, ...)</a:t>
            </a:r>
          </a:p>
        </p:txBody>
      </p:sp>
      <p:sp>
        <p:nvSpPr>
          <p:cNvPr id="100070" name="CardPLib"/>
          <p:cNvSpPr txBox="1"/>
          <p:nvPr/>
        </p:nvSpPr>
        <p:spPr>
          <a:xfrm xmlns:a="http://schemas.openxmlformats.org/drawingml/2006/main">
            <a:off x="655200" y="3024000"/>
            <a:ext cx="5106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An off-the-shelf grading formula we didn't have to invent.</a:t>
            </a:r>
          </a:p>
        </p:txBody>
      </p:sp>
      <p:sp>
        <p:nvSpPr>
          <p:cNvPr id="100071" name="CardDLib"/>
          <p:cNvSpPr txBox="1"/>
          <p:nvPr/>
        </p:nvSpPr>
        <p:spPr>
          <a:xfrm xmlns:a="http://schemas.openxmlformats.org/drawingml/2006/main">
            <a:off x="4429800" y="2034000"/>
            <a:ext cx="14040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A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PER-METRIC</a:t>
            </a:r>
          </a:p>
        </p:txBody>
      </p:sp>
      <p:sp>
        <p:nvSpPr>
          <p:cNvPr id="100072" name="CardGEval"/>
          <p:cNvSpPr txBox="1"/>
          <p:nvPr/>
        </p:nvSpPr>
        <p:spPr>
          <a:xfrm xmlns:a="http://schemas.openxmlformats.org/drawingml/2006/main">
            <a:off x="6233400" y="1908000"/>
            <a:ext cx="5502600" cy="20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73" name="CardHGEval"/>
          <p:cNvSpPr txBox="1"/>
          <p:nvPr/>
        </p:nvSpPr>
        <p:spPr>
          <a:xfrm xmlns:a="http://schemas.openxmlformats.org/drawingml/2006/main">
            <a:off x="6431400" y="2034000"/>
            <a:ext cx="3774600" cy="41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365D"/>
                </a:solidFill>
                <a:latin typeface="Trebuchet MS"/>
                <a:ea typeface="Trebuchet MS"/>
              </a:rPr>
              <a:t>G-Eval</a:t>
            </a:r>
          </a:p>
        </p:txBody>
      </p:sp>
      <p:sp>
        <p:nvSpPr>
          <p:cNvPr id="100074" name="CardMGEval"/>
          <p:cNvSpPr txBox="1"/>
          <p:nvPr/>
        </p:nvSpPr>
        <p:spPr>
          <a:xfrm xmlns:a="http://schemas.openxmlformats.org/drawingml/2006/main">
            <a:off x="6431400" y="2484000"/>
            <a:ext cx="51066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B365D"/>
                </a:solidFill>
                <a:latin typeface="Calibri"/>
                <a:ea typeface="Calibri"/>
              </a:rPr>
              <a:t>Plain-English criteria scored by an LLM judge.</a:t>
            </a:r>
          </a:p>
        </p:txBody>
      </p:sp>
      <p:sp>
        <p:nvSpPr>
          <p:cNvPr id="100075" name="CardPGEval"/>
          <p:cNvSpPr txBox="1"/>
          <p:nvPr/>
        </p:nvSpPr>
        <p:spPr>
          <a:xfrm xmlns:a="http://schemas.openxmlformats.org/drawingml/2006/main">
            <a:off x="6431400" y="3024000"/>
            <a:ext cx="5106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We describe what “good” looks like and have another AI grade against that description.</a:t>
            </a:r>
          </a:p>
        </p:txBody>
      </p:sp>
      <p:sp>
        <p:nvSpPr>
          <p:cNvPr id="100076" name="CardDGEval"/>
          <p:cNvSpPr txBox="1"/>
          <p:nvPr/>
        </p:nvSpPr>
        <p:spPr>
          <a:xfrm xmlns:a="http://schemas.openxmlformats.org/drawingml/2006/main">
            <a:off x="10206000" y="2034000"/>
            <a:ext cx="14040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VARIES (JUDGE)</a:t>
            </a:r>
          </a:p>
        </p:txBody>
      </p:sp>
      <p:sp>
        <p:nvSpPr>
          <p:cNvPr id="100077" name="CardDag"/>
          <p:cNvSpPr txBox="1"/>
          <p:nvPr/>
        </p:nvSpPr>
        <p:spPr>
          <a:xfrm xmlns:a="http://schemas.openxmlformats.org/drawingml/2006/main">
            <a:off x="457200" y="4233600"/>
            <a:ext cx="5502600" cy="20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78" name="CardHDag"/>
          <p:cNvSpPr txBox="1"/>
          <p:nvPr/>
        </p:nvSpPr>
        <p:spPr>
          <a:xfrm xmlns:a="http://schemas.openxmlformats.org/drawingml/2006/main">
            <a:off x="655200" y="4359600"/>
            <a:ext cx="3774600" cy="41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365D"/>
                </a:solidFill>
                <a:latin typeface="Trebuchet MS"/>
                <a:ea typeface="Trebuchet MS"/>
              </a:rPr>
              <a:t>DAG</a:t>
            </a:r>
          </a:p>
        </p:txBody>
      </p:sp>
      <p:sp>
        <p:nvSpPr>
          <p:cNvPr id="100079" name="CardMDag"/>
          <p:cNvSpPr txBox="1"/>
          <p:nvPr/>
        </p:nvSpPr>
        <p:spPr>
          <a:xfrm xmlns:a="http://schemas.openxmlformats.org/drawingml/2006/main">
            <a:off x="655200" y="4809600"/>
            <a:ext cx="51066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B365D"/>
                </a:solidFill>
                <a:latin typeface="Calibri"/>
                <a:ea typeface="Calibri"/>
              </a:rPr>
              <a:t>A decision tree of yes/no judge nodes that lands on a fixed leaf score.</a:t>
            </a:r>
          </a:p>
        </p:txBody>
      </p:sp>
      <p:sp>
        <p:nvSpPr>
          <p:cNvPr id="100080" name="CardPDag"/>
          <p:cNvSpPr txBox="1"/>
          <p:nvPr/>
        </p:nvSpPr>
        <p:spPr>
          <a:xfrm xmlns:a="http://schemas.openxmlformats.org/drawingml/2006/main">
            <a:off x="655200" y="5349600"/>
            <a:ext cx="5106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 flowchart of yes/no questions that always lands on the same score for the same answers.</a:t>
            </a:r>
          </a:p>
        </p:txBody>
      </p:sp>
      <p:sp>
        <p:nvSpPr>
          <p:cNvPr id="100081" name="CardDDag"/>
          <p:cNvSpPr txBox="1"/>
          <p:nvPr/>
        </p:nvSpPr>
        <p:spPr>
          <a:xfrm xmlns:a="http://schemas.openxmlformats.org/drawingml/2006/main">
            <a:off x="4429800" y="4359600"/>
            <a:ext cx="14040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DETERMINISTIC</a:t>
            </a:r>
          </a:p>
        </p:txBody>
      </p:sp>
      <p:sp>
        <p:nvSpPr>
          <p:cNvPr id="100082" name="CardHybrid"/>
          <p:cNvSpPr txBox="1"/>
          <p:nvPr/>
        </p:nvSpPr>
        <p:spPr>
          <a:xfrm xmlns:a="http://schemas.openxmlformats.org/drawingml/2006/main">
            <a:off x="6233400" y="4233600"/>
            <a:ext cx="5502600" cy="20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83" name="CardHHybrid"/>
          <p:cNvSpPr txBox="1"/>
          <p:nvPr/>
        </p:nvSpPr>
        <p:spPr>
          <a:xfrm xmlns:a="http://schemas.openxmlformats.org/drawingml/2006/main">
            <a:off x="6431400" y="4359600"/>
            <a:ext cx="3774600" cy="41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365D"/>
                </a:solidFill>
                <a:latin typeface="Trebuchet MS"/>
                <a:ea typeface="Trebuchet MS"/>
              </a:rPr>
              <a:t>Hybrid</a:t>
            </a:r>
          </a:p>
        </p:txBody>
      </p:sp>
      <p:sp>
        <p:nvSpPr>
          <p:cNvPr id="100084" name="CardMHybrid"/>
          <p:cNvSpPr txBox="1"/>
          <p:nvPr/>
        </p:nvSpPr>
        <p:spPr>
          <a:xfrm xmlns:a="http://schemas.openxmlformats.org/drawingml/2006/main">
            <a:off x="6431400" y="4809600"/>
            <a:ext cx="51066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B365D"/>
                </a:solidFill>
                <a:latin typeface="Calibri"/>
                <a:ea typeface="Calibri"/>
              </a:rPr>
              <a:t>LLM extracts structured evidence claims (MAP); pure code reduces them to a score (REDUCE).</a:t>
            </a:r>
          </a:p>
        </p:txBody>
      </p:sp>
      <p:sp>
        <p:nvSpPr>
          <p:cNvPr id="100085" name="CardPHybrid"/>
          <p:cNvSpPr txBox="1"/>
          <p:nvPr/>
        </p:nvSpPr>
        <p:spPr>
          <a:xfrm xmlns:a="http://schemas.openxmlformats.org/drawingml/2006/main">
            <a:off x="6431400" y="5349600"/>
            <a:ext cx="51066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An AI pulls out the individual factual claims; plain code (no AI) tallies them into a score.</a:t>
            </a:r>
          </a:p>
        </p:txBody>
      </p:sp>
      <p:sp>
        <p:nvSpPr>
          <p:cNvPr id="100086" name="CardDHybrid"/>
          <p:cNvSpPr txBox="1"/>
          <p:nvPr/>
        </p:nvSpPr>
        <p:spPr>
          <a:xfrm xmlns:a="http://schemas.openxmlformats.org/drawingml/2006/main">
            <a:off x="10206000" y="4359600"/>
            <a:ext cx="14040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C0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F"/>
                </a:solidFill>
                <a:latin typeface="Calibri"/>
                <a:ea typeface="Calibri"/>
              </a:rPr>
              <a:t>REDUCE-STEP ONLY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7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SCORING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Which judge grades it, and what missing data means</a:t>
            </a:r>
          </a:p>
        </p:txBody>
      </p:sp>
      <p:sp>
        <p:nvSpPr>
          <p:cNvPr id="100089" name="CascadeLabel"/>
          <p:cNvSpPr txBox="1"/>
          <p:nvPr/>
        </p:nvSpPr>
        <p:spPr>
          <a:xfrm xmlns:a="http://schemas.openxmlformats.org/drawingml/2006/main">
            <a:off x="457200" y="1980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B365D"/>
                </a:solidFill>
                <a:latin typeface="Calibri"/>
                <a:ea typeface="Calibri"/>
              </a:rPr>
              <a:t>Judge cascade — first one set wins</a:t>
            </a:r>
          </a:p>
        </p:txBody>
      </p:sp>
      <p:sp>
        <p:nvSpPr>
          <p:cNvPr id="100090" name="J1"/>
          <p:cNvSpPr txBox="1"/>
          <p:nvPr/>
        </p:nvSpPr>
        <p:spPr>
          <a:xfrm xmlns:a="http://schemas.openxmlformats.org/drawingml/2006/main">
            <a:off x="457200" y="2376000"/>
            <a:ext cx="540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This eval's own judge_id</a:t>
            </a:r>
          </a:p>
        </p:txBody>
      </p:sp>
      <p:sp>
        <p:nvSpPr>
          <p:cNvPr id="100091" name="J2"/>
          <p:cNvSpPr txBox="1"/>
          <p:nvPr/>
        </p:nvSpPr>
        <p:spPr>
          <a:xfrm xmlns:a="http://schemas.openxmlformats.org/drawingml/2006/main">
            <a:off x="457200" y="3258000"/>
            <a:ext cx="540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Agent's default judge_id</a:t>
            </a:r>
          </a:p>
        </p:txBody>
      </p:sp>
      <p:sp>
        <p:nvSpPr>
          <p:cNvPr id="100092" name="J3"/>
          <p:cNvSpPr txBox="1"/>
          <p:nvPr/>
        </p:nvSpPr>
        <p:spPr>
          <a:xfrm xmlns:a="http://schemas.openxmlformats.org/drawingml/2006/main">
            <a:off x="457200" y="4140000"/>
            <a:ext cx="54000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System-wide default judge</a:t>
            </a:r>
          </a:p>
        </p:txBody>
      </p:sp>
      <p:cxnSp>
        <p:nvCxnSpPr>
          <p:cNvPr id="100093" name="Connector 1"/>
          <p:cNvCxnSpPr>
            <a:stCxn xmlns:a="http://schemas.openxmlformats.org/drawingml/2006/main" id="100090" idx="0"/>
            <a:endCxn xmlns:a="http://schemas.openxmlformats.org/drawingml/2006/main" id="100091" idx="0"/>
          </p:cNvCxnSpPr>
          <p:nvPr/>
        </p:nvCxnSpPr>
        <p:spPr>
          <a:xfrm xmlns:a="http://schemas.openxmlformats.org/drawingml/2006/main">
            <a:off x="3157200" y="306000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094" name="Connector 2"/>
          <p:cNvCxnSpPr>
            <a:stCxn xmlns:a="http://schemas.openxmlformats.org/drawingml/2006/main" id="100091" idx="0"/>
            <a:endCxn xmlns:a="http://schemas.openxmlformats.org/drawingml/2006/main" id="100092" idx="0"/>
          </p:cNvCxnSpPr>
          <p:nvPr/>
        </p:nvCxnSpPr>
        <p:spPr>
          <a:xfrm xmlns:a="http://schemas.openxmlformats.org/drawingml/2006/main">
            <a:off x="3157200" y="394200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095" name="NACard"/>
          <p:cNvSpPr txBox="1"/>
          <p:nvPr/>
        </p:nvSpPr>
        <p:spPr>
          <a:xfrm xmlns:a="http://schemas.openxmlformats.org/drawingml/2006/main">
            <a:off x="6217200" y="1980000"/>
            <a:ext cx="5518800" cy="26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096" name="NAHeader"/>
          <p:cNvSpPr txBox="1"/>
          <p:nvPr/>
        </p:nvSpPr>
        <p:spPr>
          <a:xfrm xmlns:a="http://schemas.openxmlformats.org/drawingml/2006/main">
            <a:off x="6415200" y="2160000"/>
            <a:ext cx="51228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C0392B"/>
                </a:solidFill>
                <a:latin typeface="Trebuchet MS"/>
                <a:ea typeface="Trebuchet MS"/>
              </a:rPr>
              <a:t>Missing required inputs -&gt; N/A</a:t>
            </a:r>
          </a:p>
        </p:txBody>
      </p:sp>
      <p:sp>
        <p:nvSpPr>
          <p:cNvPr id="100097" name="NABody"/>
          <p:cNvSpPr txBox="1"/>
          <p:nvPr/>
        </p:nvSpPr>
        <p:spPr>
          <a:xfrm xmlns:a="http://schemas.openxmlformats.org/drawingml/2006/main">
            <a:off x="6415200" y="2880000"/>
            <a:ext cx="5122800" cy="165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Never scored as a zero. The composite must only reflect what was actually measured.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Example: a faithfulness eval with no retrieved context in the trace.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8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SCORING</a:t>
            </a:r>
          </a:p>
        </p:txBody>
      </p:sp>
      <p:sp>
        <p:nvSpPr>
          <p:cNvPr id="100099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Building the answer key: goldens and calibration</a:t>
            </a:r>
          </a:p>
        </p:txBody>
      </p:sp>
      <p:sp>
        <p:nvSpPr>
          <p:cNvPr id="100100" name="Step1"/>
          <p:cNvSpPr txBox="1"/>
          <p:nvPr/>
        </p:nvSpPr>
        <p:spPr>
          <a:xfrm xmlns:a="http://schemas.openxmlformats.org/drawingml/2006/main">
            <a:off x="1439550" y="2016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C0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01" name="Step1Head"/>
          <p:cNvSpPr txBox="1"/>
          <p:nvPr/>
        </p:nvSpPr>
        <p:spPr>
          <a:xfrm xmlns:a="http://schemas.openxmlformats.org/drawingml/2006/main">
            <a:off x="457200" y="2880000"/>
            <a:ext cx="26847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B365D"/>
                </a:solidFill>
                <a:latin typeface="Trebuchet MS"/>
                <a:ea typeface="Trebuchet MS"/>
              </a:rPr>
              <a:t>20+ interactions captured</a:t>
            </a:r>
          </a:p>
        </p:txBody>
      </p:sp>
      <p:sp>
        <p:nvSpPr>
          <p:cNvPr id="100102" name="Step1Desc"/>
          <p:cNvSpPr txBox="1"/>
          <p:nvPr/>
        </p:nvSpPr>
        <p:spPr>
          <a:xfrm xmlns:a="http://schemas.openxmlformats.org/drawingml/2006/main">
            <a:off x="457200" y="3564000"/>
            <a:ext cx="26847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Enough real traffic exists to build a representative sample.</a:t>
            </a:r>
          </a:p>
        </p:txBody>
      </p:sp>
      <p:sp>
        <p:nvSpPr>
          <p:cNvPr id="100103" name="Step2"/>
          <p:cNvSpPr txBox="1"/>
          <p:nvPr/>
        </p:nvSpPr>
        <p:spPr>
          <a:xfrm xmlns:a="http://schemas.openxmlformats.org/drawingml/2006/main">
            <a:off x="4304250" y="2016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04" name="Step2Head"/>
          <p:cNvSpPr txBox="1"/>
          <p:nvPr/>
        </p:nvSpPr>
        <p:spPr>
          <a:xfrm xmlns:a="http://schemas.openxmlformats.org/drawingml/2006/main">
            <a:off x="3321900" y="2880000"/>
            <a:ext cx="26847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B365D"/>
                </a:solidFill>
                <a:latin typeface="Trebuchet MS"/>
                <a:ea typeface="Trebuchet MS"/>
              </a:rPr>
              <a:t>Calibration queue</a:t>
            </a:r>
          </a:p>
        </p:txBody>
      </p:sp>
      <p:sp>
        <p:nvSpPr>
          <p:cNvPr id="100105" name="Step2Desc"/>
          <p:cNvSpPr txBox="1"/>
          <p:nvPr/>
        </p:nvSpPr>
        <p:spPr>
          <a:xfrm xmlns:a="http://schemas.openxmlformats.org/drawingml/2006/main">
            <a:off x="3321900" y="3564000"/>
            <a:ext cx="26847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 representative sample + the judge's proposed verdict are surfaced for review.</a:t>
            </a:r>
          </a:p>
        </p:txBody>
      </p:sp>
      <p:sp>
        <p:nvSpPr>
          <p:cNvPr id="100106" name="Step3"/>
          <p:cNvSpPr txBox="1"/>
          <p:nvPr/>
        </p:nvSpPr>
        <p:spPr>
          <a:xfrm xmlns:a="http://schemas.openxmlformats.org/drawingml/2006/main">
            <a:off x="7168950" y="2016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A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07" name="Step3Head"/>
          <p:cNvSpPr txBox="1"/>
          <p:nvPr/>
        </p:nvSpPr>
        <p:spPr>
          <a:xfrm xmlns:a="http://schemas.openxmlformats.org/drawingml/2006/main">
            <a:off x="6186600" y="2880000"/>
            <a:ext cx="26847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B365D"/>
                </a:solidFill>
                <a:latin typeface="Trebuchet MS"/>
                <a:ea typeface="Trebuchet MS"/>
              </a:rPr>
              <a:t>Human review</a:t>
            </a:r>
          </a:p>
        </p:txBody>
      </p:sp>
      <p:sp>
        <p:nvSpPr>
          <p:cNvPr id="100108" name="Step3Desc"/>
          <p:cNvSpPr txBox="1"/>
          <p:nvPr/>
        </p:nvSpPr>
        <p:spPr>
          <a:xfrm xmlns:a="http://schemas.openxmlformats.org/drawingml/2006/main">
            <a:off x="6186600" y="3564000"/>
            <a:ext cx="26847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Confirm the judge's call, or override with a corrected verdict, expected output, and a note.</a:t>
            </a:r>
          </a:p>
        </p:txBody>
      </p:sp>
      <p:sp>
        <p:nvSpPr>
          <p:cNvPr id="100109" name="Step4"/>
          <p:cNvSpPr txBox="1"/>
          <p:nvPr/>
        </p:nvSpPr>
        <p:spPr>
          <a:xfrm xmlns:a="http://schemas.openxmlformats.org/drawingml/2006/main">
            <a:off x="10033650" y="2016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110" name="Step4Head"/>
          <p:cNvSpPr txBox="1"/>
          <p:nvPr/>
        </p:nvSpPr>
        <p:spPr>
          <a:xfrm xmlns:a="http://schemas.openxmlformats.org/drawingml/2006/main">
            <a:off x="9051300" y="2880000"/>
            <a:ext cx="26847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B365D"/>
                </a:solidFill>
                <a:latin typeface="Trebuchet MS"/>
                <a:ea typeface="Trebuchet MS"/>
              </a:rPr>
              <a:t>GOLDEN dataset</a:t>
            </a:r>
          </a:p>
        </p:txBody>
      </p:sp>
      <p:sp>
        <p:nvSpPr>
          <p:cNvPr id="100111" name="Step4Desc"/>
          <p:cNvSpPr txBox="1"/>
          <p:nvPr/>
        </p:nvSpPr>
        <p:spPr>
          <a:xfrm xmlns:a="http://schemas.openxmlformats.org/drawingml/2006/main">
            <a:off x="9051300" y="3564000"/>
            <a:ext cx="26847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Append-only, frozen. Feeds reference-based evals and the fixed input set for Production-mode runs.</a:t>
            </a:r>
          </a:p>
        </p:txBody>
      </p:sp>
      <p:cxnSp>
        <p:nvCxnSpPr>
          <p:cNvPr id="100112" name="Connector 1"/>
          <p:cNvCxnSpPr>
            <a:stCxn xmlns:a="http://schemas.openxmlformats.org/drawingml/2006/main" id="100100" idx="0"/>
            <a:endCxn xmlns:a="http://schemas.openxmlformats.org/drawingml/2006/main" id="100103" idx="0"/>
          </p:cNvCxnSpPr>
          <p:nvPr/>
        </p:nvCxnSpPr>
        <p:spPr>
          <a:xfrm xmlns:a="http://schemas.openxmlformats.org/drawingml/2006/main">
            <a:off x="2159550" y="2376000"/>
            <a:ext cx="2144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13" name="Connector 2"/>
          <p:cNvCxnSpPr>
            <a:stCxn xmlns:a="http://schemas.openxmlformats.org/drawingml/2006/main" id="100103" idx="0"/>
            <a:endCxn xmlns:a="http://schemas.openxmlformats.org/drawingml/2006/main" id="100106" idx="0"/>
          </p:cNvCxnSpPr>
          <p:nvPr/>
        </p:nvCxnSpPr>
        <p:spPr>
          <a:xfrm xmlns:a="http://schemas.openxmlformats.org/drawingml/2006/main">
            <a:off x="5024250" y="2376000"/>
            <a:ext cx="2144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14" name="Connector 3"/>
          <p:cNvCxnSpPr>
            <a:stCxn xmlns:a="http://schemas.openxmlformats.org/drawingml/2006/main" id="100106" idx="0"/>
            <a:endCxn xmlns:a="http://schemas.openxmlformats.org/drawingml/2006/main" id="100109" idx="0"/>
          </p:cNvCxnSpPr>
          <p:nvPr/>
        </p:nvCxnSpPr>
        <p:spPr>
          <a:xfrm xmlns:a="http://schemas.openxmlformats.org/drawingml/2006/main">
            <a:off x="7888950" y="2376000"/>
            <a:ext cx="2144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15" name="Caption"/>
          <p:cNvSpPr txBox="1"/>
          <p:nvPr/>
        </p:nvSpPr>
        <p:spPr>
          <a:xfrm xmlns:a="http://schemas.openxmlformats.org/drawingml/2006/main">
            <a:off x="457200" y="5904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0087AE"/>
                </a:solidFill>
                <a:latin typeface="Calibri"/>
                <a:ea typeface="Calibri"/>
              </a:rPr>
              <a:t>Without goldens, only reference-free evals run — goldens unlock reference-based evals and Production-mode runs.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6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RUN DISPATCH</a:t>
            </a:r>
          </a:p>
        </p:txBody>
      </p:sp>
      <p:sp>
        <p:nvSpPr>
          <p:cNvPr id="100117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A shared queue, not a single process</a:t>
            </a:r>
          </a:p>
        </p:txBody>
      </p:sp>
      <p:sp>
        <p:nvSpPr>
          <p:cNvPr id="100118" name="QueueBox"/>
          <p:cNvSpPr txBox="1"/>
          <p:nvPr/>
        </p:nvSpPr>
        <p:spPr>
          <a:xfrm xmlns:a="http://schemas.openxmlformats.org/drawingml/2006/main">
            <a:off x="457200" y="2664000"/>
            <a:ext cx="28800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Postgres Queue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scoring_tasks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(SELECT ... FOR UPDATE SKIP LOCKED)</a:t>
            </a:r>
          </a:p>
        </p:txBody>
      </p:sp>
      <p:sp>
        <p:nvSpPr>
          <p:cNvPr id="100119" name="WorkerA"/>
          <p:cNvSpPr txBox="1"/>
          <p:nvPr/>
        </p:nvSpPr>
        <p:spPr>
          <a:xfrm xmlns:a="http://schemas.openxmlformats.org/drawingml/2006/main">
            <a:off x="3913200" y="1944000"/>
            <a:ext cx="2340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Worker A</a:t>
            </a:r>
          </a:p>
        </p:txBody>
      </p:sp>
      <p:cxnSp>
        <p:nvCxnSpPr>
          <p:cNvPr id="100120" name="Connector 1"/>
          <p:cNvCxnSpPr>
            <a:stCxn xmlns:a="http://schemas.openxmlformats.org/drawingml/2006/main" id="100118" idx="0"/>
            <a:endCxn xmlns:a="http://schemas.openxmlformats.org/drawingml/2006/main" id="100119" idx="0"/>
          </p:cNvCxnSpPr>
          <p:nvPr/>
        </p:nvCxnSpPr>
        <p:spPr>
          <a:xfrm xmlns:a="http://schemas.openxmlformats.org/drawingml/2006/main" flipV="1">
            <a:off x="3337200" y="2331000"/>
            <a:ext cx="576000" cy="945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21" name="WorkerB"/>
          <p:cNvSpPr txBox="1"/>
          <p:nvPr/>
        </p:nvSpPr>
        <p:spPr>
          <a:xfrm xmlns:a="http://schemas.openxmlformats.org/drawingml/2006/main">
            <a:off x="3913200" y="2898000"/>
            <a:ext cx="2340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Worker B</a:t>
            </a:r>
          </a:p>
        </p:txBody>
      </p:sp>
      <p:cxnSp>
        <p:nvCxnSpPr>
          <p:cNvPr id="100122" name="Connector 2"/>
          <p:cNvCxnSpPr>
            <a:stCxn xmlns:a="http://schemas.openxmlformats.org/drawingml/2006/main" id="100118" idx="0"/>
            <a:endCxn xmlns:a="http://schemas.openxmlformats.org/drawingml/2006/main" id="100121" idx="0"/>
          </p:cNvCxnSpPr>
          <p:nvPr/>
        </p:nvCxnSpPr>
        <p:spPr>
          <a:xfrm xmlns:a="http://schemas.openxmlformats.org/drawingml/2006/main">
            <a:off x="3337200" y="3276000"/>
            <a:ext cx="576000" cy="9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23" name="WorkerN"/>
          <p:cNvSpPr txBox="1"/>
          <p:nvPr/>
        </p:nvSpPr>
        <p:spPr>
          <a:xfrm xmlns:a="http://schemas.openxmlformats.org/drawingml/2006/main">
            <a:off x="3913200" y="3852000"/>
            <a:ext cx="2340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Worker N</a:t>
            </a:r>
          </a:p>
        </p:txBody>
      </p:sp>
      <p:cxnSp>
        <p:nvCxnSpPr>
          <p:cNvPr id="100124" name="Connector 3"/>
          <p:cNvCxnSpPr>
            <a:stCxn xmlns:a="http://schemas.openxmlformats.org/drawingml/2006/main" id="100118" idx="0"/>
            <a:endCxn xmlns:a="http://schemas.openxmlformats.org/drawingml/2006/main" id="100123" idx="0"/>
          </p:cNvCxnSpPr>
          <p:nvPr/>
        </p:nvCxnSpPr>
        <p:spPr>
          <a:xfrm xmlns:a="http://schemas.openxmlformats.org/drawingml/2006/main">
            <a:off x="3337200" y="3276000"/>
            <a:ext cx="576000" cy="963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25" name="Agg9"/>
          <p:cNvSpPr txBox="1"/>
          <p:nvPr/>
        </p:nvSpPr>
        <p:spPr>
          <a:xfrm xmlns:a="http://schemas.openxmlformats.org/drawingml/2006/main">
            <a:off x="6829200" y="2664000"/>
            <a:ext cx="490680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Aggregator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(elected exactly once)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finalize_run() -&gt; aggregate_run()</a:t>
            </a:r>
          </a:p>
        </p:txBody>
      </p:sp>
      <p:cxnSp>
        <p:nvCxnSpPr>
          <p:cNvPr id="100126" name="Connector 4"/>
          <p:cNvCxnSpPr>
            <a:stCxn xmlns:a="http://schemas.openxmlformats.org/drawingml/2006/main" id="100119" idx="0"/>
            <a:endCxn xmlns:a="http://schemas.openxmlformats.org/drawingml/2006/main" id="100125" idx="0"/>
          </p:cNvCxnSpPr>
          <p:nvPr/>
        </p:nvCxnSpPr>
        <p:spPr>
          <a:xfrm xmlns:a="http://schemas.openxmlformats.org/drawingml/2006/main">
            <a:off x="6253200" y="2331000"/>
            <a:ext cx="576000" cy="945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27" name="Connector 5"/>
          <p:cNvCxnSpPr>
            <a:stCxn xmlns:a="http://schemas.openxmlformats.org/drawingml/2006/main" id="100121" idx="0"/>
            <a:endCxn xmlns:a="http://schemas.openxmlformats.org/drawingml/2006/main" id="100125" idx="0"/>
          </p:cNvCxnSpPr>
          <p:nvPr/>
        </p:nvCxnSpPr>
        <p:spPr>
          <a:xfrm xmlns:a="http://schemas.openxmlformats.org/drawingml/2006/main" flipV="1">
            <a:off x="6253200" y="3276000"/>
            <a:ext cx="576000" cy="9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28" name="Connector 6"/>
          <p:cNvCxnSpPr>
            <a:stCxn xmlns:a="http://schemas.openxmlformats.org/drawingml/2006/main" id="100123" idx="0"/>
            <a:endCxn xmlns:a="http://schemas.openxmlformats.org/drawingml/2006/main" id="100125" idx="0"/>
          </p:cNvCxnSpPr>
          <p:nvPr/>
        </p:nvCxnSpPr>
        <p:spPr>
          <a:xfrm xmlns:a="http://schemas.openxmlformats.org/drawingml/2006/main" flipV="1">
            <a:off x="6253200" y="3276000"/>
            <a:ext cx="576000" cy="963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29" name="Caption"/>
          <p:cNvSpPr txBox="1"/>
          <p:nvPr/>
        </p:nvSpPr>
        <p:spPr>
          <a:xfrm xmlns:a="http://schemas.openxmlformats.org/drawingml/2006/main">
            <a:off x="457200" y="4932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0087AE"/>
                </a:solidFill>
                <a:latin typeface="Calibri"/>
                <a:ea typeface="Calibri"/>
              </a:rPr>
              <a:t>Deli-counter tickets: no two workers ever grab the same one. A crashed worker's claims time out and a background reaper hands them to someone else.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0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RUN DISPATCH</a:t>
            </a:r>
          </a:p>
        </p:txBody>
      </p:sp>
      <p:sp>
        <p:nvSpPr>
          <p:cNvPr id="100131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Every run moves through explicit states</a:t>
            </a:r>
          </a:p>
        </p:txBody>
      </p:sp>
      <p:sp>
        <p:nvSpPr>
          <p:cNvPr id="100132" name="Queued10"/>
          <p:cNvSpPr txBox="1"/>
          <p:nvPr/>
        </p:nvSpPr>
        <p:spPr>
          <a:xfrm xmlns:a="http://schemas.openxmlformats.org/drawingml/2006/main">
            <a:off x="457200" y="2952000"/>
            <a:ext cx="21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B365D"/>
                </a:solidFill>
                <a:latin typeface="Calibri"/>
                <a:ea typeface="Calibri"/>
              </a:rPr>
              <a:t>queued</a:t>
            </a:r>
          </a:p>
        </p:txBody>
      </p:sp>
      <p:sp>
        <p:nvSpPr>
          <p:cNvPr id="100133" name="Running10"/>
          <p:cNvSpPr txBox="1"/>
          <p:nvPr/>
        </p:nvSpPr>
        <p:spPr>
          <a:xfrm xmlns:a="http://schemas.openxmlformats.org/drawingml/2006/main">
            <a:off x="3265200" y="2952000"/>
            <a:ext cx="21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running</a:t>
            </a:r>
          </a:p>
        </p:txBody>
      </p:sp>
      <p:cxnSp>
        <p:nvCxnSpPr>
          <p:cNvPr id="100134" name="Connector 1"/>
          <p:cNvCxnSpPr>
            <a:stCxn xmlns:a="http://schemas.openxmlformats.org/drawingml/2006/main" id="100132" idx="0"/>
            <a:endCxn xmlns:a="http://schemas.openxmlformats.org/drawingml/2006/main" id="100133" idx="0"/>
          </p:cNvCxnSpPr>
          <p:nvPr/>
        </p:nvCxnSpPr>
        <p:spPr>
          <a:xfrm xmlns:a="http://schemas.openxmlformats.org/drawingml/2006/main">
            <a:off x="2617200" y="3348000"/>
            <a:ext cx="6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35" name="Complete10"/>
          <p:cNvSpPr txBox="1"/>
          <p:nvPr/>
        </p:nvSpPr>
        <p:spPr>
          <a:xfrm xmlns:a="http://schemas.openxmlformats.org/drawingml/2006/main">
            <a:off x="6073200" y="1944000"/>
            <a:ext cx="56628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complete</a:t>
            </a:r>
          </a:p>
        </p:txBody>
      </p:sp>
      <p:sp>
        <p:nvSpPr>
          <p:cNvPr id="100136" name="Partial10"/>
          <p:cNvSpPr txBox="1"/>
          <p:nvPr/>
        </p:nvSpPr>
        <p:spPr>
          <a:xfrm xmlns:a="http://schemas.openxmlformats.org/drawingml/2006/main">
            <a:off x="6073200" y="2952000"/>
            <a:ext cx="56628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24F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3A3218"/>
                </a:solidFill>
                <a:latin typeface="Calibri"/>
                <a:ea typeface="Calibri"/>
              </a:rPr>
              <a:t>partial — some evals/tasks failed or N/A</a:t>
            </a:r>
          </a:p>
        </p:txBody>
      </p:sp>
      <p:sp>
        <p:nvSpPr>
          <p:cNvPr id="100137" name="Failed10"/>
          <p:cNvSpPr txBox="1"/>
          <p:nvPr/>
        </p:nvSpPr>
        <p:spPr>
          <a:xfrm xmlns:a="http://schemas.openxmlformats.org/drawingml/2006/main">
            <a:off x="6073200" y="3960000"/>
            <a:ext cx="56628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54F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failed — fatal error</a:t>
            </a:r>
          </a:p>
        </p:txBody>
      </p:sp>
      <p:cxnSp>
        <p:nvCxnSpPr>
          <p:cNvPr id="100138" name="Connector 2"/>
          <p:cNvCxnSpPr>
            <a:stCxn xmlns:a="http://schemas.openxmlformats.org/drawingml/2006/main" id="100133" idx="0"/>
            <a:endCxn xmlns:a="http://schemas.openxmlformats.org/drawingml/2006/main" id="100135" idx="0"/>
          </p:cNvCxnSpPr>
          <p:nvPr/>
        </p:nvCxnSpPr>
        <p:spPr>
          <a:xfrm xmlns:a="http://schemas.openxmlformats.org/drawingml/2006/main" flipV="1">
            <a:off x="5425200" y="2304000"/>
            <a:ext cx="648000" cy="1044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39" name="Connector 3"/>
          <p:cNvCxnSpPr>
            <a:stCxn xmlns:a="http://schemas.openxmlformats.org/drawingml/2006/main" id="100133" idx="0"/>
            <a:endCxn xmlns:a="http://schemas.openxmlformats.org/drawingml/2006/main" id="100136" idx="0"/>
          </p:cNvCxnSpPr>
          <p:nvPr/>
        </p:nvCxnSpPr>
        <p:spPr>
          <a:xfrm xmlns:a="http://schemas.openxmlformats.org/drawingml/2006/main" flipV="1">
            <a:off x="5425200" y="3312000"/>
            <a:ext cx="648000" cy="36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40" name="Connector 4"/>
          <p:cNvCxnSpPr>
            <a:stCxn xmlns:a="http://schemas.openxmlformats.org/drawingml/2006/main" id="100133" idx="0"/>
            <a:endCxn xmlns:a="http://schemas.openxmlformats.org/drawingml/2006/main" id="100137" idx="0"/>
          </p:cNvCxnSpPr>
          <p:nvPr/>
        </p:nvCxnSpPr>
        <p:spPr>
          <a:xfrm xmlns:a="http://schemas.openxmlformats.org/drawingml/2006/main">
            <a:off x="5425200" y="3348000"/>
            <a:ext cx="648000" cy="972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41" name="ResumeNote"/>
          <p:cNvSpPr txBox="1"/>
          <p:nvPr/>
        </p:nvSpPr>
        <p:spPr>
          <a:xfrm xmlns:a="http://schemas.openxmlformats.org/drawingml/2006/main">
            <a:off x="6073200" y="4752000"/>
            <a:ext cx="56628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FF6C0E"/>
                </a:solidFill>
                <a:latin typeface="Calibri"/>
                <a:ea typeface="Calibri"/>
              </a:rPr>
              <a:t>↩ resumes into running — writes are idempotent, safe to retry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2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AGGREGATION</a:t>
            </a:r>
          </a:p>
        </p:txBody>
      </p:sp>
      <p:sp>
        <p:nvSpPr>
          <p:cNvPr id="100143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Exclude, never zero</a:t>
            </a:r>
          </a:p>
        </p:txBody>
      </p:sp>
      <p:sp>
        <p:nvSpPr>
          <p:cNvPr id="100144" name="E1_11"/>
          <p:cNvSpPr txBox="1"/>
          <p:nvPr/>
        </p:nvSpPr>
        <p:spPr>
          <a:xfrm xmlns:a="http://schemas.openxmlformats.org/drawingml/2006/main">
            <a:off x="457200" y="1908000"/>
            <a:ext cx="36156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Eval 1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n = 42 — qualifies</a:t>
            </a:r>
          </a:p>
        </p:txBody>
      </p:sp>
      <p:sp>
        <p:nvSpPr>
          <p:cNvPr id="100145" name="E2_11"/>
          <p:cNvSpPr txBox="1"/>
          <p:nvPr/>
        </p:nvSpPr>
        <p:spPr>
          <a:xfrm xmlns:a="http://schemas.openxmlformats.org/drawingml/2006/main">
            <a:off x="4288800" y="1908000"/>
            <a:ext cx="36156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Eval 2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n = 38 — qualifies</a:t>
            </a:r>
          </a:p>
        </p:txBody>
      </p:sp>
      <p:sp>
        <p:nvSpPr>
          <p:cNvPr id="100146" name="E3_11"/>
          <p:cNvSpPr txBox="1"/>
          <p:nvPr/>
        </p:nvSpPr>
        <p:spPr>
          <a:xfrm xmlns:a="http://schemas.openxmlformats.org/drawingml/2006/main">
            <a:off x="8120400" y="1908000"/>
            <a:ext cx="36156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3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5C1F1A"/>
                </a:solidFill>
                <a:latin typeface="Calibri"/>
                <a:ea typeface="Calibri"/>
              </a:rPr>
              <a:t>Eval 3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5C1F1A"/>
                </a:solidFill>
                <a:latin typeface="Calibri"/>
                <a:ea typeface="Calibri"/>
              </a:rPr>
              <a:t>n = 4 — EXCLUDED</a:t>
            </a:r>
          </a:p>
          <a:p xmlns:a="http://schemas.openxmlformats.org/drawingml/2006/main">
            <a:pPr algn="ctr"/>
            <a:r>
              <a:rPr lang="en-US" sz="1600" b="0">
                <a:solidFill>
                  <a:srgbClr val="5C1F1A"/>
                </a:solidFill>
                <a:latin typeface="Calibri"/>
                <a:ea typeface="Calibri"/>
              </a:rPr>
              <a:t>(below min_sample)</a:t>
            </a:r>
          </a:p>
        </p:txBody>
      </p:sp>
      <p:sp>
        <p:nvSpPr>
          <p:cNvPr id="100147" name="DimBox11"/>
          <p:cNvSpPr txBox="1"/>
          <p:nvPr/>
        </p:nvSpPr>
        <p:spPr>
          <a:xfrm xmlns:a="http://schemas.openxmlformats.org/drawingml/2006/main">
            <a:off x="457200" y="3384000"/>
            <a:ext cx="112788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dimension_score = Σ(eval_mean × weight) / Σ(weight) — renormalized over qualifying evals only</a:t>
            </a:r>
          </a:p>
        </p:txBody>
      </p:sp>
      <p:cxnSp>
        <p:nvCxnSpPr>
          <p:cNvPr id="100148" name="Connector 1"/>
          <p:cNvCxnSpPr>
            <a:stCxn xmlns:a="http://schemas.openxmlformats.org/drawingml/2006/main" id="100144" idx="0"/>
            <a:endCxn xmlns:a="http://schemas.openxmlformats.org/drawingml/2006/main" id="100147" idx="0"/>
          </p:cNvCxnSpPr>
          <p:nvPr/>
        </p:nvCxnSpPr>
        <p:spPr>
          <a:xfrm xmlns:a="http://schemas.openxmlformats.org/drawingml/2006/main">
            <a:off x="2265000" y="2844000"/>
            <a:ext cx="3831600" cy="540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49" name="Connector 2"/>
          <p:cNvCxnSpPr>
            <a:stCxn xmlns:a="http://schemas.openxmlformats.org/drawingml/2006/main" id="100145" idx="0"/>
            <a:endCxn xmlns:a="http://schemas.openxmlformats.org/drawingml/2006/main" id="100147" idx="0"/>
          </p:cNvCxnSpPr>
          <p:nvPr/>
        </p:nvCxnSpPr>
        <p:spPr>
          <a:xfrm xmlns:a="http://schemas.openxmlformats.org/drawingml/2006/main">
            <a:off x="6096600" y="2844000"/>
            <a:ext cx="0" cy="540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50" name="CompBox11"/>
          <p:cNvSpPr txBox="1"/>
          <p:nvPr/>
        </p:nvSpPr>
        <p:spPr>
          <a:xfrm xmlns:a="http://schemas.openxmlformats.org/drawingml/2006/main">
            <a:off x="457200" y="4428000"/>
            <a:ext cx="112788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composite = Σ(dim_score × dim_weight) / Σ(dim_weight) × 100</a:t>
            </a:r>
          </a:p>
        </p:txBody>
      </p:sp>
      <p:cxnSp>
        <p:nvCxnSpPr>
          <p:cNvPr id="100151" name="Connector 3"/>
          <p:cNvCxnSpPr>
            <a:stCxn xmlns:a="http://schemas.openxmlformats.org/drawingml/2006/main" id="100147" idx="0"/>
            <a:endCxn xmlns:a="http://schemas.openxmlformats.org/drawingml/2006/main" id="100150" idx="0"/>
          </p:cNvCxnSpPr>
          <p:nvPr/>
        </p:nvCxnSpPr>
        <p:spPr>
          <a:xfrm xmlns:a="http://schemas.openxmlformats.org/drawingml/2006/main">
            <a:off x="6096600" y="4176000"/>
            <a:ext cx="0" cy="25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52" name="Caption"/>
          <p:cNvSpPr txBox="1"/>
          <p:nvPr/>
        </p:nvSpPr>
        <p:spPr>
          <a:xfrm xmlns:a="http://schemas.openxmlformats.org/drawingml/2006/main">
            <a:off x="457200" y="5400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0087AE"/>
                </a:solidFill>
                <a:latin typeface="Calibri"/>
                <a:ea typeface="Calibri"/>
              </a:rPr>
              <a:t>An eval or dimension that doesn't qualify is omitted from its parent's renormalization — never scored as a 0.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53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VERDICT</a:t>
            </a:r>
          </a:p>
        </p:txBody>
      </p:sp>
      <p:sp>
        <p:nvSpPr>
          <p:cNvPr id="100154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The composite maps to a verdict</a:t>
            </a:r>
          </a:p>
        </p:txBody>
      </p:sp>
      <p:sp>
        <p:nvSpPr>
          <p:cNvPr id="100155" name="Block"/>
          <p:cNvSpPr txBox="1"/>
          <p:nvPr/>
        </p:nvSpPr>
        <p:spPr>
          <a:xfrm xmlns:a="http://schemas.openxmlformats.org/drawingml/2006/main">
            <a:off x="457200" y="2016000"/>
            <a:ext cx="225576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54F"/>
          </a:solidFill>
          <a:ln xmlns:a="http://schemas.openxmlformats.org/drawingml/2006/main">
            <a:solidFill>
              <a:srgbClr val="C155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56" name="BlockRange"/>
          <p:cNvSpPr txBox="1"/>
          <p:nvPr/>
        </p:nvSpPr>
        <p:spPr>
          <a:xfrm xmlns:a="http://schemas.openxmlformats.org/drawingml/2006/main">
            <a:off x="457200" y="2160000"/>
            <a:ext cx="2255760" cy="3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0-39</a:t>
            </a:r>
          </a:p>
        </p:txBody>
      </p:sp>
      <p:sp>
        <p:nvSpPr>
          <p:cNvPr id="100157" name="BlockLabel"/>
          <p:cNvSpPr txBox="1"/>
          <p:nvPr/>
        </p:nvSpPr>
        <p:spPr>
          <a:xfrm xmlns:a="http://schemas.openxmlformats.org/drawingml/2006/main">
            <a:off x="529200" y="2556000"/>
            <a:ext cx="211176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</a:rPr>
              <a:t>BLOCK</a:t>
            </a:r>
          </a:p>
        </p:txBody>
      </p:sp>
      <p:sp>
        <p:nvSpPr>
          <p:cNvPr id="100158" name="BlockRec"/>
          <p:cNvSpPr txBox="1"/>
          <p:nvPr/>
        </p:nvSpPr>
        <p:spPr>
          <a:xfrm xmlns:a="http://schemas.openxmlformats.org/drawingml/2006/main">
            <a:off x="2712960" y="2016000"/>
            <a:ext cx="225576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4C"/>
          </a:solidFill>
          <a:ln xmlns:a="http://schemas.openxmlformats.org/drawingml/2006/main">
            <a:solidFill>
              <a:srgbClr val="D68A4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59" name="BlockRecRange"/>
          <p:cNvSpPr txBox="1"/>
          <p:nvPr/>
        </p:nvSpPr>
        <p:spPr>
          <a:xfrm xmlns:a="http://schemas.openxmlformats.org/drawingml/2006/main">
            <a:off x="2712960" y="2160000"/>
            <a:ext cx="2255760" cy="3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40-54</a:t>
            </a:r>
          </a:p>
        </p:txBody>
      </p:sp>
      <p:sp>
        <p:nvSpPr>
          <p:cNvPr id="100160" name="BlockRecLabel"/>
          <p:cNvSpPr txBox="1"/>
          <p:nvPr/>
        </p:nvSpPr>
        <p:spPr>
          <a:xfrm xmlns:a="http://schemas.openxmlformats.org/drawingml/2006/main">
            <a:off x="2784960" y="2556000"/>
            <a:ext cx="211176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</a:rPr>
              <a:t>BLOCK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</a:rPr>
              <a:t>RECOMMENDED</a:t>
            </a:r>
          </a:p>
        </p:txBody>
      </p:sp>
      <p:sp>
        <p:nvSpPr>
          <p:cNvPr id="100161" name="Review"/>
          <p:cNvSpPr txBox="1"/>
          <p:nvPr/>
        </p:nvSpPr>
        <p:spPr>
          <a:xfrm xmlns:a="http://schemas.openxmlformats.org/drawingml/2006/main">
            <a:off x="4968720" y="2016000"/>
            <a:ext cx="225576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24F"/>
          </a:solidFill>
          <a:ln xmlns:a="http://schemas.openxmlformats.org/drawingml/2006/main">
            <a:solidFill>
              <a:srgbClr val="DCC2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62" name="ReviewRange"/>
          <p:cNvSpPr txBox="1"/>
          <p:nvPr/>
        </p:nvSpPr>
        <p:spPr>
          <a:xfrm xmlns:a="http://schemas.openxmlformats.org/drawingml/2006/main">
            <a:off x="4968720" y="2160000"/>
            <a:ext cx="2255760" cy="3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A3218"/>
                </a:solidFill>
                <a:latin typeface="Calibri"/>
                <a:ea typeface="Calibri"/>
              </a:rPr>
              <a:t>55-69</a:t>
            </a:r>
          </a:p>
        </p:txBody>
      </p:sp>
      <p:sp>
        <p:nvSpPr>
          <p:cNvPr id="100163" name="ReviewLabel"/>
          <p:cNvSpPr txBox="1"/>
          <p:nvPr/>
        </p:nvSpPr>
        <p:spPr>
          <a:xfrm xmlns:a="http://schemas.openxmlformats.org/drawingml/2006/main">
            <a:off x="5040720" y="2556000"/>
            <a:ext cx="211176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3A3218"/>
                </a:solidFill>
                <a:latin typeface="Trebuchet MS"/>
                <a:ea typeface="Trebuchet MS"/>
              </a:rPr>
              <a:t>REVIEW</a:t>
            </a:r>
          </a:p>
        </p:txBody>
      </p:sp>
      <p:sp>
        <p:nvSpPr>
          <p:cNvPr id="100164" name="ShipNote"/>
          <p:cNvSpPr txBox="1"/>
          <p:nvPr/>
        </p:nvSpPr>
        <p:spPr>
          <a:xfrm xmlns:a="http://schemas.openxmlformats.org/drawingml/2006/main">
            <a:off x="7224480" y="2016000"/>
            <a:ext cx="225576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F6A"/>
          </a:solidFill>
          <a:ln xmlns:a="http://schemas.openxmlformats.org/drawingml/2006/main">
            <a:solidFill>
              <a:srgbClr val="8FBF6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65" name="ShipNoteRange"/>
          <p:cNvSpPr txBox="1"/>
          <p:nvPr/>
        </p:nvSpPr>
        <p:spPr>
          <a:xfrm xmlns:a="http://schemas.openxmlformats.org/drawingml/2006/main">
            <a:off x="7224480" y="2160000"/>
            <a:ext cx="2255760" cy="3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1F3D12"/>
                </a:solidFill>
                <a:latin typeface="Calibri"/>
                <a:ea typeface="Calibri"/>
              </a:rPr>
              <a:t>70-84</a:t>
            </a:r>
          </a:p>
        </p:txBody>
      </p:sp>
      <p:sp>
        <p:nvSpPr>
          <p:cNvPr id="100166" name="ShipNoteLabel"/>
          <p:cNvSpPr txBox="1"/>
          <p:nvPr/>
        </p:nvSpPr>
        <p:spPr>
          <a:xfrm xmlns:a="http://schemas.openxmlformats.org/drawingml/2006/main">
            <a:off x="7296480" y="2556000"/>
            <a:ext cx="211176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F3D12"/>
                </a:solidFill>
                <a:latin typeface="Trebuchet MS"/>
                <a:ea typeface="Trebuchet MS"/>
              </a:rPr>
              <a:t>SHIP WITH</a:t>
            </a:r>
          </a:p>
          <a:p xmlns:a="http://schemas.openxmlformats.org/drawingml/2006/main">
            <a:pPr algn="ctr"/>
            <a:r>
              <a:rPr lang="en-US" sz="1600" b="1">
                <a:solidFill>
                  <a:srgbClr val="1F3D12"/>
                </a:solidFill>
                <a:latin typeface="Trebuchet MS"/>
                <a:ea typeface="Trebuchet MS"/>
              </a:rPr>
              <a:t>NOTE</a:t>
            </a:r>
          </a:p>
        </p:txBody>
      </p:sp>
      <p:sp>
        <p:nvSpPr>
          <p:cNvPr id="100167" name="Ship"/>
          <p:cNvSpPr txBox="1"/>
          <p:nvPr/>
        </p:nvSpPr>
        <p:spPr>
          <a:xfrm xmlns:a="http://schemas.openxmlformats.org/drawingml/2006/main">
            <a:off x="9480240" y="2016000"/>
            <a:ext cx="2255760" cy="12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  <a:ln xmlns:a="http://schemas.openxmlformats.org/drawingml/2006/main">
            <a:solidFill>
              <a:srgbClr val="4F9D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68" name="ShipRange"/>
          <p:cNvSpPr txBox="1"/>
          <p:nvPr/>
        </p:nvSpPr>
        <p:spPr>
          <a:xfrm xmlns:a="http://schemas.openxmlformats.org/drawingml/2006/main">
            <a:off x="9480240" y="2160000"/>
            <a:ext cx="2255760" cy="3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85-100</a:t>
            </a:r>
          </a:p>
        </p:txBody>
      </p:sp>
      <p:sp>
        <p:nvSpPr>
          <p:cNvPr id="100169" name="ShipLabel"/>
          <p:cNvSpPr txBox="1"/>
          <p:nvPr/>
        </p:nvSpPr>
        <p:spPr>
          <a:xfrm xmlns:a="http://schemas.openxmlformats.org/drawingml/2006/main">
            <a:off x="9552240" y="2556000"/>
            <a:ext cx="211176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</a:rPr>
              <a:t>SHIP</a:t>
            </a:r>
          </a:p>
        </p:txBody>
      </p:sp>
      <p:sp>
        <p:nvSpPr>
          <p:cNvPr id="100170" name="Prov12"/>
          <p:cNvSpPr txBox="1"/>
          <p:nvPr/>
        </p:nvSpPr>
        <p:spPr>
          <a:xfrm xmlns:a="http://schemas.openxmlformats.org/drawingml/2006/main">
            <a:off x="457200" y="3564000"/>
            <a:ext cx="26847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E0"/>
          </a:solidFill>
          <a:ln xmlns:a="http://schemas.openxmlformats.org/drawingml/2006/main">
            <a:solidFill>
              <a:srgbClr val="C9C2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71" name="Prov12Cond"/>
          <p:cNvSpPr txBox="1"/>
          <p:nvPr/>
        </p:nvSpPr>
        <p:spPr>
          <a:xfrm xmlns:a="http://schemas.openxmlformats.org/drawingml/2006/main">
            <a:off x="565200" y="3654000"/>
            <a:ext cx="24687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2E2650"/>
                </a:solidFill>
                <a:latin typeface="Calibri"/>
                <a:ea typeface="Calibri"/>
              </a:rPr>
              <a:t>insufficient_sample OR provisional=true</a:t>
            </a:r>
          </a:p>
        </p:txBody>
      </p:sp>
      <p:sp>
        <p:nvSpPr>
          <p:cNvPr id="100172" name="Prov12Label"/>
          <p:cNvSpPr txBox="1"/>
          <p:nvPr/>
        </p:nvSpPr>
        <p:spPr>
          <a:xfrm xmlns:a="http://schemas.openxmlformats.org/drawingml/2006/main">
            <a:off x="565200" y="4104000"/>
            <a:ext cx="24687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2E2650"/>
                </a:solidFill>
                <a:latin typeface="Trebuchet MS"/>
                <a:ea typeface="Trebuchet MS"/>
              </a:rPr>
              <a:t>PROVISIONAL</a:t>
            </a:r>
          </a:p>
        </p:txBody>
      </p:sp>
      <p:sp>
        <p:nvSpPr>
          <p:cNvPr id="100173" name="ShipC12"/>
          <p:cNvSpPr txBox="1"/>
          <p:nvPr/>
        </p:nvSpPr>
        <p:spPr>
          <a:xfrm xmlns:a="http://schemas.openxmlformats.org/drawingml/2006/main">
            <a:off x="3321900" y="3564000"/>
            <a:ext cx="26847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  <a:ln xmlns:a="http://schemas.openxmlformats.org/drawingml/2006/main">
            <a:solidFill>
              <a:srgbClr val="4F9D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74" name="ShipC12Cond"/>
          <p:cNvSpPr txBox="1"/>
          <p:nvPr/>
        </p:nvSpPr>
        <p:spPr>
          <a:xfrm xmlns:a="http://schemas.openxmlformats.org/drawingml/2006/main">
            <a:off x="3429900" y="3654000"/>
            <a:ext cx="24687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  <a:latin typeface="Calibri"/>
                <a:ea typeface="Calibri"/>
              </a:rPr>
              <a:t>ship / ship_note</a:t>
            </a:r>
          </a:p>
        </p:txBody>
      </p:sp>
      <p:sp>
        <p:nvSpPr>
          <p:cNvPr id="100175" name="ShipC12Label"/>
          <p:cNvSpPr txBox="1"/>
          <p:nvPr/>
        </p:nvSpPr>
        <p:spPr>
          <a:xfrm xmlns:a="http://schemas.openxmlformats.org/drawingml/2006/main">
            <a:off x="3429900" y="4104000"/>
            <a:ext cx="24687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SHIP</a:t>
            </a:r>
          </a:p>
        </p:txBody>
      </p:sp>
      <p:sp>
        <p:nvSpPr>
          <p:cNvPr id="100176" name="NeedsC12"/>
          <p:cNvSpPr txBox="1"/>
          <p:nvPr/>
        </p:nvSpPr>
        <p:spPr>
          <a:xfrm xmlns:a="http://schemas.openxmlformats.org/drawingml/2006/main">
            <a:off x="6186600" y="3564000"/>
            <a:ext cx="26847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24F"/>
          </a:solidFill>
          <a:ln xmlns:a="http://schemas.openxmlformats.org/drawingml/2006/main">
            <a:solidFill>
              <a:srgbClr val="DCC2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77" name="NeedsC12Cond"/>
          <p:cNvSpPr txBox="1"/>
          <p:nvPr/>
        </p:nvSpPr>
        <p:spPr>
          <a:xfrm xmlns:a="http://schemas.openxmlformats.org/drawingml/2006/main">
            <a:off x="6294600" y="3654000"/>
            <a:ext cx="24687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3A3218"/>
                </a:solidFill>
                <a:latin typeface="Calibri"/>
                <a:ea typeface="Calibri"/>
              </a:rPr>
              <a:t>review / block_rec</a:t>
            </a:r>
          </a:p>
        </p:txBody>
      </p:sp>
      <p:sp>
        <p:nvSpPr>
          <p:cNvPr id="100178" name="NeedsC12Label"/>
          <p:cNvSpPr txBox="1"/>
          <p:nvPr/>
        </p:nvSpPr>
        <p:spPr>
          <a:xfrm xmlns:a="http://schemas.openxmlformats.org/drawingml/2006/main">
            <a:off x="6294600" y="4104000"/>
            <a:ext cx="24687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3A3218"/>
                </a:solidFill>
                <a:latin typeface="Trebuchet MS"/>
                <a:ea typeface="Trebuchet MS"/>
              </a:rPr>
              <a:t>NEEDS WORK</a:t>
            </a:r>
          </a:p>
        </p:txBody>
      </p:sp>
      <p:sp>
        <p:nvSpPr>
          <p:cNvPr id="100179" name="DontC12"/>
          <p:cNvSpPr txBox="1"/>
          <p:nvPr/>
        </p:nvSpPr>
        <p:spPr>
          <a:xfrm xmlns:a="http://schemas.openxmlformats.org/drawingml/2006/main">
            <a:off x="9051300" y="3564000"/>
            <a:ext cx="2684700" cy="9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54F"/>
          </a:solidFill>
          <a:ln xmlns:a="http://schemas.openxmlformats.org/drawingml/2006/main">
            <a:solidFill>
              <a:srgbClr val="C155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80" name="DontC12Cond"/>
          <p:cNvSpPr txBox="1"/>
          <p:nvPr/>
        </p:nvSpPr>
        <p:spPr>
          <a:xfrm xmlns:a="http://schemas.openxmlformats.org/drawingml/2006/main">
            <a:off x="9159300" y="3654000"/>
            <a:ext cx="24687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F"/>
                </a:solidFill>
                <a:latin typeface="Calibri"/>
                <a:ea typeface="Calibri"/>
              </a:rPr>
              <a:t>block</a:t>
            </a:r>
          </a:p>
        </p:txBody>
      </p:sp>
      <p:sp>
        <p:nvSpPr>
          <p:cNvPr id="100181" name="DontC12Label"/>
          <p:cNvSpPr txBox="1"/>
          <p:nvPr/>
        </p:nvSpPr>
        <p:spPr>
          <a:xfrm xmlns:a="http://schemas.openxmlformats.org/drawingml/2006/main">
            <a:off x="9159300" y="4104000"/>
            <a:ext cx="24687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DON'T SHIP</a:t>
            </a:r>
          </a:p>
        </p:txBody>
      </p:sp>
      <p:sp>
        <p:nvSpPr>
          <p:cNvPr id="100182" name="Caption"/>
          <p:cNvSpPr txBox="1"/>
          <p:nvPr/>
        </p:nvSpPr>
        <p:spPr>
          <a:xfrm xmlns:a="http://schemas.openxmlformats.org/drawingml/2006/main">
            <a:off x="457200" y="4680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0087AE"/>
                </a:solidFill>
                <a:latin typeface="Calibri"/>
                <a:ea typeface="Calibri"/>
              </a:rPr>
              <a:t>Bands + dimension weights are frozen in the run's snapshot at score time — a later profile edit can never retroactively re-score a completed run.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83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VERDICT</a:t>
            </a:r>
          </a:p>
        </p:txBody>
      </p:sp>
      <p:sp>
        <p:nvSpPr>
          <p:cNvPr id="100184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A clean composite can still be forced provisional</a:t>
            </a:r>
          </a:p>
        </p:txBody>
      </p:sp>
      <p:sp>
        <p:nvSpPr>
          <p:cNvPr id="100185" name="Guard1"/>
          <p:cNvSpPr txBox="1"/>
          <p:nvPr/>
        </p:nvSpPr>
        <p:spPr>
          <a:xfrm xmlns:a="http://schemas.openxmlformats.org/drawingml/2006/main">
            <a:off x="457200" y="1908000"/>
            <a:ext cx="36156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86" name="Guard1Head"/>
          <p:cNvSpPr txBox="1"/>
          <p:nvPr/>
        </p:nvSpPr>
        <p:spPr>
          <a:xfrm xmlns:a="http://schemas.openxmlformats.org/drawingml/2006/main">
            <a:off x="601200" y="201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B365D"/>
                </a:solidFill>
                <a:latin typeface="Trebuchet MS"/>
                <a:ea typeface="Trebuchet MS"/>
              </a:rPr>
              <a:t>Insufficient sample</a:t>
            </a:r>
          </a:p>
        </p:txBody>
      </p:sp>
      <p:sp>
        <p:nvSpPr>
          <p:cNvPr id="100187" name="Guard1Desc"/>
          <p:cNvSpPr txBox="1"/>
          <p:nvPr/>
        </p:nvSpPr>
        <p:spPr>
          <a:xfrm xmlns:a="http://schemas.openxmlformats.org/drawingml/2006/main">
            <a:off x="601200" y="2412000"/>
            <a:ext cx="33276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scored_count &lt; min_sample_for_verdict</a:t>
            </a:r>
          </a:p>
        </p:txBody>
      </p:sp>
      <p:sp>
        <p:nvSpPr>
          <p:cNvPr id="100188" name="Guard2"/>
          <p:cNvSpPr txBox="1"/>
          <p:nvPr/>
        </p:nvSpPr>
        <p:spPr>
          <a:xfrm xmlns:a="http://schemas.openxmlformats.org/drawingml/2006/main">
            <a:off x="4288800" y="1908000"/>
            <a:ext cx="36156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89" name="Guard2Head"/>
          <p:cNvSpPr txBox="1"/>
          <p:nvPr/>
        </p:nvSpPr>
        <p:spPr>
          <a:xfrm xmlns:a="http://schemas.openxmlformats.org/drawingml/2006/main">
            <a:off x="4432800" y="201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B365D"/>
                </a:solidFill>
                <a:latin typeface="Trebuchet MS"/>
                <a:ea typeface="Trebuchet MS"/>
              </a:rPr>
              <a:t>High failure rate</a:t>
            </a:r>
          </a:p>
        </p:txBody>
      </p:sp>
      <p:sp>
        <p:nvSpPr>
          <p:cNvPr id="100190" name="Guard2Desc"/>
          <p:cNvSpPr txBox="1"/>
          <p:nvPr/>
        </p:nvSpPr>
        <p:spPr>
          <a:xfrm xmlns:a="http://schemas.openxmlformats.org/drawingml/2006/main">
            <a:off x="4432800" y="2412000"/>
            <a:ext cx="33276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genuine_failed / (scored + genuine_failed) &gt; max_failure_rate — real compute errors only, not N/A skips</a:t>
            </a:r>
          </a:p>
        </p:txBody>
      </p:sp>
      <p:sp>
        <p:nvSpPr>
          <p:cNvPr id="100191" name="Guard3"/>
          <p:cNvSpPr txBox="1"/>
          <p:nvPr/>
        </p:nvSpPr>
        <p:spPr>
          <a:xfrm xmlns:a="http://schemas.openxmlformats.org/drawingml/2006/main">
            <a:off x="8120400" y="1908000"/>
            <a:ext cx="36156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192" name="Guard3Head"/>
          <p:cNvSpPr txBox="1"/>
          <p:nvPr/>
        </p:nvSpPr>
        <p:spPr>
          <a:xfrm xmlns:a="http://schemas.openxmlformats.org/drawingml/2006/main">
            <a:off x="8264400" y="201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B365D"/>
                </a:solidFill>
                <a:latin typeface="Trebuchet MS"/>
                <a:ea typeface="Trebuchet MS"/>
              </a:rPr>
              <a:t>Sample incomplete</a:t>
            </a:r>
          </a:p>
        </p:txBody>
      </p:sp>
      <p:sp>
        <p:nvSpPr>
          <p:cNvPr id="100193" name="Guard3Desc"/>
          <p:cNvSpPr txBox="1"/>
          <p:nvPr/>
        </p:nvSpPr>
        <p:spPr>
          <a:xfrm xmlns:a="http://schemas.openxmlformats.org/drawingml/2006/main">
            <a:off x="8264400" y="2412000"/>
            <a:ext cx="33276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(retired + cancelled) &gt; 0 — regardless of how many tasks did score</a:t>
            </a:r>
          </a:p>
        </p:txBody>
      </p:sp>
      <p:sp>
        <p:nvSpPr>
          <p:cNvPr id="100194" name="OrCircle"/>
          <p:cNvSpPr txBox="1"/>
          <p:nvPr/>
        </p:nvSpPr>
        <p:spPr>
          <a:xfrm xmlns:a="http://schemas.openxmlformats.org/drawingml/2006/main">
            <a:off x="5826600" y="34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B365D"/>
                </a:solidFill>
                <a:latin typeface="Calibri"/>
                <a:ea typeface="Calibri"/>
              </a:rPr>
              <a:t>OR</a:t>
            </a:r>
          </a:p>
        </p:txBody>
      </p:sp>
      <p:cxnSp>
        <p:nvCxnSpPr>
          <p:cNvPr id="100195" name="Connector 1"/>
          <p:cNvCxnSpPr>
            <a:stCxn xmlns:a="http://schemas.openxmlformats.org/drawingml/2006/main" id="100185" idx="0"/>
            <a:endCxn xmlns:a="http://schemas.openxmlformats.org/drawingml/2006/main" id="100194" idx="0"/>
          </p:cNvCxnSpPr>
          <p:nvPr/>
        </p:nvCxnSpPr>
        <p:spPr>
          <a:xfrm xmlns:a="http://schemas.openxmlformats.org/drawingml/2006/main">
            <a:off x="2265000" y="3348000"/>
            <a:ext cx="3831600" cy="144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96" name="Connector 2"/>
          <p:cNvCxnSpPr>
            <a:stCxn xmlns:a="http://schemas.openxmlformats.org/drawingml/2006/main" id="100188" idx="0"/>
            <a:endCxn xmlns:a="http://schemas.openxmlformats.org/drawingml/2006/main" id="100194" idx="0"/>
          </p:cNvCxnSpPr>
          <p:nvPr/>
        </p:nvCxnSpPr>
        <p:spPr>
          <a:xfrm xmlns:a="http://schemas.openxmlformats.org/drawingml/2006/main">
            <a:off x="6096600" y="3348000"/>
            <a:ext cx="0" cy="144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cxnSp>
        <p:nvCxnSpPr>
          <p:cNvPr id="100197" name="Connector 3"/>
          <p:cNvCxnSpPr>
            <a:stCxn xmlns:a="http://schemas.openxmlformats.org/drawingml/2006/main" id="100191" idx="0"/>
            <a:endCxn xmlns:a="http://schemas.openxmlformats.org/drawingml/2006/main" id="100194" idx="0"/>
          </p:cNvCxnSpPr>
          <p:nvPr/>
        </p:nvCxnSpPr>
        <p:spPr>
          <a:xfrm xmlns:a="http://schemas.openxmlformats.org/drawingml/2006/main" flipH="1">
            <a:off x="6096600" y="3348000"/>
            <a:ext cx="3831600" cy="144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198" name="ProvBox13"/>
          <p:cNvSpPr txBox="1"/>
          <p:nvPr/>
        </p:nvSpPr>
        <p:spPr>
          <a:xfrm xmlns:a="http://schemas.openxmlformats.org/drawingml/2006/main">
            <a:off x="4296600" y="4212000"/>
            <a:ext cx="36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E0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2E2650"/>
                </a:solidFill>
                <a:latin typeface="Calibri"/>
                <a:ea typeface="Calibri"/>
              </a:rPr>
              <a:t>ship_decision = provisional</a:t>
            </a:r>
          </a:p>
        </p:txBody>
      </p:sp>
      <p:cxnSp>
        <p:nvCxnSpPr>
          <p:cNvPr id="100199" name="Connector 4"/>
          <p:cNvCxnSpPr>
            <a:stCxn xmlns:a="http://schemas.openxmlformats.org/drawingml/2006/main" id="100194" idx="0"/>
            <a:endCxn xmlns:a="http://schemas.openxmlformats.org/drawingml/2006/main" id="100198" idx="0"/>
          </p:cNvCxnSpPr>
          <p:nvPr/>
        </p:nvCxnSpPr>
        <p:spPr>
          <a:xfrm xmlns:a="http://schemas.openxmlformats.org/drawingml/2006/main">
            <a:off x="6096600" y="4032000"/>
            <a:ext cx="0" cy="180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200" name="CIBox13"/>
          <p:cNvSpPr txBox="1"/>
          <p:nvPr/>
        </p:nvSpPr>
        <p:spPr>
          <a:xfrm xmlns:a="http://schemas.openxmlformats.org/drawingml/2006/main">
            <a:off x="457200" y="5076000"/>
            <a:ext cx="112788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1B365D"/>
                </a:solidFill>
                <a:latin typeface="Calibri"/>
                <a:ea typeface="Calibri"/>
              </a:rPr>
              <a:t>Confidence interval — every composite ships with a 95% CI, e.g. 74 ± 4 (conservative Bernoulli bound). More scored interactions -&gt; narrower CI.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01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TRUST</a:t>
            </a:r>
          </a:p>
        </p:txBody>
      </p:sp>
      <p:sp>
        <p:nvSpPr>
          <p:cNvPr id="100202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Comparing to baseline: exact, approximate, or refused</a:t>
            </a:r>
          </a:p>
        </p:txBody>
      </p:sp>
      <p:sp>
        <p:nvSpPr>
          <p:cNvPr id="100203" name="Q1_14"/>
          <p:cNvSpPr txBox="1"/>
          <p:nvPr/>
        </p:nvSpPr>
        <p:spPr>
          <a:xfrm xmlns:a="http://schemas.openxmlformats.org/drawingml/2006/main">
            <a:off x="457200" y="1908000"/>
            <a:ext cx="11278800" cy="6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0">
                <a:solidFill>
                  <a:srgbClr val="1B365D"/>
                </a:solidFill>
                <a:latin typeface="Calibri"/>
                <a:ea typeface="Calibri"/>
              </a:rPr>
              <a:t>Same mode as baseline? (Production vs Sandbox)</a:t>
            </a:r>
          </a:p>
        </p:txBody>
      </p:sp>
      <p:sp>
        <p:nvSpPr>
          <p:cNvPr id="100204" name="Q2_14"/>
          <p:cNvSpPr txBox="1"/>
          <p:nvPr/>
        </p:nvSpPr>
        <p:spPr>
          <a:xfrm xmlns:a="http://schemas.openxmlformats.org/drawingml/2006/main">
            <a:off x="457200" y="2808000"/>
            <a:ext cx="11278800" cy="7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0">
                <a:solidFill>
                  <a:srgbClr val="1B365D"/>
                </a:solidFill>
                <a:latin typeface="Calibri"/>
                <a:ea typeface="Calibri"/>
              </a:rPr>
              <a:t>If yes — do metric set, golden set, scored-count gap (&gt;20%), profile version, weights, or bands differ from baseline?</a:t>
            </a:r>
          </a:p>
        </p:txBody>
      </p:sp>
      <p:cxnSp>
        <p:nvCxnSpPr>
          <p:cNvPr id="100205" name="Connector 1"/>
          <p:cNvCxnSpPr>
            <a:stCxn xmlns:a="http://schemas.openxmlformats.org/drawingml/2006/main" id="100203" idx="0"/>
            <a:endCxn xmlns:a="http://schemas.openxmlformats.org/drawingml/2006/main" id="100204" idx="0"/>
          </p:cNvCxnSpPr>
          <p:nvPr/>
        </p:nvCxnSpPr>
        <p:spPr>
          <a:xfrm xmlns:a="http://schemas.openxmlformats.org/drawingml/2006/main">
            <a:off x="6096600" y="2592000"/>
            <a:ext cx="0" cy="216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206" name="Refused14"/>
          <p:cNvSpPr txBox="1"/>
          <p:nvPr/>
        </p:nvSpPr>
        <p:spPr>
          <a:xfrm xmlns:a="http://schemas.openxmlformats.org/drawingml/2006/main">
            <a:off x="457200" y="3960000"/>
            <a:ext cx="36156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54F"/>
          </a:solidFill>
          <a:ln xmlns:a="http://schemas.openxmlformats.org/drawingml/2006/main">
            <a:solidFill>
              <a:srgbClr val="C155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207" name="Refused14Head"/>
          <p:cNvSpPr txBox="1"/>
          <p:nvPr/>
        </p:nvSpPr>
        <p:spPr>
          <a:xfrm xmlns:a="http://schemas.openxmlformats.org/drawingml/2006/main">
            <a:off x="601200" y="408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REFUSED</a:t>
            </a:r>
          </a:p>
        </p:txBody>
      </p:sp>
      <p:sp>
        <p:nvSpPr>
          <p:cNvPr id="100208" name="Refused14Desc"/>
          <p:cNvSpPr txBox="1"/>
          <p:nvPr/>
        </p:nvSpPr>
        <p:spPr>
          <a:xfrm xmlns:a="http://schemas.openxmlformats.org/drawingml/2006/main">
            <a:off x="601200" y="4500000"/>
            <a:ext cx="33276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No (different mode) — cross_mode_refused</a:t>
            </a:r>
          </a:p>
        </p:txBody>
      </p:sp>
      <p:cxnSp>
        <p:nvCxnSpPr>
          <p:cNvPr id="100209" name="Connector 2"/>
          <p:cNvCxnSpPr>
            <a:stCxn xmlns:a="http://schemas.openxmlformats.org/drawingml/2006/main" id="100204" idx="0"/>
            <a:endCxn xmlns:a="http://schemas.openxmlformats.org/drawingml/2006/main" id="100206" idx="0"/>
          </p:cNvCxnSpPr>
          <p:nvPr/>
        </p:nvCxnSpPr>
        <p:spPr>
          <a:xfrm xmlns:a="http://schemas.openxmlformats.org/drawingml/2006/main" flipH="1">
            <a:off x="2265000" y="3564000"/>
            <a:ext cx="3831600" cy="396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210" name="Approx14"/>
          <p:cNvSpPr txBox="1"/>
          <p:nvPr/>
        </p:nvSpPr>
        <p:spPr>
          <a:xfrm xmlns:a="http://schemas.openxmlformats.org/drawingml/2006/main">
            <a:off x="4288800" y="3960000"/>
            <a:ext cx="36156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24F"/>
          </a:solidFill>
          <a:ln xmlns:a="http://schemas.openxmlformats.org/drawingml/2006/main">
            <a:solidFill>
              <a:srgbClr val="DCC2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211" name="Approx14Head"/>
          <p:cNvSpPr txBox="1"/>
          <p:nvPr/>
        </p:nvSpPr>
        <p:spPr>
          <a:xfrm xmlns:a="http://schemas.openxmlformats.org/drawingml/2006/main">
            <a:off x="4432800" y="408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A3218"/>
                </a:solidFill>
                <a:latin typeface="Trebuchet MS"/>
                <a:ea typeface="Trebuchet MS"/>
              </a:rPr>
              <a:t>APPROXIMATE</a:t>
            </a:r>
          </a:p>
        </p:txBody>
      </p:sp>
      <p:sp>
        <p:nvSpPr>
          <p:cNvPr id="100212" name="Approx14Desc"/>
          <p:cNvSpPr txBox="1"/>
          <p:nvPr/>
        </p:nvSpPr>
        <p:spPr>
          <a:xfrm xmlns:a="http://schemas.openxmlformats.org/drawingml/2006/main">
            <a:off x="4432800" y="4500000"/>
            <a:ext cx="33276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A3218"/>
                </a:solidFill>
                <a:latin typeface="Calibri"/>
                <a:ea typeface="Calibri"/>
              </a:rPr>
              <a:t>Yes — Δ shown, reason(s) listed, never presented as precise</a:t>
            </a:r>
          </a:p>
        </p:txBody>
      </p:sp>
      <p:cxnSp>
        <p:nvCxnSpPr>
          <p:cNvPr id="100213" name="Connector 3"/>
          <p:cNvCxnSpPr>
            <a:stCxn xmlns:a="http://schemas.openxmlformats.org/drawingml/2006/main" id="100204" idx="0"/>
            <a:endCxn xmlns:a="http://schemas.openxmlformats.org/drawingml/2006/main" id="100210" idx="0"/>
          </p:cNvCxnSpPr>
          <p:nvPr/>
        </p:nvCxnSpPr>
        <p:spPr>
          <a:xfrm xmlns:a="http://schemas.openxmlformats.org/drawingml/2006/main">
            <a:off x="6096600" y="3564000"/>
            <a:ext cx="0" cy="396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214" name="Exact14"/>
          <p:cNvSpPr txBox="1"/>
          <p:nvPr/>
        </p:nvSpPr>
        <p:spPr>
          <a:xfrm xmlns:a="http://schemas.openxmlformats.org/drawingml/2006/main">
            <a:off x="8120400" y="3960000"/>
            <a:ext cx="36156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5C"/>
          </a:solidFill>
          <a:ln xmlns:a="http://schemas.openxmlformats.org/drawingml/2006/main">
            <a:solidFill>
              <a:srgbClr val="4F9D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700" b="0">
              <a:solidFill>
                <a:srgbClr val="1B365D"/>
              </a:solidFill>
              <a:latin typeface="Calibri"/>
              <a:ea typeface="Calibri"/>
            </a:endParaRPr>
          </a:p>
        </p:txBody>
      </p:sp>
      <p:sp>
        <p:nvSpPr>
          <p:cNvPr id="100215" name="Exact14Head"/>
          <p:cNvSpPr txBox="1"/>
          <p:nvPr/>
        </p:nvSpPr>
        <p:spPr>
          <a:xfrm xmlns:a="http://schemas.openxmlformats.org/drawingml/2006/main">
            <a:off x="8264400" y="4086000"/>
            <a:ext cx="33276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EXACT</a:t>
            </a:r>
          </a:p>
        </p:txBody>
      </p:sp>
      <p:sp>
        <p:nvSpPr>
          <p:cNvPr id="100216" name="Exact14Desc"/>
          <p:cNvSpPr txBox="1"/>
          <p:nvPr/>
        </p:nvSpPr>
        <p:spPr>
          <a:xfrm xmlns:a="http://schemas.openxmlformats.org/drawingml/2006/main">
            <a:off x="8264400" y="4500000"/>
            <a:ext cx="33276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  <a:latin typeface="Calibri"/>
                <a:ea typeface="Calibri"/>
              </a:rPr>
              <a:t>No confounders — Δ shown as an exact number</a:t>
            </a:r>
          </a:p>
        </p:txBody>
      </p:sp>
      <p:cxnSp>
        <p:nvCxnSpPr>
          <p:cNvPr id="100217" name="Connector 4"/>
          <p:cNvCxnSpPr>
            <a:stCxn xmlns:a="http://schemas.openxmlformats.org/drawingml/2006/main" id="100204" idx="0"/>
            <a:endCxn xmlns:a="http://schemas.openxmlformats.org/drawingml/2006/main" id="100214" idx="0"/>
          </p:cNvCxnSpPr>
          <p:nvPr/>
        </p:nvCxnSpPr>
        <p:spPr>
          <a:xfrm xmlns:a="http://schemas.openxmlformats.org/drawingml/2006/main">
            <a:off x="6096600" y="3564000"/>
            <a:ext cx="3831600" cy="3960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6B7B93"/>
            </a:solidFill>
            <a:headEnd type="none"/>
            <a:tailEnd type="triangle"/>
          </a:ln>
        </p:spPr>
      </p:cxnSp>
      <p:sp>
        <p:nvSpPr>
          <p:cNvPr id="100218" name="Caption"/>
          <p:cNvSpPr txBox="1"/>
          <p:nvPr/>
        </p:nvSpPr>
        <p:spPr>
          <a:xfrm xmlns:a="http://schemas.openxmlformats.org/drawingml/2006/main">
            <a:off x="457200" y="5400000"/>
            <a:ext cx="112788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0087AE"/>
                </a:solidFill>
                <a:latin typeface="Calibri"/>
                <a:ea typeface="Calibri"/>
              </a:rPr>
              <a:t>Only a cross-mode comparison is refused outright — everything else still shows a number, flagged approximate when a confound exists.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19" name="Kicker"/>
          <p:cNvSpPr txBox="1"/>
          <p:nvPr/>
        </p:nvSpPr>
        <p:spPr>
          <a:xfrm xmlns:a="http://schemas.openxmlformats.org/drawingml/2006/main">
            <a:off x="457200" y="198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6C0E"/>
                </a:solidFill>
                <a:latin typeface="Calibri"/>
                <a:ea typeface="Calibri"/>
              </a:rPr>
              <a:t>TRUST</a:t>
            </a:r>
          </a:p>
        </p:txBody>
      </p:sp>
      <p:sp>
        <p:nvSpPr>
          <p:cNvPr id="100220" name="Title"/>
          <p:cNvSpPr txBox="1"/>
          <p:nvPr/>
        </p:nvSpPr>
        <p:spPr>
          <a:xfrm xmlns:a="http://schemas.openxmlformats.org/drawingml/2006/main">
            <a:off x="457200" y="486000"/>
            <a:ext cx="11278800" cy="11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Why none of this can drift silently</a:t>
            </a:r>
          </a:p>
        </p:txBody>
      </p:sp>
      <p:sp>
        <p:nvSpPr>
          <p:cNvPr id="100221" name="P1"/>
          <p:cNvSpPr txBox="1"/>
          <p:nvPr/>
        </p:nvSpPr>
        <p:spPr>
          <a:xfrm xmlns:a="http://schemas.openxmlformats.org/drawingml/2006/main">
            <a:off x="457200" y="2124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C0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222" name="P1Head"/>
          <p:cNvSpPr txBox="1"/>
          <p:nvPr/>
        </p:nvSpPr>
        <p:spPr>
          <a:xfrm xmlns:a="http://schemas.openxmlformats.org/drawingml/2006/main">
            <a:off x="1249200" y="1908000"/>
            <a:ext cx="104868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B365D"/>
                </a:solidFill>
                <a:latin typeface="Trebuchet MS"/>
                <a:ea typeface="Trebuchet MS"/>
              </a:rPr>
              <a:t>Judge model id + metric/prompt version</a:t>
            </a:r>
          </a:p>
        </p:txBody>
      </p:sp>
      <p:sp>
        <p:nvSpPr>
          <p:cNvPr id="100223" name="P1Desc"/>
          <p:cNvSpPr txBox="1"/>
          <p:nvPr/>
        </p:nvSpPr>
        <p:spPr>
          <a:xfrm xmlns:a="http://schemas.openxmlformats.org/drawingml/2006/main">
            <a:off x="1249200" y="2268000"/>
            <a:ext cx="104868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An LLM-judge upgrade would otherwise silently move every future score without changing anything about the agent.</a:t>
            </a:r>
          </a:p>
        </p:txBody>
      </p:sp>
      <p:sp>
        <p:nvSpPr>
          <p:cNvPr id="100224" name="P2"/>
          <p:cNvSpPr txBox="1"/>
          <p:nvPr/>
        </p:nvSpPr>
        <p:spPr>
          <a:xfrm xmlns:a="http://schemas.openxmlformats.org/drawingml/2006/main">
            <a:off x="457200" y="309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225" name="P2Head"/>
          <p:cNvSpPr txBox="1"/>
          <p:nvPr/>
        </p:nvSpPr>
        <p:spPr>
          <a:xfrm xmlns:a="http://schemas.openxmlformats.org/drawingml/2006/main">
            <a:off x="1249200" y="2880000"/>
            <a:ext cx="104868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B365D"/>
                </a:solidFill>
                <a:latin typeface="Trebuchet MS"/>
                <a:ea typeface="Trebuchet MS"/>
              </a:rPr>
              <a:t>Profile version, dimension weights, verdict bands</a:t>
            </a:r>
          </a:p>
        </p:txBody>
      </p:sp>
      <p:sp>
        <p:nvSpPr>
          <p:cNvPr id="100226" name="P2Desc"/>
          <p:cNvSpPr txBox="1"/>
          <p:nvPr/>
        </p:nvSpPr>
        <p:spPr>
          <a:xfrm xmlns:a="http://schemas.openxmlformats.org/drawingml/2006/main">
            <a:off x="1249200" y="3240000"/>
            <a:ext cx="104868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Frozen at run time — a later catalog edit can't retroactively change a historical verdict.</a:t>
            </a:r>
          </a:p>
        </p:txBody>
      </p:sp>
      <p:sp>
        <p:nvSpPr>
          <p:cNvPr id="100227" name="P3"/>
          <p:cNvSpPr txBox="1"/>
          <p:nvPr/>
        </p:nvSpPr>
        <p:spPr>
          <a:xfrm xmlns:a="http://schemas.openxmlformats.org/drawingml/2006/main">
            <a:off x="457200" y="40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7A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228" name="P3Head"/>
          <p:cNvSpPr txBox="1"/>
          <p:nvPr/>
        </p:nvSpPr>
        <p:spPr>
          <a:xfrm xmlns:a="http://schemas.openxmlformats.org/drawingml/2006/main">
            <a:off x="1249200" y="3852000"/>
            <a:ext cx="104868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B365D"/>
                </a:solidFill>
                <a:latin typeface="Trebuchet MS"/>
                <a:ea typeface="Trebuchet MS"/>
              </a:rPr>
              <a:t>I/O-resolution ruleset version</a:t>
            </a:r>
          </a:p>
        </p:txBody>
      </p:sp>
      <p:sp>
        <p:nvSpPr>
          <p:cNvPr id="100229" name="P3Desc"/>
          <p:cNvSpPr txBox="1"/>
          <p:nvPr/>
        </p:nvSpPr>
        <p:spPr>
          <a:xfrm xmlns:a="http://schemas.openxmlformats.org/drawingml/2006/main">
            <a:off x="1249200" y="4212000"/>
            <a:ext cx="104868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A fixed extraction bug must show up as approximate, not as a silent quality jump.</a:t>
            </a:r>
          </a:p>
        </p:txBody>
      </p:sp>
      <p:sp>
        <p:nvSpPr>
          <p:cNvPr id="100230" name="ProvBanner"/>
          <p:cNvSpPr txBox="1"/>
          <p:nvPr/>
        </p:nvSpPr>
        <p:spPr>
          <a:xfrm xmlns:a="http://schemas.openxmlformats.org/drawingml/2006/main">
            <a:off x="457200" y="4968000"/>
            <a:ext cx="112788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>
            <a:solidFill>
              <a:srgbClr val="E8EE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A Ship / Block verdict must never be a confident-looking wrong answer.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54A7A"/>
            </a:gs>
            <a:gs pos="100000">
              <a:srgbClr val="12264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231" name="WordAgent16"/>
          <p:cNvSpPr txBox="1"/>
          <p:nvPr/>
        </p:nvSpPr>
        <p:spPr>
          <a:xfrm xmlns:a="http://schemas.openxmlformats.org/drawingml/2006/main">
            <a:off x="3398400" y="1080000"/>
            <a:ext cx="25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</a:p>
        </p:txBody>
      </p:sp>
      <p:sp>
        <p:nvSpPr>
          <p:cNvPr id="100232" name="WordScore16"/>
          <p:cNvSpPr txBox="1"/>
          <p:nvPr/>
        </p:nvSpPr>
        <p:spPr>
          <a:xfrm xmlns:a="http://schemas.openxmlformats.org/drawingml/2006/main">
            <a:off x="5918400" y="1080000"/>
            <a:ext cx="25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6C0E"/>
                </a:solidFill>
                <a:latin typeface="Trebuchet MS"/>
                <a:ea typeface="Trebuchet MS"/>
              </a:rPr>
              <a:t>Score</a:t>
            </a:r>
          </a:p>
        </p:txBody>
      </p:sp>
      <p:sp>
        <p:nvSpPr>
          <p:cNvPr id="100233" name="Statement16"/>
          <p:cNvSpPr txBox="1"/>
          <p:nvPr/>
        </p:nvSpPr>
        <p:spPr>
          <a:xfrm xmlns:a="http://schemas.openxmlformats.org/drawingml/2006/main">
            <a:off x="720000" y="2628000"/>
            <a:ext cx="107532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59C8E6"/>
                </a:solidFill>
                <a:latin typeface="Trebuchet MS"/>
                <a:ea typeface="Trebuchet MS"/>
              </a:rPr>
              <a:t>Read the traces. Never re-run the agent. Always show its work.</a:t>
            </a:r>
          </a:p>
        </p:txBody>
      </p:sp>
      <p:sp>
        <p:nvSpPr>
          <p:cNvPr id="100234" name="Ref16"/>
          <p:cNvSpPr txBox="1"/>
          <p:nvPr/>
        </p:nvSpPr>
        <p:spPr>
          <a:xfrm xmlns:a="http://schemas.openxmlformats.org/drawingml/2006/main">
            <a:off x="720000" y="3924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Full technical reference: docs/14-scoring-engine-reference.md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2026-08-04T17:40:45Z</dcterms:created>
  <cp:lastModifiedBy>OfficeCLI</cp:lastModifiedBy>
  <dcterms:modified xsi:type="dcterms:W3CDTF">2026-08-04T17:40:45Z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2026-08-04T17:41:08Z</vt:lpwstr>
  </op:property>
</op:Properties>
</file>