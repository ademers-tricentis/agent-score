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id="{2880a7a8-9b4c-a270-d775-7c86b6926d66}">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is: point AgentScore at a trace and get a defensible answer. Easy to start, with smart defaults that work for most teams.
The problem it answers: how do you know the agent is doing what it's supposed to? For most teams that is a gut check, not a number. Wrong behavior costs real money, waste never files an incident, and teams either wait weeks or build the eval stack themselves.
How it works, in four steps. Trace in, zero setup: any agent, any vendor, any framework, and AgentScore picks the right evals from 40+. Then a 0–100 score and a ship, warn, or block verdict that answers whether this can go to production. Root-cause attribution goes down to the span, with a suggested fix. The call is backed by tiered evidence: deterministic checks, a judge with confidence intervals, and golden-set back-testing. Audit-ready, not a black box.
What that changes: ship in days, not weeks. One verdict leadership can act on, on one yardstick across every team. A fix, not just a flag. No in-house eval team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ummary">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502920" y="237744"/>
            <a:ext cx="2926080" cy="237744"/>
          </a:xfrm>
          <a:prstGeom prst="rect">
            <a:avLst/>
          </a:prstGeom>
          <a:noFill/>
          <a:ln/>
        </p:spPr>
        <p:txBody>
          <a:bodyPr wrap="square" lIns="0" tIns="0" rIns="0" bIns="0" rtlCol="0" anchor="ctr"/>
          <a:lstStyle/>
          <a:p>
            <a:pPr indent="0" marL="0">
              <a:buNone/>
            </a:pPr>
            <a:r>
              <a:rPr lang="en-US" sz="1200" dirty="0">
                <a:solidFill>
                  <a:schemeClr val="accent4"/>
                </a:solidFill>
              </a:rPr>
              <a:t>Tricentis</a:t>
            </a:r>
            <a:endParaRPr lang="en-US" sz="1200" dirty="0"/>
          </a:p>
        </p:txBody>
      </p:sp>
      <p:sp>
        <p:nvSpPr>
          <p:cNvPr id="3" name="Text 1"/>
          <p:cNvSpPr txBox="1"/>
          <p:nvPr/>
        </p:nvSpPr>
        <p:spPr>
          <a:xfrm>
            <a:off x="4023360" y="237744"/>
            <a:ext cx="4114800" cy="237744"/>
          </a:xfrm>
          <a:prstGeom prst="rect">
            <a:avLst/>
          </a:prstGeom>
          <a:noFill/>
          <a:ln/>
        </p:spPr>
        <p:txBody>
          <a:bodyPr wrap="square" lIns="0" tIns="0" rIns="0" bIns="0" rtlCol="0" anchor="ctr"/>
          <a:lstStyle/>
          <a:p>
            <a:pPr algn="ctr" indent="0" marL="0">
              <a:buNone/>
            </a:pPr>
            <a:r>
              <a:rPr lang="en-US" sz="1200" dirty="0">
                <a:solidFill>
                  <a:schemeClr val="accent4"/>
                </a:solidFill>
              </a:rPr>
              <a:t>AgentScore Intro</a:t>
            </a:r>
            <a:endParaRPr lang="en-US" sz="1200" dirty="0"/>
          </a:p>
        </p:txBody>
      </p:sp>
      <p:sp>
        <p:nvSpPr>
          <p:cNvPr id="4" name="Text 2"/>
          <p:cNvSpPr txBox="1"/>
          <p:nvPr/>
        </p:nvSpPr>
        <p:spPr>
          <a:xfrm>
            <a:off x="8778240" y="237744"/>
            <a:ext cx="2907792" cy="237744"/>
          </a:xfrm>
          <a:prstGeom prst="rect">
            <a:avLst/>
          </a:prstGeom>
          <a:noFill/>
          <a:ln/>
        </p:spPr>
        <p:txBody>
          <a:bodyPr wrap="square" lIns="0" tIns="0" rIns="0" bIns="0" rtlCol="0" anchor="ctr"/>
          <a:lstStyle/>
          <a:p>
            <a:pPr algn="r" indent="0" marL="0">
              <a:buNone/>
            </a:pPr>
            <a:r>
              <a:rPr lang="en-US" sz="1200" dirty="0">
                <a:solidFill>
                  <a:schemeClr val="accent4"/>
                </a:solidFill>
              </a:rPr>
              <a:t>2026</a:t>
            </a:r>
            <a:endParaRPr lang="en-US" sz="1200" dirty="0"/>
          </a:p>
        </p:txBody>
      </p:sp>
      <p:sp>
        <p:nvSpPr>
          <p:cNvPr id="5" name="Text 3"/>
          <p:cNvSpPr/>
          <p:nvPr>
            <p:ph idx="103" type="title" hasCustomPrompt="1"/>
          </p:nvPr>
        </p:nvSpPr>
        <p:spPr>
          <a:xfrm>
            <a:off x="502920" y="822960"/>
            <a:ext cx="5120640" cy="987552"/>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02920" y="548640"/>
            <a:ext cx="5120640" cy="237744"/>
          </a:xfrm>
          <a:prstGeom prst="rect">
            <a:avLst/>
          </a:prstGeom>
          <a:noFill/>
          <a:ln/>
        </p:spPr>
        <p:txBody>
          <a:bodyPr wrap="square" lIns="0" tIns="0" rIns="0" bIns="0" rtlCol="0" anchor="ctr"/>
          <a:lstStyle/>
          <a:p>
            <a:pPr indent="0" marL="0">
              <a:buNone/>
            </a:pPr>
            <a:r>
              <a:rPr lang="en-US" sz="1200" b="1" spc="110" kern="0" dirty="0">
                <a:solidFill>
                  <a:schemeClr val="accent1"/>
                </a:solidFill>
              </a:rPr>
              <a:t>WHAT IT IS</a:t>
            </a:r>
            <a:endParaRPr lang="en-US" sz="1200" dirty="0"/>
          </a:p>
        </p:txBody>
      </p:sp>
      <p:sp>
        <p:nvSpPr>
          <p:cNvPr id="3" name="Text 3"/>
          <p:cNvSpPr/>
          <p:nvPr>
            <p:ph idx="103" type="title" hasCustomPrompt="1"/>
          </p:nvPr>
        </p:nvSpPr>
        <p:spPr>
          <a:xfrm>
            <a:off x="502920" y="822960"/>
            <a:ext cx="5120640" cy="987552"/>
          </a:xfrm>
          <a:prstGeom prst="rect">
            <a:avLst/>
          </a:prstGeom>
          <a:noFill/>
          <a:ln/>
        </p:spPr>
        <p:txBody>
          <a:bodyPr wrap="square" lIns="0" tIns="0" rIns="0" bIns="0" rtlCol="0" anchor="t"/>
          <a:lstStyle/>
          <a:p>
            <a:pPr algn="l" indent="0" marL="0">
              <a:buNone/>
            </a:pPr>
            <a:r>
              <a:rPr lang="en-US" sz="3000" b="1" dirty="0">
                <a:solidFill>
                  <a:schemeClr val="tx1"/>
                </a:solidFill>
              </a:rPr>
              <a:t>Point it at a trace.</a:t>
            </a:r>
            <a:endParaRPr lang="en-US" sz="3000" dirty="0"/>
          </a:p>
          <a:p>
            <a:pPr algn="l" indent="0" marL="0">
              <a:buNone/>
            </a:pPr>
            <a:r>
              <a:rPr lang="en-US" sz="3000" b="1" dirty="0">
                <a:solidFill>
                  <a:schemeClr val="tx1"/>
                </a:solidFill>
              </a:rPr>
              <a:t>Get a defensible answer.</a:t>
            </a:r>
            <a:endParaRPr lang="en-US" sz="3000" dirty="0"/>
          </a:p>
        </p:txBody>
      </p:sp>
      <p:sp>
        <p:nvSpPr>
          <p:cNvPr id="4" name="Text 2"/>
          <p:cNvSpPr txBox="1"/>
          <p:nvPr/>
        </p:nvSpPr>
        <p:spPr>
          <a:xfrm>
            <a:off x="502920" y="1901952"/>
            <a:ext cx="5120640" cy="310896"/>
          </a:xfrm>
          <a:prstGeom prst="rect">
            <a:avLst/>
          </a:prstGeom>
          <a:noFill/>
          <a:ln/>
        </p:spPr>
        <p:txBody>
          <a:bodyPr wrap="square" lIns="0" tIns="0" rIns="0" bIns="0" rtlCol="0" anchor="ctr"/>
          <a:lstStyle/>
          <a:p>
            <a:pPr indent="0" marL="0">
              <a:buNone/>
            </a:pPr>
            <a:r>
              <a:rPr lang="en-US" sz="1500" dirty="0">
                <a:solidFill>
                  <a:schemeClr val="tx2"/>
                </a:solidFill>
              </a:rPr>
              <a:t>Easy to start, with smart defaults that work for most teams.</a:t>
            </a:r>
            <a:endParaRPr lang="en-US" sz="1500" dirty="0"/>
          </a:p>
        </p:txBody>
      </p:sp>
      <p:sp>
        <p:nvSpPr>
          <p:cNvPr id="5" name="Text 3"/>
          <p:cNvSpPr txBox="1"/>
          <p:nvPr/>
        </p:nvSpPr>
        <p:spPr>
          <a:xfrm>
            <a:off x="502920" y="2395728"/>
            <a:ext cx="5120640" cy="237744"/>
          </a:xfrm>
          <a:prstGeom prst="rect">
            <a:avLst/>
          </a:prstGeom>
          <a:noFill/>
          <a:ln/>
        </p:spPr>
        <p:txBody>
          <a:bodyPr wrap="square" lIns="0" tIns="0" rIns="0" bIns="0" rtlCol="0" anchor="ctr"/>
          <a:lstStyle/>
          <a:p>
            <a:pPr indent="0" marL="0">
              <a:buNone/>
            </a:pPr>
            <a:r>
              <a:rPr lang="en-US" sz="1200" b="1" spc="110" kern="0" dirty="0">
                <a:solidFill>
                  <a:schemeClr val="accent2"/>
                </a:solidFill>
              </a:rPr>
              <a:t>THE PROBLEM</a:t>
            </a:r>
            <a:endParaRPr lang="en-US" sz="1200" dirty="0"/>
          </a:p>
        </p:txBody>
      </p:sp>
      <p:sp>
        <p:nvSpPr>
          <p:cNvPr id="6" name="Text 4"/>
          <p:cNvSpPr txBox="1"/>
          <p:nvPr/>
        </p:nvSpPr>
        <p:spPr>
          <a:xfrm>
            <a:off x="502920" y="2688336"/>
            <a:ext cx="5120640" cy="960120"/>
          </a:xfrm>
          <a:prstGeom prst="rect">
            <a:avLst/>
          </a:prstGeom>
          <a:noFill/>
          <a:ln/>
        </p:spPr>
        <p:txBody>
          <a:bodyPr wrap="square" lIns="0" tIns="0" rIns="0" bIns="0" rtlCol="0" anchor="ctr"/>
          <a:lstStyle/>
          <a:p>
            <a:pPr indent="0" marL="0">
              <a:buNone/>
            </a:pPr>
            <a:r>
              <a:rPr lang="en-US" sz="1500" dirty="0">
                <a:solidFill>
                  <a:schemeClr val="tx2"/>
                </a:solidFill>
              </a:rPr>
              <a:t>How do you know your agent is doing what it's supposed to? For most teams, a gut check, not a number. Wrong behavior costs real money, and you still can't tell when you're ready.</a:t>
            </a:r>
            <a:endParaRPr lang="en-US" sz="1500" dirty="0"/>
          </a:p>
        </p:txBody>
      </p:sp>
      <p:sp>
        <p:nvSpPr>
          <p:cNvPr id="7" name="Text 5"/>
          <p:cNvSpPr txBox="1"/>
          <p:nvPr/>
        </p:nvSpPr>
        <p:spPr>
          <a:xfrm>
            <a:off x="502920" y="3803904"/>
            <a:ext cx="5120640" cy="237744"/>
          </a:xfrm>
          <a:prstGeom prst="rect">
            <a:avLst/>
          </a:prstGeom>
          <a:noFill/>
          <a:ln/>
        </p:spPr>
        <p:txBody>
          <a:bodyPr wrap="square" lIns="0" tIns="0" rIns="0" bIns="0" rtlCol="0" anchor="ctr"/>
          <a:lstStyle/>
          <a:p>
            <a:pPr indent="0" marL="0">
              <a:buNone/>
            </a:pPr>
            <a:r>
              <a:rPr lang="en-US" sz="1200" b="1" spc="110" kern="0" dirty="0">
                <a:solidFill>
                  <a:schemeClr val="accent1"/>
                </a:solidFill>
              </a:rPr>
              <a:t>WHAT IT SOLVES</a:t>
            </a:r>
            <a:endParaRPr lang="en-US" sz="1200" dirty="0"/>
          </a:p>
        </p:txBody>
      </p:sp>
      <p:pic>
        <p:nvPicPr>
          <p:cNvPr id="8" name="Ship in days, not weeks" descr="preencoded.png">    </p:cNvPr>
          <p:cNvPicPr>
            <a:picLocks noChangeAspect="1"/>
          </p:cNvPicPr>
          <p:nvPr/>
        </p:nvPicPr>
        <p:blipFill>
          <a:blip r:embed="rId1"/>
          <a:stretch>
            <a:fillRect/>
          </a:stretch>
        </p:blipFill>
        <p:spPr>
          <a:xfrm>
            <a:off x="502920" y="4133088"/>
            <a:ext cx="256032" cy="256032"/>
          </a:xfrm>
          <a:prstGeom prst="rect">
            <a:avLst/>
          </a:prstGeom>
        </p:spPr>
      </p:pic>
      <p:sp>
        <p:nvSpPr>
          <p:cNvPr id="9" name="Text 6"/>
          <p:cNvSpPr txBox="1"/>
          <p:nvPr/>
        </p:nvSpPr>
        <p:spPr>
          <a:xfrm>
            <a:off x="896112" y="4114800"/>
            <a:ext cx="4709160" cy="256032"/>
          </a:xfrm>
          <a:prstGeom prst="rect">
            <a:avLst/>
          </a:prstGeom>
          <a:noFill/>
          <a:ln/>
        </p:spPr>
        <p:txBody>
          <a:bodyPr wrap="square" lIns="0" tIns="0" rIns="0" bIns="0" rtlCol="0" anchor="ctr"/>
          <a:lstStyle/>
          <a:p>
            <a:pPr indent="0" marL="0">
              <a:buNone/>
            </a:pPr>
            <a:r>
              <a:rPr lang="en-US" sz="1500" b="1" dirty="0">
                <a:solidFill>
                  <a:schemeClr val="tx1"/>
                </a:solidFill>
              </a:rPr>
              <a:t>Ship in days, not weeks</a:t>
            </a:r>
            <a:endParaRPr lang="en-US" sz="1500" dirty="0"/>
          </a:p>
        </p:txBody>
      </p:sp>
      <p:sp>
        <p:nvSpPr>
          <p:cNvPr id="10" name="Text 7"/>
          <p:cNvSpPr txBox="1"/>
          <p:nvPr/>
        </p:nvSpPr>
        <p:spPr>
          <a:xfrm>
            <a:off x="896112" y="4352544"/>
            <a:ext cx="4709160" cy="237744"/>
          </a:xfrm>
          <a:prstGeom prst="rect">
            <a:avLst/>
          </a:prstGeom>
          <a:noFill/>
          <a:ln/>
        </p:spPr>
        <p:txBody>
          <a:bodyPr wrap="square" lIns="0" tIns="0" rIns="0" bIns="0" rtlCol="0" anchor="ctr"/>
          <a:lstStyle/>
          <a:p>
            <a:pPr indent="0" marL="0">
              <a:buNone/>
            </a:pPr>
            <a:r>
              <a:rPr lang="en-US" sz="1400" dirty="0">
                <a:solidFill>
                  <a:schemeClr val="tx2"/>
                </a:solidFill>
              </a:rPr>
              <a:t>Know when you're ready, instead of running on vibes.</a:t>
            </a:r>
            <a:endParaRPr lang="en-US" sz="1400" dirty="0"/>
          </a:p>
        </p:txBody>
      </p:sp>
      <p:pic>
        <p:nvPicPr>
          <p:cNvPr id="11" name="A defensible verdict" descr="preencoded.png">    </p:cNvPr>
          <p:cNvPicPr>
            <a:picLocks noChangeAspect="1"/>
          </p:cNvPicPr>
          <p:nvPr/>
        </p:nvPicPr>
        <p:blipFill>
          <a:blip r:embed="rId2"/>
          <a:stretch>
            <a:fillRect/>
          </a:stretch>
        </p:blipFill>
        <p:spPr>
          <a:xfrm>
            <a:off x="502920" y="4681728"/>
            <a:ext cx="256032" cy="256032"/>
          </a:xfrm>
          <a:prstGeom prst="rect">
            <a:avLst/>
          </a:prstGeom>
        </p:spPr>
      </p:pic>
      <p:sp>
        <p:nvSpPr>
          <p:cNvPr id="12" name="Text 8"/>
          <p:cNvSpPr txBox="1"/>
          <p:nvPr/>
        </p:nvSpPr>
        <p:spPr>
          <a:xfrm>
            <a:off x="896112" y="4663440"/>
            <a:ext cx="4709160" cy="256032"/>
          </a:xfrm>
          <a:prstGeom prst="rect">
            <a:avLst/>
          </a:prstGeom>
          <a:noFill/>
          <a:ln/>
        </p:spPr>
        <p:txBody>
          <a:bodyPr wrap="square" lIns="0" tIns="0" rIns="0" bIns="0" rtlCol="0" anchor="ctr"/>
          <a:lstStyle/>
          <a:p>
            <a:pPr indent="0" marL="0">
              <a:buNone/>
            </a:pPr>
            <a:r>
              <a:rPr lang="en-US" sz="1500" b="1" dirty="0">
                <a:solidFill>
                  <a:schemeClr val="tx1"/>
                </a:solidFill>
              </a:rPr>
              <a:t>A defensible verdict</a:t>
            </a:r>
            <a:endParaRPr lang="en-US" sz="1500" dirty="0"/>
          </a:p>
        </p:txBody>
      </p:sp>
      <p:sp>
        <p:nvSpPr>
          <p:cNvPr id="13" name="Text 9"/>
          <p:cNvSpPr txBox="1"/>
          <p:nvPr/>
        </p:nvSpPr>
        <p:spPr>
          <a:xfrm>
            <a:off x="896112" y="4901184"/>
            <a:ext cx="4709160" cy="237744"/>
          </a:xfrm>
          <a:prstGeom prst="rect">
            <a:avLst/>
          </a:prstGeom>
          <a:noFill/>
          <a:ln/>
        </p:spPr>
        <p:txBody>
          <a:bodyPr wrap="square" lIns="0" tIns="0" rIns="0" bIns="0" rtlCol="0" anchor="ctr"/>
          <a:lstStyle/>
          <a:p>
            <a:pPr indent="0" marL="0">
              <a:buNone/>
            </a:pPr>
            <a:r>
              <a:rPr lang="en-US" sz="1400" dirty="0">
                <a:solidFill>
                  <a:schemeClr val="tx2"/>
                </a:solidFill>
              </a:rPr>
              <a:t>Replaces “seems fine to me” with a call leadership can act on.</a:t>
            </a:r>
            <a:endParaRPr lang="en-US" sz="1400" dirty="0"/>
          </a:p>
        </p:txBody>
      </p:sp>
      <p:pic>
        <p:nvPicPr>
          <p:cNvPr id="14" name="A fix, not just a flag" descr="preencoded.png">    </p:cNvPr>
          <p:cNvPicPr>
            <a:picLocks noChangeAspect="1"/>
          </p:cNvPicPr>
          <p:nvPr/>
        </p:nvPicPr>
        <p:blipFill>
          <a:blip r:embed="rId3"/>
          <a:stretch>
            <a:fillRect/>
          </a:stretch>
        </p:blipFill>
        <p:spPr>
          <a:xfrm>
            <a:off x="502920" y="5230368"/>
            <a:ext cx="256032" cy="256032"/>
          </a:xfrm>
          <a:prstGeom prst="rect">
            <a:avLst/>
          </a:prstGeom>
        </p:spPr>
      </p:pic>
      <p:sp>
        <p:nvSpPr>
          <p:cNvPr id="15" name="Text 10"/>
          <p:cNvSpPr txBox="1"/>
          <p:nvPr/>
        </p:nvSpPr>
        <p:spPr>
          <a:xfrm>
            <a:off x="896112" y="5212080"/>
            <a:ext cx="4709160" cy="256032"/>
          </a:xfrm>
          <a:prstGeom prst="rect">
            <a:avLst/>
          </a:prstGeom>
          <a:noFill/>
          <a:ln/>
        </p:spPr>
        <p:txBody>
          <a:bodyPr wrap="square" lIns="0" tIns="0" rIns="0" bIns="0" rtlCol="0" anchor="ctr"/>
          <a:lstStyle/>
          <a:p>
            <a:pPr indent="0" marL="0">
              <a:buNone/>
            </a:pPr>
            <a:r>
              <a:rPr lang="en-US" sz="1500" b="1" dirty="0">
                <a:solidFill>
                  <a:schemeClr val="tx1"/>
                </a:solidFill>
              </a:rPr>
              <a:t>A fix, not just a flag</a:t>
            </a:r>
            <a:endParaRPr lang="en-US" sz="1500" dirty="0"/>
          </a:p>
        </p:txBody>
      </p:sp>
      <p:sp>
        <p:nvSpPr>
          <p:cNvPr id="16" name="Text 11"/>
          <p:cNvSpPr txBox="1"/>
          <p:nvPr/>
        </p:nvSpPr>
        <p:spPr>
          <a:xfrm>
            <a:off x="896112" y="5449824"/>
            <a:ext cx="4709160" cy="237744"/>
          </a:xfrm>
          <a:prstGeom prst="rect">
            <a:avLst/>
          </a:prstGeom>
          <a:noFill/>
          <a:ln/>
        </p:spPr>
        <p:txBody>
          <a:bodyPr wrap="square" lIns="0" tIns="0" rIns="0" bIns="0" rtlCol="0" anchor="ctr"/>
          <a:lstStyle/>
          <a:p>
            <a:pPr indent="0" marL="0">
              <a:buNone/>
            </a:pPr>
            <a:r>
              <a:rPr lang="en-US" sz="1400" dirty="0">
                <a:solidFill>
                  <a:schemeClr val="tx2"/>
                </a:solidFill>
              </a:rPr>
              <a:t>Turns debugging into a fix, not a re-run.</a:t>
            </a:r>
            <a:endParaRPr lang="en-US" sz="1400" dirty="0"/>
          </a:p>
        </p:txBody>
      </p:sp>
      <p:pic>
        <p:nvPicPr>
          <p:cNvPr id="17" name="No AI team required" descr="preencoded.png">    </p:cNvPr>
          <p:cNvPicPr>
            <a:picLocks noChangeAspect="1"/>
          </p:cNvPicPr>
          <p:nvPr/>
        </p:nvPicPr>
        <p:blipFill>
          <a:blip r:embed="rId4"/>
          <a:stretch>
            <a:fillRect/>
          </a:stretch>
        </p:blipFill>
        <p:spPr>
          <a:xfrm>
            <a:off x="502920" y="5779008"/>
            <a:ext cx="256032" cy="256032"/>
          </a:xfrm>
          <a:prstGeom prst="rect">
            <a:avLst/>
          </a:prstGeom>
        </p:spPr>
      </p:pic>
      <p:sp>
        <p:nvSpPr>
          <p:cNvPr id="18" name="Text 12"/>
          <p:cNvSpPr txBox="1"/>
          <p:nvPr/>
        </p:nvSpPr>
        <p:spPr>
          <a:xfrm>
            <a:off x="896112" y="5760720"/>
            <a:ext cx="4709160" cy="256032"/>
          </a:xfrm>
          <a:prstGeom prst="rect">
            <a:avLst/>
          </a:prstGeom>
          <a:noFill/>
          <a:ln/>
        </p:spPr>
        <p:txBody>
          <a:bodyPr wrap="square" lIns="0" tIns="0" rIns="0" bIns="0" rtlCol="0" anchor="ctr"/>
          <a:lstStyle/>
          <a:p>
            <a:pPr indent="0" marL="0">
              <a:buNone/>
            </a:pPr>
            <a:r>
              <a:rPr lang="en-US" sz="1500" b="1" dirty="0">
                <a:solidFill>
                  <a:schemeClr val="tx1"/>
                </a:solidFill>
              </a:rPr>
              <a:t>No AI team required</a:t>
            </a:r>
            <a:endParaRPr lang="en-US" sz="1500" dirty="0"/>
          </a:p>
        </p:txBody>
      </p:sp>
      <p:sp>
        <p:nvSpPr>
          <p:cNvPr id="19" name="Text 13"/>
          <p:cNvSpPr txBox="1"/>
          <p:nvPr/>
        </p:nvSpPr>
        <p:spPr>
          <a:xfrm>
            <a:off x="896112" y="5998464"/>
            <a:ext cx="4709160" cy="237744"/>
          </a:xfrm>
          <a:prstGeom prst="rect">
            <a:avLst/>
          </a:prstGeom>
          <a:noFill/>
          <a:ln/>
        </p:spPr>
        <p:txBody>
          <a:bodyPr wrap="square" lIns="0" tIns="0" rIns="0" bIns="0" rtlCol="0" anchor="ctr"/>
          <a:lstStyle/>
          <a:p>
            <a:pPr indent="0" marL="0">
              <a:buNone/>
            </a:pPr>
            <a:r>
              <a:rPr lang="en-US" sz="1400" dirty="0">
                <a:solidFill>
                  <a:schemeClr val="tx2"/>
                </a:solidFill>
              </a:rPr>
              <a:t>Rigorous coverage without in-house eval expertise.</a:t>
            </a:r>
            <a:endParaRPr lang="en-US" sz="1400" dirty="0"/>
          </a:p>
        </p:txBody>
      </p:sp>
      <p:sp>
        <p:nvSpPr>
          <p:cNvPr id="20" name="Text 14"/>
          <p:cNvSpPr txBox="1"/>
          <p:nvPr/>
        </p:nvSpPr>
        <p:spPr>
          <a:xfrm>
            <a:off x="6263640" y="548640"/>
            <a:ext cx="5394960" cy="237744"/>
          </a:xfrm>
          <a:prstGeom prst="rect">
            <a:avLst/>
          </a:prstGeom>
          <a:noFill/>
          <a:ln/>
        </p:spPr>
        <p:txBody>
          <a:bodyPr wrap="square" lIns="0" tIns="0" rIns="0" bIns="0" rtlCol="0" anchor="ctr"/>
          <a:lstStyle/>
          <a:p>
            <a:pPr indent="0" marL="0">
              <a:buNone/>
            </a:pPr>
            <a:r>
              <a:rPr lang="en-US" sz="1200" b="1" spc="110" kern="0" dirty="0">
                <a:solidFill>
                  <a:schemeClr val="accent1"/>
                </a:solidFill>
              </a:rPr>
              <a:t>HOW IT WORKS</a:t>
            </a:r>
            <a:endParaRPr lang="en-US" sz="1200" dirty="0"/>
          </a:p>
        </p:txBody>
      </p:sp>
      <p:sp>
        <p:nvSpPr>
          <p:cNvPr id="21" name="How it works"/>
          <p:cNvSpPr/>
          <p:nvPr/>
        </p:nvSpPr>
        <p:spPr>
          <a:xfrm>
            <a:off x="6419088" y="1179576"/>
            <a:ext cx="0" cy="4005072"/>
          </a:xfrm>
          <a:prstGeom prst="line">
            <a:avLst/>
          </a:prstGeom>
          <a:noFill/>
          <a:ln w="15875">
            <a:solidFill>
              <a:schemeClr val="accent4"/>
            </a:solidFill>
            <a:prstDash val="solid"/>
          </a:ln>
        </p:spPr>
      </p:sp>
      <p:sp>
        <p:nvSpPr>
          <p:cNvPr id="22" name="Step 1"/>
          <p:cNvSpPr/>
          <p:nvPr/>
        </p:nvSpPr>
        <p:spPr>
          <a:xfrm>
            <a:off x="6263640" y="1024128"/>
            <a:ext cx="310896" cy="310896"/>
          </a:xfrm>
          <a:prstGeom prst="ellipse">
            <a:avLst/>
          </a:prstGeom>
          <a:solidFill>
            <a:schemeClr val="accent1"/>
          </a:solidFill>
          <a:ln/>
        </p:spPr>
      </p:sp>
      <p:sp>
        <p:nvSpPr>
          <p:cNvPr id="23" name="Text 17"/>
          <p:cNvSpPr txBox="1"/>
          <p:nvPr/>
        </p:nvSpPr>
        <p:spPr>
          <a:xfrm>
            <a:off x="6263640" y="1024128"/>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4" name="Text 18"/>
          <p:cNvSpPr txBox="1"/>
          <p:nvPr/>
        </p:nvSpPr>
        <p:spPr>
          <a:xfrm>
            <a:off x="6748272" y="1005840"/>
            <a:ext cx="4937760" cy="310896"/>
          </a:xfrm>
          <a:prstGeom prst="rect">
            <a:avLst/>
          </a:prstGeom>
          <a:noFill/>
          <a:ln/>
        </p:spPr>
        <p:txBody>
          <a:bodyPr wrap="square" lIns="0" tIns="0" rIns="0" bIns="0" rtlCol="0" anchor="ctr"/>
          <a:lstStyle/>
          <a:p>
            <a:pPr indent="0" marL="0">
              <a:buNone/>
            </a:pPr>
            <a:r>
              <a:rPr lang="en-US" sz="1600" b="1" dirty="0">
                <a:solidFill>
                  <a:schemeClr val="tx1"/>
                </a:solidFill>
              </a:rPr>
              <a:t>Trace in, zero setup</a:t>
            </a:r>
            <a:endParaRPr lang="en-US" sz="1600" dirty="0"/>
          </a:p>
        </p:txBody>
      </p:sp>
      <p:sp>
        <p:nvSpPr>
          <p:cNvPr id="25" name="Text 19"/>
          <p:cNvSpPr txBox="1"/>
          <p:nvPr/>
        </p:nvSpPr>
        <p:spPr>
          <a:xfrm>
            <a:off x="6748272" y="1353312"/>
            <a:ext cx="4937760" cy="868680"/>
          </a:xfrm>
          <a:prstGeom prst="rect">
            <a:avLst/>
          </a:prstGeom>
          <a:noFill/>
          <a:ln/>
        </p:spPr>
        <p:txBody>
          <a:bodyPr wrap="square" lIns="0" tIns="0" rIns="0" bIns="0" rtlCol="0" anchor="ctr"/>
          <a:lstStyle/>
          <a:p>
            <a:pPr indent="0" marL="0">
              <a:buNone/>
            </a:pPr>
            <a:r>
              <a:rPr lang="en-US" sz="1400" dirty="0">
                <a:solidFill>
                  <a:schemeClr val="tx2"/>
                </a:solidFill>
              </a:rPr>
              <a:t>Any agent, any vendor, any framework. AgentScore picks the right evals from 40+.</a:t>
            </a:r>
            <a:endParaRPr lang="en-US" sz="1400" dirty="0"/>
          </a:p>
        </p:txBody>
      </p:sp>
      <p:sp>
        <p:nvSpPr>
          <p:cNvPr id="26" name="Step 2"/>
          <p:cNvSpPr/>
          <p:nvPr/>
        </p:nvSpPr>
        <p:spPr>
          <a:xfrm>
            <a:off x="6263640" y="2359152"/>
            <a:ext cx="310896" cy="310896"/>
          </a:xfrm>
          <a:prstGeom prst="ellipse">
            <a:avLst/>
          </a:prstGeom>
          <a:solidFill>
            <a:schemeClr val="accent1"/>
          </a:solidFill>
          <a:ln/>
        </p:spPr>
      </p:sp>
      <p:sp>
        <p:nvSpPr>
          <p:cNvPr id="27" name="Text 21"/>
          <p:cNvSpPr txBox="1"/>
          <p:nvPr/>
        </p:nvSpPr>
        <p:spPr>
          <a:xfrm>
            <a:off x="6263640" y="2359152"/>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8" name="Text 22"/>
          <p:cNvSpPr txBox="1"/>
          <p:nvPr/>
        </p:nvSpPr>
        <p:spPr>
          <a:xfrm>
            <a:off x="6748272" y="2340864"/>
            <a:ext cx="4937760" cy="310896"/>
          </a:xfrm>
          <a:prstGeom prst="rect">
            <a:avLst/>
          </a:prstGeom>
          <a:noFill/>
          <a:ln/>
        </p:spPr>
        <p:txBody>
          <a:bodyPr wrap="square" lIns="0" tIns="0" rIns="0" bIns="0" rtlCol="0" anchor="ctr"/>
          <a:lstStyle/>
          <a:p>
            <a:pPr indent="0" marL="0">
              <a:buNone/>
            </a:pPr>
            <a:r>
              <a:rPr lang="en-US" sz="1600" b="1" dirty="0">
                <a:solidFill>
                  <a:schemeClr val="tx1"/>
                </a:solidFill>
              </a:rPr>
              <a:t>0–100 score + verdict</a:t>
            </a:r>
            <a:endParaRPr lang="en-US" sz="1600" dirty="0"/>
          </a:p>
        </p:txBody>
      </p:sp>
      <p:sp>
        <p:nvSpPr>
          <p:cNvPr id="29" name="Text 23"/>
          <p:cNvSpPr txBox="1"/>
          <p:nvPr/>
        </p:nvSpPr>
        <p:spPr>
          <a:xfrm>
            <a:off x="6748272" y="2688336"/>
            <a:ext cx="4937760" cy="868680"/>
          </a:xfrm>
          <a:prstGeom prst="rect">
            <a:avLst/>
          </a:prstGeom>
          <a:noFill/>
          <a:ln/>
        </p:spPr>
        <p:txBody>
          <a:bodyPr wrap="square" lIns="0" tIns="0" rIns="0" bIns="0" rtlCol="0" anchor="ctr"/>
          <a:lstStyle/>
          <a:p>
            <a:pPr indent="0" marL="0">
              <a:buNone/>
            </a:pPr>
            <a:r>
              <a:rPr lang="en-US" sz="1400" dirty="0">
                <a:solidFill>
                  <a:schemeClr val="tx2"/>
                </a:solidFill>
              </a:rPr>
              <a:t>A ship, warn, or block call that answers: can this go to production?</a:t>
            </a:r>
            <a:endParaRPr lang="en-US" sz="1400" dirty="0"/>
          </a:p>
        </p:txBody>
      </p:sp>
      <p:sp>
        <p:nvSpPr>
          <p:cNvPr id="30" name="Step 3"/>
          <p:cNvSpPr/>
          <p:nvPr/>
        </p:nvSpPr>
        <p:spPr>
          <a:xfrm>
            <a:off x="6263640" y="3694176"/>
            <a:ext cx="310896" cy="310896"/>
          </a:xfrm>
          <a:prstGeom prst="ellipse">
            <a:avLst/>
          </a:prstGeom>
          <a:solidFill>
            <a:schemeClr val="accent1"/>
          </a:solidFill>
          <a:ln/>
        </p:spPr>
      </p:sp>
      <p:sp>
        <p:nvSpPr>
          <p:cNvPr id="31" name="Text 25"/>
          <p:cNvSpPr txBox="1"/>
          <p:nvPr/>
        </p:nvSpPr>
        <p:spPr>
          <a:xfrm>
            <a:off x="6263640" y="3694176"/>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2" name="Text 26"/>
          <p:cNvSpPr txBox="1"/>
          <p:nvPr/>
        </p:nvSpPr>
        <p:spPr>
          <a:xfrm>
            <a:off x="6748272" y="3675888"/>
            <a:ext cx="4937760" cy="310896"/>
          </a:xfrm>
          <a:prstGeom prst="rect">
            <a:avLst/>
          </a:prstGeom>
          <a:noFill/>
          <a:ln/>
        </p:spPr>
        <p:txBody>
          <a:bodyPr wrap="square" lIns="0" tIns="0" rIns="0" bIns="0" rtlCol="0" anchor="ctr"/>
          <a:lstStyle/>
          <a:p>
            <a:pPr indent="0" marL="0">
              <a:buNone/>
            </a:pPr>
            <a:r>
              <a:rPr lang="en-US" sz="1600" b="1" dirty="0">
                <a:solidFill>
                  <a:schemeClr val="tx1"/>
                </a:solidFill>
              </a:rPr>
              <a:t>Root-cause attribution</a:t>
            </a:r>
            <a:endParaRPr lang="en-US" sz="1600" dirty="0"/>
          </a:p>
        </p:txBody>
      </p:sp>
      <p:sp>
        <p:nvSpPr>
          <p:cNvPr id="33" name="Text 27"/>
          <p:cNvSpPr txBox="1"/>
          <p:nvPr/>
        </p:nvSpPr>
        <p:spPr>
          <a:xfrm>
            <a:off x="6748272" y="4023360"/>
            <a:ext cx="4937760" cy="868680"/>
          </a:xfrm>
          <a:prstGeom prst="rect">
            <a:avLst/>
          </a:prstGeom>
          <a:noFill/>
          <a:ln/>
        </p:spPr>
        <p:txBody>
          <a:bodyPr wrap="square" lIns="0" tIns="0" rIns="0" bIns="0" rtlCol="0" anchor="ctr"/>
          <a:lstStyle/>
          <a:p>
            <a:pPr indent="0" marL="0">
              <a:buNone/>
            </a:pPr>
            <a:r>
              <a:rPr lang="en-US" sz="1400" dirty="0">
                <a:solidFill>
                  <a:schemeClr val="tx2"/>
                </a:solidFill>
              </a:rPr>
              <a:t>Down to the span, with a suggested fix.</a:t>
            </a:r>
            <a:endParaRPr lang="en-US" sz="1400" dirty="0"/>
          </a:p>
        </p:txBody>
      </p:sp>
      <p:sp>
        <p:nvSpPr>
          <p:cNvPr id="34" name="Step 4"/>
          <p:cNvSpPr/>
          <p:nvPr/>
        </p:nvSpPr>
        <p:spPr>
          <a:xfrm>
            <a:off x="6263640" y="5029200"/>
            <a:ext cx="310896" cy="310896"/>
          </a:xfrm>
          <a:prstGeom prst="ellipse">
            <a:avLst/>
          </a:prstGeom>
          <a:solidFill>
            <a:schemeClr val="accent1"/>
          </a:solidFill>
          <a:ln/>
        </p:spPr>
      </p:sp>
      <p:sp>
        <p:nvSpPr>
          <p:cNvPr id="35" name="Text 29"/>
          <p:cNvSpPr txBox="1"/>
          <p:nvPr/>
        </p:nvSpPr>
        <p:spPr>
          <a:xfrm>
            <a:off x="6263640" y="5029200"/>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6" name="Text 30"/>
          <p:cNvSpPr txBox="1"/>
          <p:nvPr/>
        </p:nvSpPr>
        <p:spPr>
          <a:xfrm>
            <a:off x="6748272" y="5010912"/>
            <a:ext cx="4937760" cy="310896"/>
          </a:xfrm>
          <a:prstGeom prst="rect">
            <a:avLst/>
          </a:prstGeom>
          <a:noFill/>
          <a:ln/>
        </p:spPr>
        <p:txBody>
          <a:bodyPr wrap="square" lIns="0" tIns="0" rIns="0" bIns="0" rtlCol="0" anchor="ctr"/>
          <a:lstStyle/>
          <a:p>
            <a:pPr indent="0" marL="0">
              <a:buNone/>
            </a:pPr>
            <a:r>
              <a:rPr lang="en-US" sz="1600" b="1" dirty="0">
                <a:solidFill>
                  <a:schemeClr val="tx1"/>
                </a:solidFill>
              </a:rPr>
              <a:t>Tiered evidence</a:t>
            </a:r>
            <a:endParaRPr lang="en-US" sz="1600" dirty="0"/>
          </a:p>
        </p:txBody>
      </p:sp>
      <p:sp>
        <p:nvSpPr>
          <p:cNvPr id="37" name="Text 31"/>
          <p:cNvSpPr txBox="1"/>
          <p:nvPr/>
        </p:nvSpPr>
        <p:spPr>
          <a:xfrm>
            <a:off x="6748272" y="5358384"/>
            <a:ext cx="4937760" cy="868680"/>
          </a:xfrm>
          <a:prstGeom prst="rect">
            <a:avLst/>
          </a:prstGeom>
          <a:noFill/>
          <a:ln/>
        </p:spPr>
        <p:txBody>
          <a:bodyPr wrap="square" lIns="0" tIns="0" rIns="0" bIns="0" rtlCol="0" anchor="ctr"/>
          <a:lstStyle/>
          <a:p>
            <a:pPr indent="0" marL="0">
              <a:buNone/>
            </a:pPr>
            <a:r>
              <a:rPr lang="en-US" sz="1400" dirty="0">
                <a:solidFill>
                  <a:schemeClr val="tx2"/>
                </a:solidFill>
              </a:rPr>
              <a:t>Deterministic checks and a judge with confidence intervals.</a:t>
            </a:r>
            <a:endParaRPr lang="en-US" sz="1400" dirty="0"/>
          </a:p>
          <a:p>
            <a:pPr indent="0" marL="0">
              <a:buNone/>
            </a:pPr>
            <a:r>
              <a:rPr lang="en-US" sz="1400" dirty="0">
                <a:solidFill>
                  <a:schemeClr val="tx2"/>
                </a:solidFill>
              </a:rPr>
              <a:t>Golden-set back-testing. Audit-ready, not a black box.</a:t>
            </a:r>
            <a:endParaRPr lang="en-US" sz="1400" dirty="0"/>
          </a:p>
        </p:txBody>
      </p:sp>
    </p:spTree>
  </p:cSld>
  <p:clrMapOvr>
    <a:masterClrMapping/>
  </p:clrMapOvr>
</p:sld>
</file>

<file path=ppt/theme/theme1.xml><?xml version="1.0" encoding="utf-8"?>
<a:theme xmlns:a="http://schemas.openxmlformats.org/drawingml/2006/main" name="AgentScore">
  <a:themeElements>
    <a:clrScheme name="AgentScore">
      <a:dk1>
        <a:srgbClr val="F4F7FB"/>
      </a:dk1>
      <a:lt1>
        <a:srgbClr val="070D18"/>
      </a:lt1>
      <a:dk2>
        <a:srgbClr val="C5D0DE"/>
      </a:dk2>
      <a:lt2>
        <a:srgbClr val="141C2E"/>
      </a:lt2>
      <a:accent1>
        <a:srgbClr val="3DCAE8"/>
      </a:accent1>
      <a:accent2>
        <a:srgbClr val="E8A04A"/>
      </a:accent2>
      <a:accent3>
        <a:srgbClr val="7EE0C3"/>
      </a:accent3>
      <a:accent4>
        <a:srgbClr val="8B9BB3"/>
      </a:accent4>
      <a:accent5>
        <a:srgbClr val="243044"/>
      </a:accent5>
      <a:accent6>
        <a:srgbClr val="0E2A3A"/>
      </a:accent6>
      <a:hlink>
        <a:srgbClr val="3DCAE8"/>
      </a:hlink>
      <a:folHlink>
        <a:srgbClr val="7EE0C3"/>
      </a:folHlink>
    </a:clrScheme>
    <a:fontScheme name="AgentScor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AgentScore — What it is</dc:title>
  <dc:subject>What AgentScore is, how it works, and the problem it solves</dc:subject>
  <dc:creator>Tricentis</dc:creator>
  <cp:lastModifiedBy>Tricentis</cp:lastModifiedBy>
  <cp:revision>1</cp:revision>
  <dcterms:created xsi:type="dcterms:W3CDTF">2026-10-21T13:13:43Z</dcterms:created>
  <dcterms:modified xsi:type="dcterms:W3CDTF">2026-10-21T13:13:43Z</dcterms:modified>
</cp:coreProperties>
</file>