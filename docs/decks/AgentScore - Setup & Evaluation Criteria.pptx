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256" r:id="rId3"/>
    <p:sldId id="257" r:id="rId4"/>
    <p:sldId id="258" r:id="rId5"/>
    <p:sldId id="264" r:id="rId6"/>
    <p:sldId id="265" r:id="rId7"/>
    <p:sldId id="259" r:id="rId8"/>
    <p:sldId id="266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18BEF-3C6B-FA44-9017-435F08151907}" v="401" dt="2026-09-23T21:51:01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33" d="100"/>
          <a:sy n="133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B988A-790D-0C47-9E8B-6DEA396D851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00C0B-38E6-3A4D-A568-D4A3999E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6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2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23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8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32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1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73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00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5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00C0B-38E6-3A4D-A568-D4A3999E183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41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FAA4-E6B4-6950-57C0-973036741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2141F-50BD-3847-635A-A2A060228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7388-AA8B-E35B-A5EA-719AF7DF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F785A-9FD9-4C2B-2642-DDFD893C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B1BCE-60F1-24ED-23E0-3A2F1296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DB36-A75E-8E0F-A911-EA187916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8BE3-7783-F11F-6A78-21F880179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D9741-AE73-A5A6-1CE4-AC6D31C6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AE8A6-6830-B862-5A14-98B1CA0E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AA63A-0403-408A-6BB6-0FE31FC2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ED8E-2F4D-E079-0D13-BBE347B7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1E0DB-D83D-9254-E374-4A20DE6BD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ECB4-4DC9-BDF8-896F-95262E0A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341C7-554B-4F70-E8CB-6D1E347B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B6529-3D41-E6F7-006E-10694655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0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AA89-0356-47DB-1FE3-8C1D4A5E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A135-6547-77E8-91F7-2D2FFD82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651A5-F4A5-BBB8-9183-D89298642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E1B8B-73FE-69B1-46DB-1DFD9309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FB194-3B56-FD56-0F23-FD02F24F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81225-B79A-C129-73F4-A5A09F4E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6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B181-D1AD-43B3-4CD8-36800302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3DD4A-FE6F-9821-DC94-FED3B022F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0BE28-AA27-9B99-A675-4FD5F4822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0CC6A-35A3-E501-F91E-9B2F2920E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C79AA-80B7-6CE6-FAF8-A38538758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FED2B-C5AE-1648-3B2E-945A6F17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278A8-8F11-CB9F-4BE2-1196DA11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D512C-F59D-D394-4B50-C0FA3A48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1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094A-4B7D-D66B-3F99-415A7E58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B6B67F-28CE-EA26-F25E-63745965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E7D75-E1CE-4198-9995-D5F23499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23389-FEC3-AE90-AB6D-1DD74BF1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4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B4379-BA53-711F-A4F8-0BF5FE8B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5F160-10BA-1FF9-BFF5-8C8A2116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7D41A-37BB-D77D-7E64-BCC303D2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8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AF9D-1194-442F-7705-87D813BC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87133-F73B-D277-4DEF-0EA6ACD6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1409C-48B9-F347-6644-570AF4F9A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60D7-81B3-A6CB-21E4-A2E3E186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5E60B-28C8-F94B-F49B-A6431F00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FDB5F-709B-9B8D-ECD0-1E0290C5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0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949E-F6E5-E2B4-54ED-925162207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09155-9918-49FB-A7BF-A8FA4D8A1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E7D53-8D70-B087-64AD-C5C7A4030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7E7CB-3961-A5E0-4DFA-D134A035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DB6E2-2F21-758B-A719-3BCABDC7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59340-0DBC-2C2D-7071-985F79BA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0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1F94-089F-8AA6-D398-A5EBCD7D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E4745-D1AC-6612-56E5-E54BCC0C1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7FEC-9AD1-E637-FD6E-82643C87C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9EC6E-A27F-1344-F109-DAA86CAD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3EBF-CF80-0900-ECDB-57DD6EEF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89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15E30-7D3E-3EE7-468F-38C7FB3FF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45202-28D7-D85B-A86F-563FF3ADF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03322-8BB4-522E-D275-FE94F251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9355-4D04-71E1-EDB2-D4B4AC4A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2D8A7-219C-A166-0E5A-B315BC5C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5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4C197-A20A-2AB5-6DC7-FDBE8C06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F9D91-BF3B-5E6E-43F4-40EF2065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BA03E-1E16-B6CC-DE8F-DC403E781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09D9B-0302-484D-8885-A56DD977852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D51E6-3131-A5AA-8F45-90C98981B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3F218-6B3C-B53F-31D5-D19DF264B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6A9BE-41FD-304D-BAEA-3EE6DAB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4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A7E073-D996-5BF4-8C3B-1A43F4BF21FB}"/>
              </a:ext>
            </a:extLst>
          </p:cNvPr>
          <p:cNvSpPr txBox="1"/>
          <p:nvPr/>
        </p:nvSpPr>
        <p:spPr>
          <a:xfrm>
            <a:off x="508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B7FDE-306D-D226-50F8-C048C61F41D3}"/>
              </a:ext>
            </a:extLst>
          </p:cNvPr>
          <p:cNvSpPr txBox="1"/>
          <p:nvPr/>
        </p:nvSpPr>
        <p:spPr>
          <a:xfrm>
            <a:off x="10922000" y="63500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1 /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24F43-1971-6613-AD66-66A1C3F94A1D}"/>
              </a:ext>
            </a:extLst>
          </p:cNvPr>
          <p:cNvSpPr txBox="1"/>
          <p:nvPr/>
        </p:nvSpPr>
        <p:spPr>
          <a:xfrm>
            <a:off x="0" y="2413000"/>
            <a:ext cx="12192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</a:rPr>
              <a:t>Agent</a:t>
            </a:r>
            <a:r>
              <a:rPr lang="en-US" sz="4800" b="1">
                <a:solidFill>
                  <a:srgbClr val="F2994A"/>
                </a:solidFill>
                <a:latin typeface="Arial" panose="020B0604020202020204" pitchFamily="34" charset="0"/>
              </a:rPr>
              <a:t>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6BB98-5D32-B226-4D83-86B0ACFBC407}"/>
              </a:ext>
            </a:extLst>
          </p:cNvPr>
          <p:cNvSpPr txBox="1"/>
          <p:nvPr/>
        </p:nvSpPr>
        <p:spPr>
          <a:xfrm>
            <a:off x="0" y="3327400"/>
            <a:ext cx="1219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Arial" panose="020B0604020202020204" pitchFamily="34" charset="0"/>
              </a:rPr>
              <a:t>Setup &amp; Evaluation Criteria</a:t>
            </a:r>
          </a:p>
        </p:txBody>
      </p:sp>
      <p:sp>
        <p:nvSpPr>
          <p:cNvPr id="11" name="Shape_14">
            <a:extLst>
              <a:ext uri="{FF2B5EF4-FFF2-40B4-BE49-F238E27FC236}">
                <a16:creationId xmlns:a16="http://schemas.microsoft.com/office/drawing/2014/main" id="{5FB78FA9-83F2-85C8-18F7-7B1091DED31F}"/>
              </a:ext>
            </a:extLst>
          </p:cNvPr>
          <p:cNvSpPr/>
          <p:nvPr/>
        </p:nvSpPr>
        <p:spPr>
          <a:xfrm>
            <a:off x="5156200" y="4447241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91C5D-CDEE-5298-B8EF-5DEB176DE06A}"/>
              </a:ext>
            </a:extLst>
          </p:cNvPr>
          <p:cNvSpPr txBox="1"/>
          <p:nvPr/>
        </p:nvSpPr>
        <p:spPr>
          <a:xfrm>
            <a:off x="4826000" y="432485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b="1" dirty="0">
                <a:solidFill>
                  <a:srgbClr val="C7D2E3"/>
                </a:solidFill>
                <a:latin typeface="Arial" panose="020B0604020202020204" pitchFamily="34" charset="0"/>
              </a:rPr>
              <a:t>September 2026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E76404-4E4C-F09B-3B60-42B8C3FDF917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14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FB05D8-1666-D870-740B-A22623D52299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How to Connect an Agent</a:t>
            </a:r>
          </a:p>
        </p:txBody>
      </p:sp>
      <p:sp>
        <p:nvSpPr>
          <p:cNvPr id="4" name="Shape_0">
            <a:extLst>
              <a:ext uri="{FF2B5EF4-FFF2-40B4-BE49-F238E27FC236}">
                <a16:creationId xmlns:a16="http://schemas.microsoft.com/office/drawing/2014/main" id="{868BF0C9-210E-DD62-4AC5-06769CB0D807}"/>
              </a:ext>
            </a:extLst>
          </p:cNvPr>
          <p:cNvSpPr/>
          <p:nvPr/>
        </p:nvSpPr>
        <p:spPr>
          <a:xfrm>
            <a:off x="7112000" y="2159000"/>
            <a:ext cx="4191000" cy="2032000"/>
          </a:xfrm>
          <a:prstGeom prst="roundRect">
            <a:avLst/>
          </a:prstGeom>
          <a:solidFill>
            <a:srgbClr val="16294C"/>
          </a:solidFill>
          <a:ln w="19050" cap="flat" cmpd="sng" algn="ctr">
            <a:solidFill>
              <a:srgbClr val="F299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2 lines</a:t>
            </a:r>
          </a:p>
          <a:p>
            <a:pPr algn="ctr"/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of OpenTelemetry instrumentation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44F28-BCD9-D74A-1649-F32C5D3224BF}"/>
              </a:ext>
            </a:extLst>
          </p:cNvPr>
          <p:cNvSpPr txBox="1"/>
          <p:nvPr/>
        </p:nvSpPr>
        <p:spPr>
          <a:xfrm>
            <a:off x="762000" y="2159000"/>
            <a:ext cx="5969000" cy="31393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If it emits OpenTelemetry trace data, AgentScore can score it - covers the large majority of agents out there</a:t>
            </a:r>
          </a:p>
          <a:p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Works side-by-side: Tricentis-based agents and any externally connected agent instrumented with OTel</a:t>
            </a:r>
          </a:p>
          <a:p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No proprietary SDK, no special library - just an OTel exporter most teams already have</a:t>
            </a:r>
          </a:p>
          <a:p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Built inside AI Workspace? Even less to do - scored automatically, zero setup, the moment the agent exists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462D0-EC46-A12D-FD5C-780184A7020D}"/>
              </a:ext>
            </a:extLst>
          </p:cNvPr>
          <p:cNvSpPr txBox="1"/>
          <p:nvPr/>
        </p:nvSpPr>
        <p:spPr>
          <a:xfrm>
            <a:off x="508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F8921-2A4E-5B97-1418-3B3108A41A08}"/>
              </a:ext>
            </a:extLst>
          </p:cNvPr>
          <p:cNvSpPr txBox="1"/>
          <p:nvPr/>
        </p:nvSpPr>
        <p:spPr>
          <a:xfrm>
            <a:off x="10922000" y="63500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2 / 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6467F6-D380-8731-4EA9-F73B0B39D07D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AFE072-CFDD-E8CF-1C8F-66BB47244C2E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SETUP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CA7CA-6497-81DE-ECF4-3607630AB8F0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The first question: what agents can be evaluated, and are there restrictions</a:t>
            </a:r>
          </a:p>
        </p:txBody>
      </p:sp>
    </p:spTree>
    <p:extLst>
      <p:ext uri="{BB962C8B-B14F-4D97-AF65-F5344CB8AC3E}">
        <p14:creationId xmlns:p14="http://schemas.microsoft.com/office/powerpoint/2010/main" val="263810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C538D-557E-63D5-6BA0-A812217D45BF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From Trace to Evaluation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57705-C6B6-5157-DFDA-FF75BF5AB29A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Auto-derived from traces - no manual tagging required</a:t>
            </a:r>
          </a:p>
        </p:txBody>
      </p:sp>
      <p:sp>
        <p:nvSpPr>
          <p:cNvPr id="4" name="Shape_1">
            <a:extLst>
              <a:ext uri="{FF2B5EF4-FFF2-40B4-BE49-F238E27FC236}">
                <a16:creationId xmlns:a16="http://schemas.microsoft.com/office/drawing/2014/main" id="{C55972AC-6B14-1DEF-8867-93CE6A80D1AF}"/>
              </a:ext>
            </a:extLst>
          </p:cNvPr>
          <p:cNvSpPr/>
          <p:nvPr/>
        </p:nvSpPr>
        <p:spPr>
          <a:xfrm>
            <a:off x="762000" y="2794000"/>
            <a:ext cx="1905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38BDF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Purpose</a:t>
            </a:r>
          </a:p>
        </p:txBody>
      </p:sp>
      <p:sp>
        <p:nvSpPr>
          <p:cNvPr id="5" name="Shape_2">
            <a:extLst>
              <a:ext uri="{FF2B5EF4-FFF2-40B4-BE49-F238E27FC236}">
                <a16:creationId xmlns:a16="http://schemas.microsoft.com/office/drawing/2014/main" id="{C04C0F7B-42F5-16A9-B68A-F3C57998BF5D}"/>
              </a:ext>
            </a:extLst>
          </p:cNvPr>
          <p:cNvSpPr/>
          <p:nvPr/>
        </p:nvSpPr>
        <p:spPr>
          <a:xfrm>
            <a:off x="2857500" y="2794000"/>
            <a:ext cx="1905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A78BF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Behavior &amp; Tool Calls</a:t>
            </a:r>
          </a:p>
        </p:txBody>
      </p:sp>
      <p:sp>
        <p:nvSpPr>
          <p:cNvPr id="6" name="Shape_3">
            <a:extLst>
              <a:ext uri="{FF2B5EF4-FFF2-40B4-BE49-F238E27FC236}">
                <a16:creationId xmlns:a16="http://schemas.microsoft.com/office/drawing/2014/main" id="{F4E0113F-3001-4D7C-B4AB-00A95C5DBFD7}"/>
              </a:ext>
            </a:extLst>
          </p:cNvPr>
          <p:cNvSpPr/>
          <p:nvPr/>
        </p:nvSpPr>
        <p:spPr>
          <a:xfrm>
            <a:off x="4953000" y="2794000"/>
            <a:ext cx="1905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4ADE8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Success Criteria</a:t>
            </a:r>
          </a:p>
        </p:txBody>
      </p:sp>
      <p:sp>
        <p:nvSpPr>
          <p:cNvPr id="7" name="Shape_4">
            <a:extLst>
              <a:ext uri="{FF2B5EF4-FFF2-40B4-BE49-F238E27FC236}">
                <a16:creationId xmlns:a16="http://schemas.microsoft.com/office/drawing/2014/main" id="{9C714893-8FD8-5B7E-44B3-0E42ACD0E44B}"/>
              </a:ext>
            </a:extLst>
          </p:cNvPr>
          <p:cNvSpPr/>
          <p:nvPr/>
        </p:nvSpPr>
        <p:spPr>
          <a:xfrm>
            <a:off x="7048500" y="2794000"/>
            <a:ext cx="1905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E85B5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Failure Modes</a:t>
            </a:r>
          </a:p>
        </p:txBody>
      </p:sp>
      <p:sp>
        <p:nvSpPr>
          <p:cNvPr id="8" name="Shape_5">
            <a:extLst>
              <a:ext uri="{FF2B5EF4-FFF2-40B4-BE49-F238E27FC236}">
                <a16:creationId xmlns:a16="http://schemas.microsoft.com/office/drawing/2014/main" id="{D4D38ED1-6867-797F-AC87-C7595D24ACE7}"/>
              </a:ext>
            </a:extLst>
          </p:cNvPr>
          <p:cNvSpPr/>
          <p:nvPr/>
        </p:nvSpPr>
        <p:spPr>
          <a:xfrm>
            <a:off x="9144000" y="2794000"/>
            <a:ext cx="1905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Matching Evaluation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D3545-9C68-DC73-D5D7-1FC85BBEFB13}"/>
              </a:ext>
            </a:extLst>
          </p:cNvPr>
          <p:cNvSpPr txBox="1"/>
          <p:nvPr/>
        </p:nvSpPr>
        <p:spPr>
          <a:xfrm>
            <a:off x="26670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42507-DBE4-61EB-C483-436DB1002C44}"/>
              </a:ext>
            </a:extLst>
          </p:cNvPr>
          <p:cNvSpPr txBox="1"/>
          <p:nvPr/>
        </p:nvSpPr>
        <p:spPr>
          <a:xfrm>
            <a:off x="47625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2ADAB4-8BD6-8C8C-B606-FF28F32CB7A3}"/>
              </a:ext>
            </a:extLst>
          </p:cNvPr>
          <p:cNvSpPr txBox="1"/>
          <p:nvPr/>
        </p:nvSpPr>
        <p:spPr>
          <a:xfrm>
            <a:off x="68580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590A3-C741-F1AE-EF3A-38E5D22BB1D5}"/>
              </a:ext>
            </a:extLst>
          </p:cNvPr>
          <p:cNvSpPr txBox="1"/>
          <p:nvPr/>
        </p:nvSpPr>
        <p:spPr>
          <a:xfrm>
            <a:off x="89535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656259-8725-904D-AE52-A58A9F296C02}"/>
              </a:ext>
            </a:extLst>
          </p:cNvPr>
          <p:cNvSpPr txBox="1"/>
          <p:nvPr/>
        </p:nvSpPr>
        <p:spPr>
          <a:xfrm>
            <a:off x="762000" y="508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</a:rPr>
              <a:t>Then AgentScore applies the matching profile's evals - automatically, from the traces alone.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706291-09D5-A6D1-2B12-B27DD0AEB77C}"/>
              </a:ext>
            </a:extLst>
          </p:cNvPr>
          <p:cNvSpPr txBox="1"/>
          <p:nvPr/>
        </p:nvSpPr>
        <p:spPr>
          <a:xfrm>
            <a:off x="508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4F8924-FB1F-DA7A-2E21-597A6A1F0F94}"/>
              </a:ext>
            </a:extLst>
          </p:cNvPr>
          <p:cNvSpPr txBox="1"/>
          <p:nvPr/>
        </p:nvSpPr>
        <p:spPr>
          <a:xfrm>
            <a:off x="10922000" y="63500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3 / 9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AEAC0C-2BB7-1701-B160-309498B71F0D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2F3297-29BF-94C0-B18E-AC98745E23BA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18" name="Shape_15">
            <a:extLst>
              <a:ext uri="{FF2B5EF4-FFF2-40B4-BE49-F238E27FC236}">
                <a16:creationId xmlns:a16="http://schemas.microsoft.com/office/drawing/2014/main" id="{537E2C45-1E67-5FFA-0BB2-C1AAA15D691D}"/>
              </a:ext>
            </a:extLst>
          </p:cNvPr>
          <p:cNvSpPr/>
          <p:nvPr/>
        </p:nvSpPr>
        <p:spPr>
          <a:xfrm>
            <a:off x="1511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" name="Shape_16">
            <a:extLst>
              <a:ext uri="{FF2B5EF4-FFF2-40B4-BE49-F238E27FC236}">
                <a16:creationId xmlns:a16="http://schemas.microsoft.com/office/drawing/2014/main" id="{9CCD22A3-70C2-B275-8090-A9AC36F5FF19}"/>
              </a:ext>
            </a:extLst>
          </p:cNvPr>
          <p:cNvSpPr/>
          <p:nvPr/>
        </p:nvSpPr>
        <p:spPr>
          <a:xfrm>
            <a:off x="36068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" name="Shape_17">
            <a:extLst>
              <a:ext uri="{FF2B5EF4-FFF2-40B4-BE49-F238E27FC236}">
                <a16:creationId xmlns:a16="http://schemas.microsoft.com/office/drawing/2014/main" id="{D52E422E-0EA4-01A3-A0BC-4F79A36ADDC4}"/>
              </a:ext>
            </a:extLst>
          </p:cNvPr>
          <p:cNvSpPr/>
          <p:nvPr/>
        </p:nvSpPr>
        <p:spPr>
          <a:xfrm>
            <a:off x="5702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" name="Shape_18">
            <a:extLst>
              <a:ext uri="{FF2B5EF4-FFF2-40B4-BE49-F238E27FC236}">
                <a16:creationId xmlns:a16="http://schemas.microsoft.com/office/drawing/2014/main" id="{2B6A5FA4-C528-6636-C5FA-F2D140928A14}"/>
              </a:ext>
            </a:extLst>
          </p:cNvPr>
          <p:cNvSpPr/>
          <p:nvPr/>
        </p:nvSpPr>
        <p:spPr>
          <a:xfrm>
            <a:off x="77978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2" name="Shape_19">
            <a:extLst>
              <a:ext uri="{FF2B5EF4-FFF2-40B4-BE49-F238E27FC236}">
                <a16:creationId xmlns:a16="http://schemas.microsoft.com/office/drawing/2014/main" id="{882C08D1-898E-0695-82C0-3CE8A4FE1AEB}"/>
              </a:ext>
            </a:extLst>
          </p:cNvPr>
          <p:cNvSpPr/>
          <p:nvPr/>
        </p:nvSpPr>
        <p:spPr>
          <a:xfrm>
            <a:off x="9893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6294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8CE1B4-F120-AFF7-8AAB-26899A8641DE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Evaluation Criteria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8FA9D-379A-47A9-703B-B6BE8471E63F}"/>
              </a:ext>
            </a:extLst>
          </p:cNvPr>
          <p:cNvSpPr txBox="1"/>
          <p:nvPr/>
        </p:nvSpPr>
        <p:spPr>
          <a:xfrm>
            <a:off x="762000" y="1301897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A few example dimensions behind the score - not the complete list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511FA6-2631-C475-503D-F58E55BB2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99414"/>
              </p:ext>
            </p:extLst>
          </p:nvPr>
        </p:nvGraphicFramePr>
        <p:xfrm>
          <a:off x="762000" y="1905000"/>
          <a:ext cx="10668000" cy="381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08201586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2747635443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0F1E3B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0F1E3B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31634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Correctness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Did the agent complete the task correctly?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17991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Efficiency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Did it stay within cost and latency budget?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5836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Relevance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Did the output actually address what was asked?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94776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Safety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Did it avoid harmful, unsafe, or non-compliant behavior?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94291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Consistency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Does it perform the same way across repeated runs?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22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Tool Use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FFFF"/>
                          </a:solidFill>
                        </a:rPr>
                        <a:t>Did it call the right tools, correctly, with valid inputs?</a:t>
                      </a:r>
                    </a:p>
                  </a:txBody>
                  <a:tcPr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349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B9423D-C1A8-30BA-2DF4-4BAAE85856D7}"/>
              </a:ext>
            </a:extLst>
          </p:cNvPr>
          <p:cNvSpPr txBox="1"/>
          <p:nvPr/>
        </p:nvSpPr>
        <p:spPr>
          <a:xfrm>
            <a:off x="762000" y="57150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94A3B8"/>
                </a:solidFill>
                <a:latin typeface="Arial" panose="020B0604020202020204" pitchFamily="34" charset="0"/>
              </a:rPr>
              <a:t>Each dimension is made up of multiple underlying evals - deterministic, hybrid, or LLM-judge with confidence intervals, depending on what's being measured.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5E970-9866-F5BD-078F-9531A8383EB0}"/>
              </a:ext>
            </a:extLst>
          </p:cNvPr>
          <p:cNvSpPr txBox="1"/>
          <p:nvPr/>
        </p:nvSpPr>
        <p:spPr>
          <a:xfrm>
            <a:off x="508000" y="6451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B6B80-E8C9-5F01-B20D-EB7D37364EE6}"/>
              </a:ext>
            </a:extLst>
          </p:cNvPr>
          <p:cNvSpPr txBox="1"/>
          <p:nvPr/>
        </p:nvSpPr>
        <p:spPr>
          <a:xfrm>
            <a:off x="10922000" y="64516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4 / 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35638-5781-90E7-30B5-149E082857A7}"/>
              </a:ext>
            </a:extLst>
          </p:cNvPr>
          <p:cNvCxnSpPr/>
          <p:nvPr/>
        </p:nvCxnSpPr>
        <p:spPr>
          <a:xfrm>
            <a:off x="508000" y="63500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2B5682-2B59-246C-48AD-177731FA8746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413051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0E49B2-6303-6182-57B8-67A82DE4D8A2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8B13D-4687-6A02-5D45-7A326C02509A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Composite Score &amp; Verdict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4476F-14C5-DE82-CC55-52DA1ACC8BB9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What comes back from a scoring run</a:t>
            </a:r>
          </a:p>
        </p:txBody>
      </p:sp>
      <p:sp>
        <p:nvSpPr>
          <p:cNvPr id="5" name="Shape_28">
            <a:extLst>
              <a:ext uri="{FF2B5EF4-FFF2-40B4-BE49-F238E27FC236}">
                <a16:creationId xmlns:a16="http://schemas.microsoft.com/office/drawing/2014/main" id="{5F458156-EF1A-52B2-08EA-7D09FC19E705}"/>
              </a:ext>
            </a:extLst>
          </p:cNvPr>
          <p:cNvSpPr/>
          <p:nvPr/>
        </p:nvSpPr>
        <p:spPr>
          <a:xfrm>
            <a:off x="1016000" y="2159000"/>
            <a:ext cx="4826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30">
            <a:extLst>
              <a:ext uri="{FF2B5EF4-FFF2-40B4-BE49-F238E27FC236}">
                <a16:creationId xmlns:a16="http://schemas.microsoft.com/office/drawing/2014/main" id="{FEFF1FB9-4058-C1FA-6555-F19BF4C57FBB}"/>
              </a:ext>
            </a:extLst>
          </p:cNvPr>
          <p:cNvSpPr/>
          <p:nvPr/>
        </p:nvSpPr>
        <p:spPr>
          <a:xfrm>
            <a:off x="6350000" y="2159000"/>
            <a:ext cx="4826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D53950-3165-6C18-DAC6-17CE6C87DC3D}"/>
              </a:ext>
            </a:extLst>
          </p:cNvPr>
          <p:cNvCxnSpPr/>
          <p:nvPr/>
        </p:nvCxnSpPr>
        <p:spPr>
          <a:xfrm>
            <a:off x="508000" y="62865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EFD84F-F18C-AC87-926E-2FDA27325E59}"/>
              </a:ext>
            </a:extLst>
          </p:cNvPr>
          <p:cNvSpPr txBox="1"/>
          <p:nvPr/>
        </p:nvSpPr>
        <p:spPr>
          <a:xfrm>
            <a:off x="508000" y="63881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54464-97EE-114E-3769-BADBAAF7DF34}"/>
              </a:ext>
            </a:extLst>
          </p:cNvPr>
          <p:cNvSpPr txBox="1"/>
          <p:nvPr/>
        </p:nvSpPr>
        <p:spPr>
          <a:xfrm>
            <a:off x="10922000" y="63881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5 / 9</a:t>
            </a:r>
          </a:p>
        </p:txBody>
      </p:sp>
      <p:sp>
        <p:nvSpPr>
          <p:cNvPr id="11" name="Shape_31">
            <a:extLst>
              <a:ext uri="{FF2B5EF4-FFF2-40B4-BE49-F238E27FC236}">
                <a16:creationId xmlns:a16="http://schemas.microsoft.com/office/drawing/2014/main" id="{9A02C951-1765-D408-136C-26F82FFAD4B7}"/>
              </a:ext>
            </a:extLst>
          </p:cNvPr>
          <p:cNvSpPr/>
          <p:nvPr/>
        </p:nvSpPr>
        <p:spPr>
          <a:xfrm>
            <a:off x="3111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" name="Shape_33">
            <a:extLst>
              <a:ext uri="{FF2B5EF4-FFF2-40B4-BE49-F238E27FC236}">
                <a16:creationId xmlns:a16="http://schemas.microsoft.com/office/drawing/2014/main" id="{CFED2F02-4649-F80F-B949-D233FAB65A2E}"/>
              </a:ext>
            </a:extLst>
          </p:cNvPr>
          <p:cNvSpPr/>
          <p:nvPr/>
        </p:nvSpPr>
        <p:spPr>
          <a:xfrm>
            <a:off x="8445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AC0F80-2FE8-C95A-C0AD-00DE11043241}"/>
              </a:ext>
            </a:extLst>
          </p:cNvPr>
          <p:cNvSpPr txBox="1"/>
          <p:nvPr/>
        </p:nvSpPr>
        <p:spPr>
          <a:xfrm>
            <a:off x="1270000" y="33655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DA3BD-1754-398D-A062-390A9D20B6ED}"/>
              </a:ext>
            </a:extLst>
          </p:cNvPr>
          <p:cNvSpPr txBox="1"/>
          <p:nvPr/>
        </p:nvSpPr>
        <p:spPr>
          <a:xfrm>
            <a:off x="6604000" y="33655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36716-A648-D59F-49F8-F490E6B28366}"/>
              </a:ext>
            </a:extLst>
          </p:cNvPr>
          <p:cNvSpPr txBox="1"/>
          <p:nvPr/>
        </p:nvSpPr>
        <p:spPr>
          <a:xfrm>
            <a:off x="1270000" y="3657600"/>
            <a:ext cx="431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0-100 Composite 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EE12F1-9875-8FD2-F9E0-8F819915D385}"/>
              </a:ext>
            </a:extLst>
          </p:cNvPr>
          <p:cNvSpPr txBox="1"/>
          <p:nvPr/>
        </p:nvSpPr>
        <p:spPr>
          <a:xfrm>
            <a:off x="6604000" y="3657600"/>
            <a:ext cx="431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Ship / Needs Work / Don't Ship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EC60EE-5259-F67B-78FE-D7FE6CA4764F}"/>
              </a:ext>
            </a:extLst>
          </p:cNvPr>
          <p:cNvSpPr txBox="1"/>
          <p:nvPr/>
        </p:nvSpPr>
        <p:spPr>
          <a:xfrm>
            <a:off x="1270000" y="4381500"/>
            <a:ext cx="4318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94A3B8"/>
                </a:solidFill>
                <a:latin typeface="Arial" panose="020B0604020202020204" pitchFamily="34" charset="0"/>
              </a:rPr>
              <a:t>Rolls up every dimension that applies to this agent into one number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493B84-BC52-750F-29F6-A1CE82D9AF49}"/>
              </a:ext>
            </a:extLst>
          </p:cNvPr>
          <p:cNvSpPr txBox="1"/>
          <p:nvPr/>
        </p:nvSpPr>
        <p:spPr>
          <a:xfrm>
            <a:off x="6604000" y="4381500"/>
            <a:ext cx="4318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94A3B8"/>
                </a:solidFill>
                <a:latin typeface="Arial" panose="020B0604020202020204" pitchFamily="34" charset="0"/>
              </a:rPr>
              <a:t>A verdict band, not just a number - bands are user-editable, not fixed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719E0-73D5-B30B-464F-D5AFE284545C}"/>
              </a:ext>
            </a:extLst>
          </p:cNvPr>
          <p:cNvSpPr txBox="1"/>
          <p:nvPr/>
        </p:nvSpPr>
        <p:spPr>
          <a:xfrm>
            <a:off x="762000" y="5842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</a:rPr>
              <a:t>Every verdict comes with a breakdown of why - not just the number.</a:t>
            </a:r>
          </a:p>
        </p:txBody>
      </p:sp>
    </p:spTree>
    <p:extLst>
      <p:ext uri="{BB962C8B-B14F-4D97-AF65-F5344CB8AC3E}">
        <p14:creationId xmlns:p14="http://schemas.microsoft.com/office/powerpoint/2010/main" val="36370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25B233-7274-E172-B118-D4CDF849D3E7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027C3-11A3-9AA1-BAA4-7514E1FB86F6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Tiered Evidence, Not a Black Box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52CFC-9506-FA89-FCD2-4946F51C532B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How AgentScore backs up a verdict - useful in client conversations too</a:t>
            </a:r>
          </a:p>
        </p:txBody>
      </p:sp>
      <p:sp>
        <p:nvSpPr>
          <p:cNvPr id="5" name="Shape_34">
            <a:extLst>
              <a:ext uri="{FF2B5EF4-FFF2-40B4-BE49-F238E27FC236}">
                <a16:creationId xmlns:a16="http://schemas.microsoft.com/office/drawing/2014/main" id="{7C412C66-EBEC-46B5-9DA2-85765D46351A}"/>
              </a:ext>
            </a:extLst>
          </p:cNvPr>
          <p:cNvSpPr/>
          <p:nvPr/>
        </p:nvSpPr>
        <p:spPr>
          <a:xfrm>
            <a:off x="762000" y="2159000"/>
            <a:ext cx="3302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35">
            <a:extLst>
              <a:ext uri="{FF2B5EF4-FFF2-40B4-BE49-F238E27FC236}">
                <a16:creationId xmlns:a16="http://schemas.microsoft.com/office/drawing/2014/main" id="{635855CD-61CF-67F3-3245-6E8EF10C994C}"/>
              </a:ext>
            </a:extLst>
          </p:cNvPr>
          <p:cNvSpPr/>
          <p:nvPr/>
        </p:nvSpPr>
        <p:spPr>
          <a:xfrm>
            <a:off x="4445000" y="2159000"/>
            <a:ext cx="3302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36">
            <a:extLst>
              <a:ext uri="{FF2B5EF4-FFF2-40B4-BE49-F238E27FC236}">
                <a16:creationId xmlns:a16="http://schemas.microsoft.com/office/drawing/2014/main" id="{EDACB30D-2FDA-7CC3-D089-F0F1DEE0F3F5}"/>
              </a:ext>
            </a:extLst>
          </p:cNvPr>
          <p:cNvSpPr/>
          <p:nvPr/>
        </p:nvSpPr>
        <p:spPr>
          <a:xfrm>
            <a:off x="8128000" y="2159000"/>
            <a:ext cx="3302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1843D-5750-44F7-B5E8-3347CF4CDA38}"/>
              </a:ext>
            </a:extLst>
          </p:cNvPr>
          <p:cNvCxnSpPr/>
          <p:nvPr/>
        </p:nvCxnSpPr>
        <p:spPr>
          <a:xfrm>
            <a:off x="508000" y="62865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28973B-32E1-F0EC-91EE-3E77C22F9980}"/>
              </a:ext>
            </a:extLst>
          </p:cNvPr>
          <p:cNvSpPr txBox="1"/>
          <p:nvPr/>
        </p:nvSpPr>
        <p:spPr>
          <a:xfrm>
            <a:off x="508000" y="63881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B2EE7-1B54-E6FC-9CD9-9046C766FA44}"/>
              </a:ext>
            </a:extLst>
          </p:cNvPr>
          <p:cNvSpPr txBox="1"/>
          <p:nvPr/>
        </p:nvSpPr>
        <p:spPr>
          <a:xfrm>
            <a:off x="10922000" y="63881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6 / 9</a:t>
            </a:r>
          </a:p>
        </p:txBody>
      </p:sp>
      <p:sp>
        <p:nvSpPr>
          <p:cNvPr id="11" name="Shape_37">
            <a:extLst>
              <a:ext uri="{FF2B5EF4-FFF2-40B4-BE49-F238E27FC236}">
                <a16:creationId xmlns:a16="http://schemas.microsoft.com/office/drawing/2014/main" id="{D66125C7-86C5-735C-BC04-B77EFB7BAE00}"/>
              </a:ext>
            </a:extLst>
          </p:cNvPr>
          <p:cNvSpPr/>
          <p:nvPr/>
        </p:nvSpPr>
        <p:spPr>
          <a:xfrm>
            <a:off x="2095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2" name="Shape_38">
            <a:extLst>
              <a:ext uri="{FF2B5EF4-FFF2-40B4-BE49-F238E27FC236}">
                <a16:creationId xmlns:a16="http://schemas.microsoft.com/office/drawing/2014/main" id="{18FE39FE-F5D4-18BE-B64A-498D6BE0A0FD}"/>
              </a:ext>
            </a:extLst>
          </p:cNvPr>
          <p:cNvSpPr/>
          <p:nvPr/>
        </p:nvSpPr>
        <p:spPr>
          <a:xfrm>
            <a:off x="5778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" name="Shape_39">
            <a:extLst>
              <a:ext uri="{FF2B5EF4-FFF2-40B4-BE49-F238E27FC236}">
                <a16:creationId xmlns:a16="http://schemas.microsoft.com/office/drawing/2014/main" id="{2F6DA509-79BE-DC9C-086F-3467D4309AD2}"/>
              </a:ext>
            </a:extLst>
          </p:cNvPr>
          <p:cNvSpPr/>
          <p:nvPr/>
        </p:nvSpPr>
        <p:spPr>
          <a:xfrm>
            <a:off x="9461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2A290-37A4-479D-F968-C24532FF7423}"/>
              </a:ext>
            </a:extLst>
          </p:cNvPr>
          <p:cNvSpPr txBox="1"/>
          <p:nvPr/>
        </p:nvSpPr>
        <p:spPr>
          <a:xfrm>
            <a:off x="1016000" y="3365500"/>
            <a:ext cx="279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TIER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941E8D-BAE9-B24F-5700-DAAEBA9C6DE6}"/>
              </a:ext>
            </a:extLst>
          </p:cNvPr>
          <p:cNvSpPr txBox="1"/>
          <p:nvPr/>
        </p:nvSpPr>
        <p:spPr>
          <a:xfrm>
            <a:off x="4699000" y="3365500"/>
            <a:ext cx="279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TIER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BE1F3-4428-0C4F-F09A-B78F6648A4F8}"/>
              </a:ext>
            </a:extLst>
          </p:cNvPr>
          <p:cNvSpPr txBox="1"/>
          <p:nvPr/>
        </p:nvSpPr>
        <p:spPr>
          <a:xfrm>
            <a:off x="8382000" y="3365500"/>
            <a:ext cx="279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TIER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89BA9E-043B-CE08-3CD9-BA6B5ED64B5F}"/>
              </a:ext>
            </a:extLst>
          </p:cNvPr>
          <p:cNvSpPr txBox="1"/>
          <p:nvPr/>
        </p:nvSpPr>
        <p:spPr>
          <a:xfrm>
            <a:off x="1016000" y="3657600"/>
            <a:ext cx="279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Deterministic Checks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5AB4F-9FB6-5B06-35F5-ABDDA62E9B33}"/>
              </a:ext>
            </a:extLst>
          </p:cNvPr>
          <p:cNvSpPr txBox="1"/>
          <p:nvPr/>
        </p:nvSpPr>
        <p:spPr>
          <a:xfrm>
            <a:off x="4699000" y="3657600"/>
            <a:ext cx="279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LLM Judge + Confidence Interval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654437-F3F5-92AA-9FA9-158E974A9F1B}"/>
              </a:ext>
            </a:extLst>
          </p:cNvPr>
          <p:cNvSpPr txBox="1"/>
          <p:nvPr/>
        </p:nvSpPr>
        <p:spPr>
          <a:xfrm>
            <a:off x="8382000" y="3657600"/>
            <a:ext cx="279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Golden Dataset Back-Testing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C1739-A13A-F181-1F14-1C06A24BC6A7}"/>
              </a:ext>
            </a:extLst>
          </p:cNvPr>
          <p:cNvSpPr txBox="1"/>
          <p:nvPr/>
        </p:nvSpPr>
        <p:spPr>
          <a:xfrm>
            <a:off x="1016000" y="4381500"/>
            <a:ext cx="279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94A3B8"/>
                </a:solidFill>
                <a:latin typeface="Arial" panose="020B0604020202020204" pitchFamily="34" charset="0"/>
              </a:rPr>
              <a:t>Where ground truth exists, a hard pass/fail - not opinion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1E9B82-FA5C-052D-9F00-E8E19F378C3F}"/>
              </a:ext>
            </a:extLst>
          </p:cNvPr>
          <p:cNvSpPr txBox="1"/>
          <p:nvPr/>
        </p:nvSpPr>
        <p:spPr>
          <a:xfrm>
            <a:off x="4699000" y="4381500"/>
            <a:ext cx="2794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94A3B8"/>
                </a:solidFill>
                <a:latin typeface="Arial" panose="020B0604020202020204" pitchFamily="34" charset="0"/>
              </a:rPr>
              <a:t>Where it doesn't, an LLM judge scores it and shows how sure it 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7F28CF-90D2-1D93-5F70-8F6C85633238}"/>
              </a:ext>
            </a:extLst>
          </p:cNvPr>
          <p:cNvSpPr txBox="1"/>
          <p:nvPr/>
        </p:nvSpPr>
        <p:spPr>
          <a:xfrm>
            <a:off x="8382000" y="4381500"/>
            <a:ext cx="2794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94A3B8"/>
                </a:solidFill>
                <a:latin typeface="Arial" panose="020B0604020202020204" pitchFamily="34" charset="0"/>
              </a:rPr>
              <a:t>Curate good/bad examples over time; future runs compare against them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7A28F1-9CA2-22AE-87A9-5BB07B1CC126}"/>
              </a:ext>
            </a:extLst>
          </p:cNvPr>
          <p:cNvSpPr txBox="1"/>
          <p:nvPr/>
        </p:nvSpPr>
        <p:spPr>
          <a:xfrm>
            <a:off x="762000" y="5842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</a:rPr>
              <a:t>A safety override can hard-fail a run (e.g. a PII issue) regardless of how strong the composite score is.</a:t>
            </a:r>
          </a:p>
        </p:txBody>
      </p:sp>
    </p:spTree>
    <p:extLst>
      <p:ext uri="{BB962C8B-B14F-4D97-AF65-F5344CB8AC3E}">
        <p14:creationId xmlns:p14="http://schemas.microsoft.com/office/powerpoint/2010/main" val="124697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55D3A-3AE6-C8B6-4FF9-861856EC445D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Weighting Is Configurable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1B28C-6066-9C5B-CE1A-F3A0AECFA95B}"/>
              </a:ext>
            </a:extLst>
          </p:cNvPr>
          <p:cNvSpPr txBox="1"/>
          <p:nvPr/>
        </p:nvSpPr>
        <p:spPr>
          <a:xfrm>
            <a:off x="762000" y="1968500"/>
            <a:ext cx="10668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Dimension weights aren't fixed - set per profile to match what matters for a given agent</a:t>
            </a:r>
          </a:p>
          <a:p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Selecting a profile locks an immutable version, so re-scoring the same agent after a change gives a clean before/after comparison</a:t>
            </a:r>
          </a:p>
          <a:p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A new profile creates a new version to re-baseline against</a:t>
            </a:r>
          </a:p>
        </p:txBody>
      </p:sp>
      <p:sp>
        <p:nvSpPr>
          <p:cNvPr id="5" name="Shape_6">
            <a:extLst>
              <a:ext uri="{FF2B5EF4-FFF2-40B4-BE49-F238E27FC236}">
                <a16:creationId xmlns:a16="http://schemas.microsoft.com/office/drawing/2014/main" id="{8B1E5D00-E857-6AB0-ECC7-DB9364FFB9E0}"/>
              </a:ext>
            </a:extLst>
          </p:cNvPr>
          <p:cNvSpPr/>
          <p:nvPr/>
        </p:nvSpPr>
        <p:spPr>
          <a:xfrm>
            <a:off x="1143000" y="4953000"/>
            <a:ext cx="2286000" cy="1143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38BDF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Profile v1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(locked baseline)</a:t>
            </a:r>
          </a:p>
        </p:txBody>
      </p:sp>
      <p:sp>
        <p:nvSpPr>
          <p:cNvPr id="6" name="Shape_7">
            <a:extLst>
              <a:ext uri="{FF2B5EF4-FFF2-40B4-BE49-F238E27FC236}">
                <a16:creationId xmlns:a16="http://schemas.microsoft.com/office/drawing/2014/main" id="{9D691D51-72E3-C969-B308-0C1D6579C15B}"/>
              </a:ext>
            </a:extLst>
          </p:cNvPr>
          <p:cNvSpPr/>
          <p:nvPr/>
        </p:nvSpPr>
        <p:spPr>
          <a:xfrm>
            <a:off x="3683000" y="4953000"/>
            <a:ext cx="2286000" cy="1143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A78BF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Agent updated</a:t>
            </a:r>
          </a:p>
        </p:txBody>
      </p:sp>
      <p:sp>
        <p:nvSpPr>
          <p:cNvPr id="7" name="Shape_8">
            <a:extLst>
              <a:ext uri="{FF2B5EF4-FFF2-40B4-BE49-F238E27FC236}">
                <a16:creationId xmlns:a16="http://schemas.microsoft.com/office/drawing/2014/main" id="{5E30E639-6D71-0535-370F-3F162EEEC914}"/>
              </a:ext>
            </a:extLst>
          </p:cNvPr>
          <p:cNvSpPr/>
          <p:nvPr/>
        </p:nvSpPr>
        <p:spPr>
          <a:xfrm>
            <a:off x="6223000" y="4953000"/>
            <a:ext cx="2286000" cy="1143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4ADE8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Rerun v1 -&gt;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before/after comparison</a:t>
            </a:r>
          </a:p>
        </p:txBody>
      </p:sp>
      <p:sp>
        <p:nvSpPr>
          <p:cNvPr id="8" name="Shape_9">
            <a:extLst>
              <a:ext uri="{FF2B5EF4-FFF2-40B4-BE49-F238E27FC236}">
                <a16:creationId xmlns:a16="http://schemas.microsoft.com/office/drawing/2014/main" id="{80C07D92-F5D4-BDB5-ABA8-1DB83F97490D}"/>
              </a:ext>
            </a:extLst>
          </p:cNvPr>
          <p:cNvSpPr/>
          <p:nvPr/>
        </p:nvSpPr>
        <p:spPr>
          <a:xfrm>
            <a:off x="8763000" y="4953000"/>
            <a:ext cx="2286000" cy="1143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New profile -&gt;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new version, new baseline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9D838-1448-73EA-96B3-1A1CBEC54E63}"/>
              </a:ext>
            </a:extLst>
          </p:cNvPr>
          <p:cNvSpPr txBox="1"/>
          <p:nvPr/>
        </p:nvSpPr>
        <p:spPr>
          <a:xfrm>
            <a:off x="3467100" y="5270500"/>
            <a:ext cx="254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F96AC-10C7-F38D-FFA5-878E555A59FB}"/>
              </a:ext>
            </a:extLst>
          </p:cNvPr>
          <p:cNvSpPr txBox="1"/>
          <p:nvPr/>
        </p:nvSpPr>
        <p:spPr>
          <a:xfrm>
            <a:off x="6007100" y="5270500"/>
            <a:ext cx="254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7627C-348C-F1A9-20E5-D9B2FC17648A}"/>
              </a:ext>
            </a:extLst>
          </p:cNvPr>
          <p:cNvSpPr txBox="1"/>
          <p:nvPr/>
        </p:nvSpPr>
        <p:spPr>
          <a:xfrm>
            <a:off x="8407400" y="5270500"/>
            <a:ext cx="508000" cy="52322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94A3B8"/>
                </a:solidFill>
                <a:latin typeface="Arial" panose="020B0604020202020204" pitchFamily="34" charset="0"/>
              </a:rPr>
              <a:t>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BF0824-C753-1919-A66F-0E385ABA0255}"/>
              </a:ext>
            </a:extLst>
          </p:cNvPr>
          <p:cNvSpPr txBox="1"/>
          <p:nvPr/>
        </p:nvSpPr>
        <p:spPr>
          <a:xfrm>
            <a:off x="508000" y="64135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87D7A-77A6-B3DC-29AE-07F5F391E7A1}"/>
              </a:ext>
            </a:extLst>
          </p:cNvPr>
          <p:cNvSpPr txBox="1"/>
          <p:nvPr/>
        </p:nvSpPr>
        <p:spPr>
          <a:xfrm>
            <a:off x="10922000" y="64135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7 /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E5343A-6147-908C-9B6D-DBF70F87F6A8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5EA20A-8347-3204-E67A-62346C1E3744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CONFIGURATION</a:t>
            </a:r>
          </a:p>
        </p:txBody>
      </p:sp>
      <p:sp>
        <p:nvSpPr>
          <p:cNvPr id="16" name="Shape_20">
            <a:extLst>
              <a:ext uri="{FF2B5EF4-FFF2-40B4-BE49-F238E27FC236}">
                <a16:creationId xmlns:a16="http://schemas.microsoft.com/office/drawing/2014/main" id="{A38387EA-7F5F-C43F-7EAE-08826C7C3BCD}"/>
              </a:ext>
            </a:extLst>
          </p:cNvPr>
          <p:cNvSpPr/>
          <p:nvPr/>
        </p:nvSpPr>
        <p:spPr>
          <a:xfrm>
            <a:off x="2082800" y="43815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" name="Shape_21">
            <a:extLst>
              <a:ext uri="{FF2B5EF4-FFF2-40B4-BE49-F238E27FC236}">
                <a16:creationId xmlns:a16="http://schemas.microsoft.com/office/drawing/2014/main" id="{36C205B5-147A-FED3-436C-081C11EC3DE6}"/>
              </a:ext>
            </a:extLst>
          </p:cNvPr>
          <p:cNvSpPr/>
          <p:nvPr/>
        </p:nvSpPr>
        <p:spPr>
          <a:xfrm>
            <a:off x="4622800" y="43815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" name="Shape_22">
            <a:extLst>
              <a:ext uri="{FF2B5EF4-FFF2-40B4-BE49-F238E27FC236}">
                <a16:creationId xmlns:a16="http://schemas.microsoft.com/office/drawing/2014/main" id="{A212A6E1-4D59-D983-2DF0-8AF863ECE167}"/>
              </a:ext>
            </a:extLst>
          </p:cNvPr>
          <p:cNvSpPr/>
          <p:nvPr/>
        </p:nvSpPr>
        <p:spPr>
          <a:xfrm>
            <a:off x="7162800" y="43815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" name="Shape_23">
            <a:extLst>
              <a:ext uri="{FF2B5EF4-FFF2-40B4-BE49-F238E27FC236}">
                <a16:creationId xmlns:a16="http://schemas.microsoft.com/office/drawing/2014/main" id="{651E7FA2-1D70-F6B5-EE9E-7BBE4E06DCC8}"/>
              </a:ext>
            </a:extLst>
          </p:cNvPr>
          <p:cNvSpPr/>
          <p:nvPr/>
        </p:nvSpPr>
        <p:spPr>
          <a:xfrm>
            <a:off x="9702800" y="43815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CC4544-6F06-66F8-42AB-F6B72A5C4558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Are evals and weights fixed? No.</a:t>
            </a:r>
          </a:p>
        </p:txBody>
      </p:sp>
    </p:spTree>
    <p:extLst>
      <p:ext uri="{BB962C8B-B14F-4D97-AF65-F5344CB8AC3E}">
        <p14:creationId xmlns:p14="http://schemas.microsoft.com/office/powerpoint/2010/main" val="3333816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CFE39-3E89-5D88-C95F-DC329FDEA480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3584C8-5582-FDFA-CA81-66DE824E23F7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Scoring Isn't One-and-Done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EF01E-7656-D220-3336-52F7A8F9C583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Set it once, it keeps working</a:t>
            </a:r>
          </a:p>
        </p:txBody>
      </p:sp>
      <p:sp>
        <p:nvSpPr>
          <p:cNvPr id="5" name="Shape_40">
            <a:extLst>
              <a:ext uri="{FF2B5EF4-FFF2-40B4-BE49-F238E27FC236}">
                <a16:creationId xmlns:a16="http://schemas.microsoft.com/office/drawing/2014/main" id="{DBF3D459-207A-0348-56B5-EE4575B1965B}"/>
              </a:ext>
            </a:extLst>
          </p:cNvPr>
          <p:cNvSpPr/>
          <p:nvPr/>
        </p:nvSpPr>
        <p:spPr>
          <a:xfrm>
            <a:off x="1016000" y="2159000"/>
            <a:ext cx="4826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41">
            <a:extLst>
              <a:ext uri="{FF2B5EF4-FFF2-40B4-BE49-F238E27FC236}">
                <a16:creationId xmlns:a16="http://schemas.microsoft.com/office/drawing/2014/main" id="{3911EBBD-34A5-83ED-7F0E-BCCCE83E99C6}"/>
              </a:ext>
            </a:extLst>
          </p:cNvPr>
          <p:cNvSpPr/>
          <p:nvPr/>
        </p:nvSpPr>
        <p:spPr>
          <a:xfrm>
            <a:off x="6350000" y="2159000"/>
            <a:ext cx="4826000" cy="3429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38F3E7-0C17-77A5-0332-4A36540DAA58}"/>
              </a:ext>
            </a:extLst>
          </p:cNvPr>
          <p:cNvCxnSpPr/>
          <p:nvPr/>
        </p:nvCxnSpPr>
        <p:spPr>
          <a:xfrm>
            <a:off x="508000" y="62865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DE5FB1-70C4-1C2D-6FFE-24B33FB4D1EE}"/>
              </a:ext>
            </a:extLst>
          </p:cNvPr>
          <p:cNvSpPr txBox="1"/>
          <p:nvPr/>
        </p:nvSpPr>
        <p:spPr>
          <a:xfrm>
            <a:off x="508000" y="63881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50992-BA12-0EAD-A858-9F1DFC396144}"/>
              </a:ext>
            </a:extLst>
          </p:cNvPr>
          <p:cNvSpPr txBox="1"/>
          <p:nvPr/>
        </p:nvSpPr>
        <p:spPr>
          <a:xfrm>
            <a:off x="10922000" y="63881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8 / 9</a:t>
            </a:r>
          </a:p>
        </p:txBody>
      </p:sp>
      <p:sp>
        <p:nvSpPr>
          <p:cNvPr id="10" name="Shape_42">
            <a:extLst>
              <a:ext uri="{FF2B5EF4-FFF2-40B4-BE49-F238E27FC236}">
                <a16:creationId xmlns:a16="http://schemas.microsoft.com/office/drawing/2014/main" id="{852495C1-5A5A-D88A-975A-E2EC87971011}"/>
              </a:ext>
            </a:extLst>
          </p:cNvPr>
          <p:cNvSpPr/>
          <p:nvPr/>
        </p:nvSpPr>
        <p:spPr>
          <a:xfrm>
            <a:off x="3111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" name="Shape_43">
            <a:extLst>
              <a:ext uri="{FF2B5EF4-FFF2-40B4-BE49-F238E27FC236}">
                <a16:creationId xmlns:a16="http://schemas.microsoft.com/office/drawing/2014/main" id="{C59BA27D-31CF-777E-18FB-F39F3DC64DF1}"/>
              </a:ext>
            </a:extLst>
          </p:cNvPr>
          <p:cNvSpPr/>
          <p:nvPr/>
        </p:nvSpPr>
        <p:spPr>
          <a:xfrm>
            <a:off x="8445500" y="2540000"/>
            <a:ext cx="635000" cy="635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F1E3B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FEF59-88AE-8C63-D64F-387B95EE8206}"/>
              </a:ext>
            </a:extLst>
          </p:cNvPr>
          <p:cNvSpPr txBox="1"/>
          <p:nvPr/>
        </p:nvSpPr>
        <p:spPr>
          <a:xfrm>
            <a:off x="1270000" y="33655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SCHEDULING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612A15-F281-8339-5E1C-6C72C0AB3CE9}"/>
              </a:ext>
            </a:extLst>
          </p:cNvPr>
          <p:cNvSpPr txBox="1"/>
          <p:nvPr/>
        </p:nvSpPr>
        <p:spPr>
          <a:xfrm>
            <a:off x="6604000" y="33655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rial" panose="020B0604020202020204" pitchFamily="34" charset="0"/>
              </a:rPr>
              <a:t>ACCURACY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BDDDFA-5B4A-8C9E-69A6-F9C412844F58}"/>
              </a:ext>
            </a:extLst>
          </p:cNvPr>
          <p:cNvSpPr txBox="1"/>
          <p:nvPr/>
        </p:nvSpPr>
        <p:spPr>
          <a:xfrm>
            <a:off x="1270000" y="3657600"/>
            <a:ext cx="431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Scheduled Cadence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3D8B1-B1D1-F3D8-1556-420832F8EA3F}"/>
              </a:ext>
            </a:extLst>
          </p:cNvPr>
          <p:cNvSpPr txBox="1"/>
          <p:nvPr/>
        </p:nvSpPr>
        <p:spPr>
          <a:xfrm>
            <a:off x="6604000" y="3657600"/>
            <a:ext cx="431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Accuracy Improves Over Time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239965-FAE4-303C-0497-0FA0C8BE8108}"/>
              </a:ext>
            </a:extLst>
          </p:cNvPr>
          <p:cNvSpPr txBox="1"/>
          <p:nvPr/>
        </p:nvSpPr>
        <p:spPr>
          <a:xfrm>
            <a:off x="1270000" y="4254500"/>
            <a:ext cx="431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94A3B8"/>
                </a:solidFill>
                <a:latin typeface="Arial" panose="020B0604020202020204" pitchFamily="34" charset="0"/>
              </a:rPr>
              <a:t>Set how often scoring runs and how far back it looks (lookback window)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412B3C-DBF3-CF05-D53C-1BB0853A64E4}"/>
              </a:ext>
            </a:extLst>
          </p:cNvPr>
          <p:cNvSpPr txBox="1"/>
          <p:nvPr/>
        </p:nvSpPr>
        <p:spPr>
          <a:xfrm>
            <a:off x="6604000" y="4254500"/>
            <a:ext cx="431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94A3B8"/>
                </a:solidFill>
                <a:latin typeface="Arial" panose="020B0604020202020204" pitchFamily="34" charset="0"/>
              </a:rPr>
              <a:t>More traces in, more accurate scoring out - each rerun sharpens the picture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4BF04-7F5E-CE75-BBA3-8D5BF30AC717}"/>
              </a:ext>
            </a:extLst>
          </p:cNvPr>
          <p:cNvSpPr txBox="1"/>
          <p:nvPr/>
        </p:nvSpPr>
        <p:spPr>
          <a:xfrm>
            <a:off x="762000" y="5842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</a:rPr>
              <a:t>No need to trigger scoring by hand every time.</a:t>
            </a:r>
          </a:p>
        </p:txBody>
      </p:sp>
    </p:spTree>
    <p:extLst>
      <p:ext uri="{BB962C8B-B14F-4D97-AF65-F5344CB8AC3E}">
        <p14:creationId xmlns:p14="http://schemas.microsoft.com/office/powerpoint/2010/main" val="174965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9441D-6FF3-E7C6-3004-D952E8853A81}"/>
              </a:ext>
            </a:extLst>
          </p:cNvPr>
          <p:cNvSpPr txBox="1"/>
          <p:nvPr/>
        </p:nvSpPr>
        <p:spPr>
          <a:xfrm>
            <a:off x="762000" y="5842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Root-Cause Attribution -&gt; Fix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E8BBD-D221-611F-A297-9D47552F7A61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i="1">
                <a:solidFill>
                  <a:srgbClr val="C7D2E3"/>
                </a:solidFill>
                <a:latin typeface="Arial" panose="020B0604020202020204" pitchFamily="34" charset="0"/>
              </a:rPr>
              <a:t>The feature that drew the most enthusiasm, unprompted</a:t>
            </a:r>
          </a:p>
        </p:txBody>
      </p:sp>
      <p:sp>
        <p:nvSpPr>
          <p:cNvPr id="4" name="Shape_10">
            <a:extLst>
              <a:ext uri="{FF2B5EF4-FFF2-40B4-BE49-F238E27FC236}">
                <a16:creationId xmlns:a16="http://schemas.microsoft.com/office/drawing/2014/main" id="{77C973A5-F1BF-FBC4-600D-C5D2949FD56B}"/>
              </a:ext>
            </a:extLst>
          </p:cNvPr>
          <p:cNvSpPr/>
          <p:nvPr/>
        </p:nvSpPr>
        <p:spPr>
          <a:xfrm>
            <a:off x="889000" y="2794000"/>
            <a:ext cx="2413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E85B5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Failing Eval Detected</a:t>
            </a:r>
          </a:p>
        </p:txBody>
      </p:sp>
      <p:sp>
        <p:nvSpPr>
          <p:cNvPr id="5" name="Shape_11">
            <a:extLst>
              <a:ext uri="{FF2B5EF4-FFF2-40B4-BE49-F238E27FC236}">
                <a16:creationId xmlns:a16="http://schemas.microsoft.com/office/drawing/2014/main" id="{36DCA849-E2B3-E1F0-AA61-4BE1493FC4E0}"/>
              </a:ext>
            </a:extLst>
          </p:cNvPr>
          <p:cNvSpPr/>
          <p:nvPr/>
        </p:nvSpPr>
        <p:spPr>
          <a:xfrm>
            <a:off x="3556000" y="2794000"/>
            <a:ext cx="2413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A78BF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Attribution Pass Runs</a:t>
            </a:r>
          </a:p>
        </p:txBody>
      </p:sp>
      <p:sp>
        <p:nvSpPr>
          <p:cNvPr id="6" name="Shape_12">
            <a:extLst>
              <a:ext uri="{FF2B5EF4-FFF2-40B4-BE49-F238E27FC236}">
                <a16:creationId xmlns:a16="http://schemas.microsoft.com/office/drawing/2014/main" id="{90819CF7-62AD-DAB9-3043-1857468D53D0}"/>
              </a:ext>
            </a:extLst>
          </p:cNvPr>
          <p:cNvSpPr/>
          <p:nvPr/>
        </p:nvSpPr>
        <p:spPr>
          <a:xfrm>
            <a:off x="6223000" y="2794000"/>
            <a:ext cx="2413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rgbClr val="38BDF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Root Cause Pinpointed to a Trace</a:t>
            </a:r>
          </a:p>
        </p:txBody>
      </p:sp>
      <p:sp>
        <p:nvSpPr>
          <p:cNvPr id="7" name="Shape_13">
            <a:extLst>
              <a:ext uri="{FF2B5EF4-FFF2-40B4-BE49-F238E27FC236}">
                <a16:creationId xmlns:a16="http://schemas.microsoft.com/office/drawing/2014/main" id="{1857EDF2-ABDF-86F0-C097-DBE5B1AA18CD}"/>
              </a:ext>
            </a:extLst>
          </p:cNvPr>
          <p:cNvSpPr/>
          <p:nvPr/>
        </p:nvSpPr>
        <p:spPr>
          <a:xfrm>
            <a:off x="8890000" y="2794000"/>
            <a:ext cx="2413000" cy="1778000"/>
          </a:xfrm>
          <a:prstGeom prst="roundRect">
            <a:avLst/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Specific Fix Recommendation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D80C8-CA24-7B14-3B9D-31E4A5C306A6}"/>
              </a:ext>
            </a:extLst>
          </p:cNvPr>
          <p:cNvSpPr txBox="1"/>
          <p:nvPr/>
        </p:nvSpPr>
        <p:spPr>
          <a:xfrm>
            <a:off x="33528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41A9C-E593-3DA7-9421-EAA916B115C5}"/>
              </a:ext>
            </a:extLst>
          </p:cNvPr>
          <p:cNvSpPr txBox="1"/>
          <p:nvPr/>
        </p:nvSpPr>
        <p:spPr>
          <a:xfrm>
            <a:off x="60198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D1D82-C6E8-CF85-F324-8B93672F3BC9}"/>
              </a:ext>
            </a:extLst>
          </p:cNvPr>
          <p:cNvSpPr txBox="1"/>
          <p:nvPr/>
        </p:nvSpPr>
        <p:spPr>
          <a:xfrm>
            <a:off x="8686800" y="3429000"/>
            <a:ext cx="2032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94A3B8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A8F14-A1B5-D813-1D86-6DA741842B99}"/>
              </a:ext>
            </a:extLst>
          </p:cNvPr>
          <p:cNvSpPr txBox="1"/>
          <p:nvPr/>
        </p:nvSpPr>
        <p:spPr>
          <a:xfrm>
            <a:off x="762000" y="5080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</a:rPr>
              <a:t>Fix it, rerun a scoring run, confirm it passes - same loop every time.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E3FBAA-AE0B-B5D1-9A2D-8085A6EDBAA1}"/>
              </a:ext>
            </a:extLst>
          </p:cNvPr>
          <p:cNvSpPr txBox="1"/>
          <p:nvPr/>
        </p:nvSpPr>
        <p:spPr>
          <a:xfrm>
            <a:off x="508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Tricentis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85FA4-BFF0-5631-7CC6-D9B6C9EA51F3}"/>
              </a:ext>
            </a:extLst>
          </p:cNvPr>
          <p:cNvSpPr txBox="1"/>
          <p:nvPr/>
        </p:nvSpPr>
        <p:spPr>
          <a:xfrm>
            <a:off x="10922000" y="63500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>
                <a:solidFill>
                  <a:srgbClr val="94A3B8"/>
                </a:solidFill>
                <a:latin typeface="Arial" panose="020B0604020202020204" pitchFamily="34" charset="0"/>
              </a:rPr>
              <a:t>9 /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B90112-12C2-AA8B-3E89-C42B0477EEA6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9525" cap="flat" cmpd="sng" algn="ctr">
            <a:solidFill>
              <a:srgbClr val="2A3E6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E86B2CE-FD0F-E796-B727-8EF5761D4835}"/>
              </a:ext>
            </a:extLst>
          </p:cNvPr>
          <p:cNvSpPr txBox="1"/>
          <p:nvPr/>
        </p:nvSpPr>
        <p:spPr>
          <a:xfrm>
            <a:off x="762000" y="2794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38BDF8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16" name="Shape_24">
            <a:extLst>
              <a:ext uri="{FF2B5EF4-FFF2-40B4-BE49-F238E27FC236}">
                <a16:creationId xmlns:a16="http://schemas.microsoft.com/office/drawing/2014/main" id="{7CC0F6B7-3738-D666-0045-4798057658A8}"/>
              </a:ext>
            </a:extLst>
          </p:cNvPr>
          <p:cNvSpPr/>
          <p:nvPr/>
        </p:nvSpPr>
        <p:spPr>
          <a:xfrm>
            <a:off x="1892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" name="Shape_25">
            <a:extLst>
              <a:ext uri="{FF2B5EF4-FFF2-40B4-BE49-F238E27FC236}">
                <a16:creationId xmlns:a16="http://schemas.microsoft.com/office/drawing/2014/main" id="{FADC711B-3D1A-0E0C-884D-B8415783D1F0}"/>
              </a:ext>
            </a:extLst>
          </p:cNvPr>
          <p:cNvSpPr/>
          <p:nvPr/>
        </p:nvSpPr>
        <p:spPr>
          <a:xfrm>
            <a:off x="4559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" name="Shape_26">
            <a:extLst>
              <a:ext uri="{FF2B5EF4-FFF2-40B4-BE49-F238E27FC236}">
                <a16:creationId xmlns:a16="http://schemas.microsoft.com/office/drawing/2014/main" id="{ACB7EF4D-82BE-0F8B-6A35-D13D8BEEBB62}"/>
              </a:ext>
            </a:extLst>
          </p:cNvPr>
          <p:cNvSpPr/>
          <p:nvPr/>
        </p:nvSpPr>
        <p:spPr>
          <a:xfrm>
            <a:off x="7226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" name="Shape_27">
            <a:extLst>
              <a:ext uri="{FF2B5EF4-FFF2-40B4-BE49-F238E27FC236}">
                <a16:creationId xmlns:a16="http://schemas.microsoft.com/office/drawing/2014/main" id="{61C93609-1984-FF16-BB28-FEB8D374AA62}"/>
              </a:ext>
            </a:extLst>
          </p:cNvPr>
          <p:cNvSpPr/>
          <p:nvPr/>
        </p:nvSpPr>
        <p:spPr>
          <a:xfrm>
            <a:off x="9893300" y="2311400"/>
            <a:ext cx="406400" cy="4064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F1E3B"/>
                </a:solidFill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083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1E3B"/>
      </a:lt1>
      <a:dk2>
        <a:srgbClr val="C7D2E3"/>
      </a:dk2>
      <a:lt2>
        <a:srgbClr val="16294C"/>
      </a:lt2>
      <a:accent1>
        <a:srgbClr val="F2994A"/>
      </a:accent1>
      <a:accent2>
        <a:srgbClr val="38BDF8"/>
      </a:accent2>
      <a:accent3>
        <a:srgbClr val="E85B5B"/>
      </a:accent3>
      <a:accent4>
        <a:srgbClr val="4ADE80"/>
      </a:accent4>
      <a:accent5>
        <a:srgbClr val="A78BFA"/>
      </a:accent5>
      <a:accent6>
        <a:srgbClr val="94A3B8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685</Words>
  <Application>Microsoft Macintosh PowerPoint</Application>
  <PresentationFormat>Widescreen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Demers</dc:creator>
  <cp:lastModifiedBy>Andrew Demers</cp:lastModifiedBy>
  <cp:revision>5</cp:revision>
  <dcterms:created xsi:type="dcterms:W3CDTF">2026-09-23T21:21:15Z</dcterms:created>
  <dcterms:modified xsi:type="dcterms:W3CDTF">2026-09-24T14:21:28Z</dcterms:modified>
</cp:coreProperties>
</file>