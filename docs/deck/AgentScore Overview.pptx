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7" d="100"/>
          <a:sy n="107" d="100"/>
        </p:scale>
        <p:origin x="128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Composite</c:v>
          </c:tx>
          <c:dPt>
            <c:idx val="0"/>
            <c:bubble3D val="0"/>
            <c:spPr>
              <a:solidFill>
                <a:srgbClr val="0087AE"/>
              </a:solidFill>
            </c:spPr>
            <c:extLst>
              <c:ext xmlns:c16="http://schemas.microsoft.com/office/drawing/2014/chart" uri="{C3380CC4-5D6E-409C-BE32-E72D297353CC}">
                <c16:uniqueId val="{00000001-0147-074A-AD73-FDDF9CBAB963}"/>
              </c:ext>
            </c:extLst>
          </c:dPt>
          <c:dPt>
            <c:idx val="1"/>
            <c:bubble3D val="0"/>
            <c:spPr>
              <a:solidFill>
                <a:srgbClr val="E8EEF6"/>
              </a:solidFill>
            </c:spPr>
            <c:extLst>
              <c:ext xmlns:c16="http://schemas.microsoft.com/office/drawing/2014/chart" uri="{C3380CC4-5D6E-409C-BE32-E72D297353CC}">
                <c16:uniqueId val="{00000003-0147-074A-AD73-FDDF9CBAB963}"/>
              </c:ext>
            </c:extLst>
          </c:dPt>
          <c:cat>
            <c:strLit>
              <c:ptCount val="2"/>
              <c:pt idx="0">
                <c:v>Score</c:v>
              </c:pt>
              <c:pt idx="1">
                <c:v>Remaining</c:v>
              </c:pt>
            </c:strLit>
          </c:cat>
          <c:val>
            <c:numLit>
              <c:formatCode>General</c:formatCode>
              <c:ptCount val="2"/>
              <c:pt idx="0">
                <c:v>92</c:v>
              </c:pt>
              <c:pt idx="1">
                <c:v>8</c:v>
              </c:pt>
            </c:numLit>
          </c:val>
          <c:extLst>
            <c:ext xmlns:c16="http://schemas.microsoft.com/office/drawing/2014/chart" uri="{C3380CC4-5D6E-409C-BE32-E72D297353CC}">
              <c16:uniqueId val="{00000004-0147-074A-AD73-FDDF9CBAB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</c:plotArea>
    <c:plotVisOnly val="1"/>
    <c:dispBlanksAs val="gap"/>
    <c:showDLblsOverMax val="1"/>
  </c:chart>
</c:chartSpace>
</file>

<file path=ppt/charts/chart2.xml><?xml version="1.0" encoding="utf-8"?>
<c:chartSpace xmlns:c15="http://schemas.microsoft.com/office/drawing/2012/chart" xmlns:c16="http://schemas.microsoft.com/office/drawing/2014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Score</c:v>
          </c:tx>
          <c:spPr>
            <a:solidFill>
              <a:srgbClr val="0087AE"/>
            </a:solidFill>
          </c:spPr>
          <c:invertIfNegative val="0"/>
          <c:dPt>
            <c:idx val="0"/>
            <c:spPr>
              <a:solidFill>
                <a:srgbClr val="FF6C0E"/>
              </a:solidFill>
            </c:spPr>
          </c:dPt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Tool Use</c:v>
              </c:pt>
              <c:pt idx="1">
                <c:v>Consistency</c:v>
              </c:pt>
              <c:pt idx="2">
                <c:v>Safety</c:v>
              </c:pt>
              <c:pt idx="3">
                <c:v>Relevance</c:v>
              </c:pt>
              <c:pt idx="4">
                <c:v>Efficiency</c:v>
              </c:pt>
              <c:pt idx="5">
                <c:v>Correctness</c:v>
              </c:pt>
            </c:strLit>
          </c:cat>
          <c:val>
            <c:numLit>
              <c:formatCode>General</c:formatCode>
              <c:ptCount val="6"/>
              <c:pt idx="0">
                <c:v>68</c:v>
              </c:pt>
              <c:pt idx="1">
                <c:v>79</c:v>
              </c:pt>
              <c:pt idx="2">
                <c:v>97</c:v>
              </c:pt>
              <c:pt idx="3">
                <c:v>91</c:v>
              </c:pt>
              <c:pt idx="4">
                <c:v>88</c:v>
              </c:pt>
              <c:pt idx="5">
                <c:v>94</c:v>
              </c:pt>
            </c:numLit>
          </c:val>
          <c:extLst>
            <c:ext xmlns:c16="http://schemas.microsoft.com/office/drawing/2014/chart" uri="{C3380CC4-5D6E-409C-BE32-E72D297353CC}">
              <c16:uniqueId val="{00000000-AF0B-9E45-825E-F0F12282DE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00"/>
          <c:min val="0"/>
        </c:scaling>
        <c:delete val="1"/>
        <c:axPos val="b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32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on the tagline before anything else – it is the thesis the whole deck proves. Introduce yourself and frame this as a working session on agent quality, not a generic AI pitch.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Skip this slide for pitches under 15 minutes. Otherwise move through it quickly – it is a map, not content.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Pause after the question – let it sit uncomfortably. Do not answer it yet, that comes on the Problem slide. If you know the prospect's own agents, gesture at them here.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Ground this in the prospect's own agents if you know them (support bot, coding assistant, test generator). Keep it domain-agnostic if you don't – it lands for any team running agents.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how pivot of the pitch. Emphasize zero lift to start – plug in the OTel exporter they likely already have and get signal immediately, no manual spec-writing up front.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a simplified, presentation-friendly version of the full engineering flow (profile assignment, eval selection, scoring). The complete diagram with every decision branch is available as a technical appendix on request – don't overclaim detail live, point to the leave-behind.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credibility slide. Confidence intervals and minimum-sample gating are the sharpest differentiator versus every named competitor – say so explicitly. Walk through the dimension bars and call out that Tool Use is the one to watch, then explain the safety-override rule: a single unsafe signal can force a fail regardless of the composite.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Contrast with a plain pass/fail dashboard. Most eval tools stop at the red X – AgentScore traces back to the failing step, shows the evidence chain, and recommends exactly what to fix. Debugging an agent stops being guesswork and starts being an answer.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Tricentis-installed-base prospects, lead with the Tosca/qTest surfacing – it is the wedge a standalone eval vendor cannot offer. No proprietary SDK means it bolts onto LangChain, LangGraph, OpenAI Agents SDK, AutoGen, CrewAI, or a custom loop.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 honest in the room about maturity – position as the rigor and integration path competitors don't have, not as more features than everyone. If asked directly about Decagon, acknowledge their strength in turnkey auto-generated tests for pure support use cases, then pivot to cross-domain plus statistical rigor.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prospect asks who else uses this, be straight about where the product is in its lifecycle – pilot and design-partner framing is a legitimate and honest sales motion pre-GA. Do not imply production references that don't exist yet.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directional. Exact credit-to-dollar conversion is not finalized – do not quote numbers that are not approved.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this slide light and directional – it is a we are listening to design partners moment, not a committed roadmap.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on the exact line from the video's CTA scene – it is the tagline everyone should leave remembering. Concrete next step: schedule a 30-minute technical walkthrough, or connect a sandbox OTel trace live in the room.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Leave-behind slides for technical follow-up questions – not presented live unless asked.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Reference only – pull up if a technical stakeholder asks what the extended dimensions cover beyond the six shown on the live score demo.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Architecture leans client-side storage with cloud processing and a configurable proxy, still being validated against customer interviews per the product plan – do not overstate this as finalized.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264A"/>
            </a:gs>
            <a:gs pos="100000">
              <a:srgbClr val="254A7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WordAgent"/>
          <p:cNvSpPr txBox="1"/>
          <p:nvPr/>
        </p:nvSpPr>
        <p:spPr>
          <a:xfrm>
            <a:off x="3218400" y="2448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6000" b="1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</a:p>
        </p:txBody>
      </p:sp>
      <p:sp>
        <p:nvSpPr>
          <p:cNvPr id="100001" name="WordScore"/>
          <p:cNvSpPr txBox="1"/>
          <p:nvPr/>
        </p:nvSpPr>
        <p:spPr>
          <a:xfrm>
            <a:off x="6098400" y="2448000"/>
            <a:ext cx="2880000" cy="10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6000" b="1">
                <a:solidFill>
                  <a:srgbClr val="FF6C0E"/>
                </a:solidFill>
                <a:latin typeface="Trebuchet MS"/>
                <a:ea typeface="Trebuchet MS"/>
              </a:rPr>
              <a:t>Score</a:t>
            </a:r>
          </a:p>
        </p:txBody>
      </p:sp>
      <p:sp>
        <p:nvSpPr>
          <p:cNvPr id="100002" name="Tagline"/>
          <p:cNvSpPr txBox="1"/>
          <p:nvPr/>
        </p:nvSpPr>
        <p:spPr>
          <a:xfrm>
            <a:off x="720000" y="3708000"/>
            <a:ext cx="1075320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800" b="1">
                <a:solidFill>
                  <a:srgbClr val="59C8E6"/>
                </a:solidFill>
                <a:latin typeface="Calibri"/>
                <a:ea typeface="Calibri"/>
              </a:rPr>
              <a:t>Stop guessing whether your agents work.</a:t>
            </a:r>
          </a:p>
        </p:txBody>
      </p:sp>
      <p:sp>
        <p:nvSpPr>
          <p:cNvPr id="100003" name="Subtitle"/>
          <p:cNvSpPr txBox="1"/>
          <p:nvPr/>
        </p:nvSpPr>
        <p:spPr>
          <a:xfrm>
            <a:off x="720000" y="4428000"/>
            <a:ext cx="10753200" cy="7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dirty="0" err="1">
                <a:solidFill>
                  <a:srgbClr val="CADCFC"/>
                </a:solidFill>
                <a:latin typeface="Calibri"/>
                <a:ea typeface="Calibri"/>
              </a:rPr>
              <a:t>AgentScore</a:t>
            </a:r>
            <a:r>
              <a:rPr lang="en-US" sz="1600">
                <a:solidFill>
                  <a:srgbClr val="CADCFC"/>
                </a:solidFill>
                <a:latin typeface="Calibri"/>
                <a:ea typeface="Calibri"/>
              </a:rPr>
              <a:t> - </a:t>
            </a:r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</a:rPr>
              <a:t>Evaluation Platform for AI Agents</a:t>
            </a:r>
          </a:p>
          <a:p>
            <a:pPr algn="ctr"/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</a:rPr>
              <a:t>Product Overview  ·  22 July 2026</a:t>
            </a:r>
          </a:p>
        </p:txBody>
      </p:sp>
      <p:sp>
        <p:nvSpPr>
          <p:cNvPr id="100004" name="CTAPill"/>
          <p:cNvSpPr/>
          <p:nvPr/>
        </p:nvSpPr>
        <p:spPr>
          <a:xfrm>
            <a:off x="4836600" y="5508000"/>
            <a:ext cx="2520000" cy="504000"/>
          </a:xfrm>
          <a:prstGeom prst="roundRect">
            <a:avLst>
              <a:gd name="adj" fmla="val 50000"/>
            </a:avLst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Request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B365D"/>
                </a:solidFill>
                <a:latin typeface="Trebuchet MS"/>
                <a:ea typeface="Trebuchet MS"/>
              </a:rPr>
              <a:t>What we'll cover</a:t>
            </a:r>
          </a:p>
        </p:txBody>
      </p:sp>
      <p:sp>
        <p:nvSpPr>
          <p:cNvPr id="100006" name="AC1"/>
          <p:cNvSpPr/>
          <p:nvPr/>
        </p:nvSpPr>
        <p:spPr>
          <a:xfrm>
            <a:off x="900000" y="162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7" name="TextBox 3"/>
          <p:cNvSpPr txBox="1"/>
          <p:nvPr/>
        </p:nvSpPr>
        <p:spPr>
          <a:xfrm>
            <a:off x="1548000" y="160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The problem every team running agents in production hits</a:t>
            </a:r>
          </a:p>
        </p:txBody>
      </p:sp>
      <p:sp>
        <p:nvSpPr>
          <p:cNvPr id="100008" name="AC2"/>
          <p:cNvSpPr/>
          <p:nvPr/>
        </p:nvSpPr>
        <p:spPr>
          <a:xfrm>
            <a:off x="900000" y="234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9" name="TextBox 5"/>
          <p:cNvSpPr txBox="1"/>
          <p:nvPr/>
        </p:nvSpPr>
        <p:spPr>
          <a:xfrm>
            <a:off x="1548000" y="232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How AgentScore solves it</a:t>
            </a:r>
          </a:p>
        </p:txBody>
      </p:sp>
      <p:sp>
        <p:nvSpPr>
          <p:cNvPr id="100010" name="AC3"/>
          <p:cNvSpPr/>
          <p:nvPr/>
        </p:nvSpPr>
        <p:spPr>
          <a:xfrm>
            <a:off x="900000" y="306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1" name="TextBox 7"/>
          <p:cNvSpPr txBox="1"/>
          <p:nvPr/>
        </p:nvSpPr>
        <p:spPr>
          <a:xfrm>
            <a:off x="1548000" y="304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What the grade actually looks like</a:t>
            </a:r>
          </a:p>
        </p:txBody>
      </p:sp>
      <p:sp>
        <p:nvSpPr>
          <p:cNvPr id="100012" name="AC4"/>
          <p:cNvSpPr/>
          <p:nvPr/>
        </p:nvSpPr>
        <p:spPr>
          <a:xfrm>
            <a:off x="900000" y="378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00013" name="TextBox 9"/>
          <p:cNvSpPr txBox="1"/>
          <p:nvPr/>
        </p:nvSpPr>
        <p:spPr>
          <a:xfrm>
            <a:off x="1548000" y="376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Root-cause attribution, not just pass/fail</a:t>
            </a:r>
          </a:p>
        </p:txBody>
      </p:sp>
      <p:sp>
        <p:nvSpPr>
          <p:cNvPr id="100014" name="AC5"/>
          <p:cNvSpPr/>
          <p:nvPr/>
        </p:nvSpPr>
        <p:spPr>
          <a:xfrm>
            <a:off x="900000" y="450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100015" name="TextBox 11"/>
          <p:cNvSpPr txBox="1"/>
          <p:nvPr/>
        </p:nvSpPr>
        <p:spPr>
          <a:xfrm>
            <a:off x="1548000" y="448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How it fits your stack</a:t>
            </a:r>
          </a:p>
        </p:txBody>
      </p:sp>
      <p:sp>
        <p:nvSpPr>
          <p:cNvPr id="100016" name="AC6"/>
          <p:cNvSpPr/>
          <p:nvPr/>
        </p:nvSpPr>
        <p:spPr>
          <a:xfrm>
            <a:off x="900000" y="5220000"/>
            <a:ext cx="576000" cy="57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100017" name="TextBox 13"/>
          <p:cNvSpPr txBox="1"/>
          <p:nvPr/>
        </p:nvSpPr>
        <p:spPr>
          <a:xfrm>
            <a:off x="1548000" y="5202000"/>
            <a:ext cx="972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Why AgentScore,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54A7A"/>
            </a:gs>
            <a:gs pos="100000">
              <a:srgbClr val="12264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" name="LiveDot"/>
          <p:cNvSpPr/>
          <p:nvPr/>
        </p:nvSpPr>
        <p:spPr>
          <a:xfrm>
            <a:off x="5616000" y="1152000"/>
            <a:ext cx="252000" cy="252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endParaRPr/>
          </a:p>
        </p:txBody>
      </p:sp>
      <p:sp>
        <p:nvSpPr>
          <p:cNvPr id="100019" name="TextBox 2"/>
          <p:cNvSpPr txBox="1"/>
          <p:nvPr/>
        </p:nvSpPr>
        <p:spPr>
          <a:xfrm>
            <a:off x="720000" y="2736000"/>
            <a:ext cx="10753200" cy="7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Your agents are already live.</a:t>
            </a:r>
          </a:p>
        </p:txBody>
      </p:sp>
      <p:sp>
        <p:nvSpPr>
          <p:cNvPr id="100020" name="TextBox 3"/>
          <p:cNvSpPr txBox="1"/>
          <p:nvPr/>
        </p:nvSpPr>
        <p:spPr>
          <a:xfrm>
            <a:off x="720000" y="3564000"/>
            <a:ext cx="10753200" cy="93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600" b="1">
                <a:solidFill>
                  <a:srgbClr val="59C8E6"/>
                </a:solidFill>
                <a:latin typeface="Trebuchet MS"/>
                <a:ea typeface="Trebuchet MS"/>
              </a:rPr>
              <a:t>But is it actually working?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" name="TextBox 1"/>
          <p:cNvSpPr txBox="1"/>
          <p:nvPr/>
        </p:nvSpPr>
        <p:spPr>
          <a:xfrm>
            <a:off x="540000" y="432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1B365D"/>
                </a:solidFill>
                <a:latin typeface="Trebuchet MS"/>
                <a:ea typeface="Trebuchet MS"/>
              </a:rPr>
              <a:t>Evaluating AI agents is hard.</a:t>
            </a:r>
          </a:p>
        </p:txBody>
      </p:sp>
      <p:sp>
        <p:nvSpPr>
          <p:cNvPr id="100022" name="Card1"/>
          <p:cNvSpPr/>
          <p:nvPr/>
        </p:nvSpPr>
        <p:spPr>
          <a:xfrm>
            <a:off x="457200" y="1620000"/>
            <a:ext cx="3578400" cy="3564000"/>
          </a:xfrm>
          <a:prstGeom prst="roundRect">
            <a:avLst/>
          </a:prstGeom>
          <a:solidFill>
            <a:srgbClr val="F4F7FB"/>
          </a:solidFill>
          <a:ln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3" name="Icon1"/>
          <p:cNvSpPr/>
          <p:nvPr/>
        </p:nvSpPr>
        <p:spPr>
          <a:xfrm>
            <a:off x="745200" y="1908000"/>
            <a:ext cx="756000" cy="756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?</a:t>
            </a:r>
          </a:p>
        </p:txBody>
      </p:sp>
      <p:sp>
        <p:nvSpPr>
          <p:cNvPr id="100024" name="TextBox 4"/>
          <p:cNvSpPr txBox="1"/>
          <p:nvPr/>
        </p:nvSpPr>
        <p:spPr>
          <a:xfrm>
            <a:off x="745200" y="2664000"/>
            <a:ext cx="2988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1B365D"/>
                </a:solidFill>
                <a:latin typeface="Trebuchet MS"/>
                <a:ea typeface="Trebuchet MS"/>
              </a:rPr>
              <a:t>The blank-page problem</a:t>
            </a:r>
          </a:p>
        </p:txBody>
      </p:sp>
      <p:sp>
        <p:nvSpPr>
          <p:cNvPr id="100025" name="TextBox 5"/>
          <p:cNvSpPr txBox="1"/>
          <p:nvPr/>
        </p:nvSpPr>
        <p:spPr>
          <a:xfrm>
            <a:off x="745200" y="3492000"/>
            <a:ext cx="2988000" cy="15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You don't even know what to test.</a:t>
            </a:r>
          </a:p>
        </p:txBody>
      </p:sp>
      <p:sp>
        <p:nvSpPr>
          <p:cNvPr id="100026" name="Card2"/>
          <p:cNvSpPr/>
          <p:nvPr/>
        </p:nvSpPr>
        <p:spPr>
          <a:xfrm>
            <a:off x="4309200" y="1620000"/>
            <a:ext cx="3578400" cy="3564000"/>
          </a:xfrm>
          <a:prstGeom prst="roundRect">
            <a:avLst/>
          </a:prstGeom>
          <a:solidFill>
            <a:srgbClr val="F4F7FB"/>
          </a:solidFill>
          <a:ln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27" name="Icon2"/>
          <p:cNvSpPr/>
          <p:nvPr/>
        </p:nvSpPr>
        <p:spPr>
          <a:xfrm>
            <a:off x="4597200" y="1908000"/>
            <a:ext cx="756000" cy="756000"/>
          </a:xfrm>
          <a:prstGeom prst="ellipse">
            <a:avLst/>
          </a:prstGeom>
          <a:solidFill>
            <a:srgbClr val="C0392B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X</a:t>
            </a:r>
          </a:p>
        </p:txBody>
      </p:sp>
      <p:sp>
        <p:nvSpPr>
          <p:cNvPr id="100028" name="TextBox 8"/>
          <p:cNvSpPr txBox="1"/>
          <p:nvPr/>
        </p:nvSpPr>
        <p:spPr>
          <a:xfrm>
            <a:off x="4597200" y="2664000"/>
            <a:ext cx="2988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1B365D"/>
                </a:solidFill>
                <a:latin typeface="Trebuchet MS"/>
                <a:ea typeface="Trebuchet MS"/>
              </a:rPr>
              <a:t>Testing the wrong things</a:t>
            </a:r>
          </a:p>
        </p:txBody>
      </p:sp>
      <p:sp>
        <p:nvSpPr>
          <p:cNvPr id="100029" name="TextBox 9"/>
          <p:cNvSpPr txBox="1"/>
          <p:nvPr/>
        </p:nvSpPr>
        <p:spPr>
          <a:xfrm>
            <a:off x="4597200" y="3492000"/>
            <a:ext cx="2988000" cy="15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Generic checks miss what actually matters – regressions slip through until a customer complains.</a:t>
            </a:r>
          </a:p>
        </p:txBody>
      </p:sp>
      <p:sp>
        <p:nvSpPr>
          <p:cNvPr id="100030" name="Card3"/>
          <p:cNvSpPr/>
          <p:nvPr/>
        </p:nvSpPr>
        <p:spPr>
          <a:xfrm>
            <a:off x="8159040" y="1620000"/>
            <a:ext cx="3578400" cy="3564000"/>
          </a:xfrm>
          <a:prstGeom prst="roundRect">
            <a:avLst/>
          </a:prstGeom>
          <a:solidFill>
            <a:srgbClr val="F4F7FB"/>
          </a:solidFill>
          <a:ln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31" name="Icon3"/>
          <p:cNvSpPr/>
          <p:nvPr/>
        </p:nvSpPr>
        <p:spPr>
          <a:xfrm>
            <a:off x="8447040" y="1908000"/>
            <a:ext cx="756000" cy="756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–</a:t>
            </a:r>
          </a:p>
        </p:txBody>
      </p:sp>
      <p:sp>
        <p:nvSpPr>
          <p:cNvPr id="100032" name="TextBox 12"/>
          <p:cNvSpPr txBox="1"/>
          <p:nvPr/>
        </p:nvSpPr>
        <p:spPr>
          <a:xfrm>
            <a:off x="8447040" y="2664000"/>
            <a:ext cx="2988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1B365D"/>
                </a:solidFill>
                <a:latin typeface="Trebuchet MS"/>
                <a:ea typeface="Trebuchet MS"/>
              </a:rPr>
              <a:t>No signal once you do</a:t>
            </a:r>
          </a:p>
        </p:txBody>
      </p:sp>
      <p:sp>
        <p:nvSpPr>
          <p:cNvPr id="100033" name="TextBox 13"/>
          <p:cNvSpPr txBox="1"/>
          <p:nvPr/>
        </p:nvSpPr>
        <p:spPr>
          <a:xfrm>
            <a:off x="8447040" y="3492000"/>
            <a:ext cx="2988000" cy="15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A pass/fail flag doesn't tell you why. Root-causing becomes a manual scavenger hunt.</a:t>
            </a:r>
          </a:p>
        </p:txBody>
      </p:sp>
      <p:sp>
        <p:nvSpPr>
          <p:cNvPr id="100034" name="TextBox 14"/>
          <p:cNvSpPr txBox="1"/>
          <p:nvPr/>
        </p:nvSpPr>
        <p:spPr>
          <a:xfrm>
            <a:off x="540000" y="5436000"/>
            <a:ext cx="1080000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 b="1">
                <a:solidFill>
                  <a:srgbClr val="0087AE"/>
                </a:solidFill>
                <a:latin typeface="Calibri"/>
                <a:ea typeface="Calibri"/>
              </a:rPr>
              <a:t>No objective basis for shipping the next update.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4C97"/>
            </a:gs>
            <a:gs pos="100000">
              <a:srgbClr val="0087AE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TextBox 1"/>
          <p:cNvSpPr txBox="1"/>
          <p:nvPr/>
        </p:nvSpPr>
        <p:spPr>
          <a:xfrm>
            <a:off x="720000" y="1152000"/>
            <a:ext cx="107532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</a:rPr>
              <a:t>AgentScore watches your agent work</a:t>
            </a:r>
          </a:p>
        </p:txBody>
      </p:sp>
      <p:sp>
        <p:nvSpPr>
          <p:cNvPr id="100036" name="TextBox 2"/>
          <p:cNvSpPr txBox="1"/>
          <p:nvPr/>
        </p:nvSpPr>
        <p:spPr>
          <a:xfrm>
            <a:off x="1440000" y="2340000"/>
            <a:ext cx="9313200" cy="100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It reads the OpenTelemetry traces your agent already emits – figuring out what matters before you write a single eval, and before anything ships.</a:t>
            </a:r>
          </a:p>
        </p:txBody>
      </p:sp>
      <p:sp>
        <p:nvSpPr>
          <p:cNvPr id="100037" name="TextBox 3"/>
          <p:cNvSpPr/>
          <p:nvPr/>
        </p:nvSpPr>
        <p:spPr>
          <a:xfrm>
            <a:off x="3794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38" name="TextBox 4"/>
          <p:cNvSpPr/>
          <p:nvPr/>
        </p:nvSpPr>
        <p:spPr>
          <a:xfrm>
            <a:off x="4586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39" name="TextBox 5"/>
          <p:cNvSpPr/>
          <p:nvPr/>
        </p:nvSpPr>
        <p:spPr>
          <a:xfrm>
            <a:off x="5378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40" name="TextBox 6"/>
          <p:cNvSpPr/>
          <p:nvPr/>
        </p:nvSpPr>
        <p:spPr>
          <a:xfrm>
            <a:off x="6170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41" name="TextBox 7"/>
          <p:cNvSpPr/>
          <p:nvPr/>
        </p:nvSpPr>
        <p:spPr>
          <a:xfrm>
            <a:off x="6962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42" name="TextBox 8"/>
          <p:cNvSpPr/>
          <p:nvPr/>
        </p:nvSpPr>
        <p:spPr>
          <a:xfrm>
            <a:off x="7754400" y="3672000"/>
            <a:ext cx="648000" cy="18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0043" name="TextBox 9"/>
          <p:cNvSpPr txBox="1"/>
          <p:nvPr/>
        </p:nvSpPr>
        <p:spPr>
          <a:xfrm>
            <a:off x="720000" y="4860000"/>
            <a:ext cx="10753200" cy="7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</a:rPr>
              <a:t>The shared evaluation layer for every agent on the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" name="TextBox 1"/>
          <p:cNvSpPr txBox="1"/>
          <p:nvPr/>
        </p:nvSpPr>
        <p:spPr>
          <a:xfrm>
            <a:off x="540000" y="360000"/>
            <a:ext cx="1080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B365D"/>
                </a:solidFill>
                <a:latin typeface="Trebuchet MS"/>
                <a:ea typeface="Trebuchet MS"/>
              </a:rPr>
              <a:t>How AgentScore works</a:t>
            </a:r>
          </a:p>
        </p:txBody>
      </p:sp>
      <p:sp>
        <p:nvSpPr>
          <p:cNvPr id="100045" name="TextBox 2"/>
          <p:cNvSpPr/>
          <p:nvPr/>
        </p:nvSpPr>
        <p:spPr>
          <a:xfrm>
            <a:off x="457200" y="1080000"/>
            <a:ext cx="3577320" cy="396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</p:spPr>
        <p:txBody>
          <a:bodyPr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1 · Profile Assignment</a:t>
            </a:r>
          </a:p>
        </p:txBody>
      </p:sp>
      <p:sp>
        <p:nvSpPr>
          <p:cNvPr id="100046" name="TextBox 3"/>
          <p:cNvSpPr/>
          <p:nvPr/>
        </p:nvSpPr>
        <p:spPr>
          <a:xfrm>
            <a:off x="4308120" y="1080000"/>
            <a:ext cx="3577320" cy="396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</p:spPr>
        <p:txBody>
          <a:bodyPr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2 · Eval Selection</a:t>
            </a:r>
          </a:p>
        </p:txBody>
      </p:sp>
      <p:sp>
        <p:nvSpPr>
          <p:cNvPr id="100047" name="TextBox 4"/>
          <p:cNvSpPr/>
          <p:nvPr/>
        </p:nvSpPr>
        <p:spPr>
          <a:xfrm>
            <a:off x="8159040" y="1080000"/>
            <a:ext cx="3577320" cy="396000"/>
          </a:xfrm>
          <a:prstGeom prst="roundRect">
            <a:avLst>
              <a:gd name="adj" fmla="val 8000"/>
            </a:avLst>
          </a:prstGeom>
          <a:solidFill>
            <a:srgbClr val="1B365D"/>
          </a:solidFill>
        </p:spPr>
        <p:txBody>
          <a:bodyPr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</a:rPr>
              <a:t>3 · Scoring</a:t>
            </a:r>
          </a:p>
        </p:txBody>
      </p:sp>
      <p:sp>
        <p:nvSpPr>
          <p:cNvPr id="100048" name="c1n1"/>
          <p:cNvSpPr/>
          <p:nvPr/>
        </p:nvSpPr>
        <p:spPr>
          <a:xfrm>
            <a:off x="457200" y="1656000"/>
            <a:ext cx="3577320" cy="468000"/>
          </a:xfrm>
          <a:prstGeom prst="roundRect">
            <a:avLst>
              <a:gd name="adj" fmla="val 50000"/>
            </a:avLst>
          </a:prstGeom>
          <a:solidFill>
            <a:srgbClr val="12264A"/>
          </a:solidFill>
        </p:spPr>
        <p:txBody>
          <a:bodyPr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New agent added</a:t>
            </a:r>
          </a:p>
        </p:txBody>
      </p:sp>
      <p:sp>
        <p:nvSpPr>
          <p:cNvPr id="100049" name="c1n2"/>
          <p:cNvSpPr/>
          <p:nvPr/>
        </p:nvSpPr>
        <p:spPr>
          <a:xfrm>
            <a:off x="457200" y="2304000"/>
            <a:ext cx="3577320" cy="828000"/>
          </a:xfrm>
          <a:prstGeom prst="rect">
            <a:avLst/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1B365D"/>
                </a:solidFill>
                <a:latin typeface="Calibri"/>
                <a:ea typeface="Calibri"/>
              </a:rPr>
              <a:t>System detects agent type (tools, retrieval, multi-turn, images) and assigns a starting profile</a:t>
            </a:r>
          </a:p>
        </p:txBody>
      </p:sp>
      <p:sp>
        <p:nvSpPr>
          <p:cNvPr id="100050" name="c1n3"/>
          <p:cNvSpPr/>
          <p:nvPr/>
        </p:nvSpPr>
        <p:spPr>
          <a:xfrm>
            <a:off x="457200" y="3312000"/>
            <a:ext cx="3577320" cy="936000"/>
          </a:xfrm>
          <a:prstGeom prst="diamond">
            <a:avLst/>
          </a:prstGeom>
          <a:solidFill>
            <a:srgbClr val="FFF3E6"/>
          </a:solidFill>
        </p:spPr>
        <p:txBody>
          <a:bodyPr/>
          <a:lstStyle/>
          <a:p>
            <a:pPr algn="ctr"/>
            <a:r>
              <a:rPr lang="en-US" sz="1200">
                <a:solidFill>
                  <a:srgbClr val="1B365D"/>
                </a:solidFill>
                <a:latin typeface="Calibri"/>
                <a:ea typeface="Calibri"/>
              </a:rPr>
              <a:t>Auto re-checked every run</a:t>
            </a:r>
          </a:p>
        </p:txBody>
      </p:sp>
      <p:sp>
        <p:nvSpPr>
          <p:cNvPr id="100051" name="c1n4"/>
          <p:cNvSpPr/>
          <p:nvPr/>
        </p:nvSpPr>
        <p:spPr>
          <a:xfrm>
            <a:off x="457200" y="4428000"/>
            <a:ext cx="3577320" cy="720000"/>
          </a:xfrm>
          <a:prstGeom prst="roundRect">
            <a:avLst>
              <a:gd name="adj" fmla="val 30000"/>
            </a:avLst>
          </a:prstGeom>
          <a:solidFill>
            <a:srgbClr val="E8F7F0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1B5E20"/>
                </a:solidFill>
                <a:latin typeface="Calibri"/>
                <a:ea typeface="Calibri"/>
              </a:rPr>
              <a:t>Fit maintained automatically – an admin lock always overrides the automatic switch</a:t>
            </a:r>
          </a:p>
        </p:txBody>
      </p:sp>
      <p:sp>
        <p:nvSpPr>
          <p:cNvPr id="100052" name="TextBox 9"/>
          <p:cNvSpPr txBox="1"/>
          <p:nvPr/>
        </p:nvSpPr>
        <p:spPr>
          <a:xfrm>
            <a:off x="457200" y="5292000"/>
            <a:ext cx="357732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>
                <a:solidFill>
                  <a:srgbClr val="6B7B93"/>
                </a:solidFill>
                <a:latin typeface="Calibri"/>
                <a:ea typeface="Calibri"/>
              </a:rPr>
              <a:t>Admin lock always overrides the automatic switch.</a:t>
            </a:r>
          </a:p>
        </p:txBody>
      </p:sp>
      <p:sp>
        <p:nvSpPr>
          <p:cNvPr id="100053" name="c2n1"/>
          <p:cNvSpPr/>
          <p:nvPr/>
        </p:nvSpPr>
        <p:spPr>
          <a:xfrm>
            <a:off x="4308120" y="1656000"/>
            <a:ext cx="3577320" cy="468000"/>
          </a:xfrm>
          <a:prstGeom prst="roundRect">
            <a:avLst>
              <a:gd name="adj" fmla="val 50000"/>
            </a:avLst>
          </a:prstGeom>
          <a:solidFill>
            <a:srgbClr val="12264A"/>
          </a:solidFill>
        </p:spPr>
        <p:txBody>
          <a:bodyPr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Scoring run requested</a:t>
            </a:r>
          </a:p>
        </p:txBody>
      </p:sp>
      <p:sp>
        <p:nvSpPr>
          <p:cNvPr id="100054" name="c2n2"/>
          <p:cNvSpPr/>
          <p:nvPr/>
        </p:nvSpPr>
        <p:spPr>
          <a:xfrm>
            <a:off x="4308120" y="2304000"/>
            <a:ext cx="3577320" cy="828000"/>
          </a:xfrm>
          <a:prstGeom prst="rect">
            <a:avLst/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1B365D"/>
                </a:solidFill>
                <a:latin typeface="Calibri"/>
                <a:ea typeface="Calibri"/>
              </a:rPr>
              <a:t>Loads the agent's locked profile and its pinned, version-controlled eval list</a:t>
            </a:r>
          </a:p>
        </p:txBody>
      </p:sp>
      <p:sp>
        <p:nvSpPr>
          <p:cNvPr id="100055" name="c2n3"/>
          <p:cNvSpPr/>
          <p:nvPr/>
        </p:nvSpPr>
        <p:spPr>
          <a:xfrm>
            <a:off x="4308120" y="3312000"/>
            <a:ext cx="3577320" cy="936000"/>
          </a:xfrm>
          <a:prstGeom prst="diamond">
            <a:avLst/>
          </a:prstGeom>
          <a:solidFill>
            <a:srgbClr val="FFF3E6"/>
          </a:solidFill>
        </p:spPr>
        <p:txBody>
          <a:bodyPr/>
          <a:lstStyle/>
          <a:p>
            <a:pPr algn="ctr"/>
            <a:r>
              <a:rPr lang="en-US" sz="1200">
                <a:solidFill>
                  <a:srgbClr val="1B365D"/>
                </a:solidFill>
                <a:latin typeface="Calibri"/>
                <a:ea typeface="Calibri"/>
              </a:rPr>
              <a:t>Eval enabled &amp; data available?</a:t>
            </a:r>
          </a:p>
        </p:txBody>
      </p:sp>
      <p:sp>
        <p:nvSpPr>
          <p:cNvPr id="100056" name="c2n4"/>
          <p:cNvSpPr/>
          <p:nvPr/>
        </p:nvSpPr>
        <p:spPr>
          <a:xfrm>
            <a:off x="4308120" y="4428000"/>
            <a:ext cx="3577320" cy="720000"/>
          </a:xfrm>
          <a:prstGeom prst="roundRect">
            <a:avLst>
              <a:gd name="adj" fmla="val 30000"/>
            </a:avLst>
          </a:prstGeom>
          <a:solidFill>
            <a:srgbClr val="E8F7F0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1B5E20"/>
                </a:solidFill>
                <a:latin typeface="Calibri"/>
                <a:ea typeface="Calibri"/>
              </a:rPr>
              <a:t>Only applicable evals run – skipped ones are never counted as a failure</a:t>
            </a:r>
          </a:p>
        </p:txBody>
      </p:sp>
      <p:sp>
        <p:nvSpPr>
          <p:cNvPr id="100057" name="TextBox 14"/>
          <p:cNvSpPr txBox="1"/>
          <p:nvPr/>
        </p:nvSpPr>
        <p:spPr>
          <a:xfrm>
            <a:off x="4308120" y="5292000"/>
            <a:ext cx="357732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>
                <a:solidFill>
                  <a:srgbClr val="6B7B93"/>
                </a:solidFill>
                <a:latin typeface="Calibri"/>
                <a:ea typeface="Calibri"/>
              </a:rPr>
              <a:t>Missing data is skipped, not scored as zero.</a:t>
            </a:r>
          </a:p>
        </p:txBody>
      </p:sp>
      <p:sp>
        <p:nvSpPr>
          <p:cNvPr id="100058" name="c3n1"/>
          <p:cNvSpPr/>
          <p:nvPr/>
        </p:nvSpPr>
        <p:spPr>
          <a:xfrm>
            <a:off x="8159040" y="1656000"/>
            <a:ext cx="3577320" cy="468000"/>
          </a:xfrm>
          <a:prstGeom prst="roundRect">
            <a:avLst>
              <a:gd name="adj" fmla="val 50000"/>
            </a:avLst>
          </a:prstGeom>
          <a:solidFill>
            <a:srgbClr val="12264A"/>
          </a:solidFill>
        </p:spPr>
        <p:txBody>
          <a:bodyPr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Scoring run begins</a:t>
            </a:r>
          </a:p>
        </p:txBody>
      </p:sp>
      <p:sp>
        <p:nvSpPr>
          <p:cNvPr id="100059" name="c3n2"/>
          <p:cNvSpPr/>
          <p:nvPr/>
        </p:nvSpPr>
        <p:spPr>
          <a:xfrm>
            <a:off x="8159040" y="2304000"/>
            <a:ext cx="3577320" cy="828000"/>
          </a:xfrm>
          <a:prstGeom prst="rect">
            <a:avLst/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1B365D"/>
                </a:solidFill>
                <a:latin typeface="Calibri"/>
                <a:ea typeface="Calibri"/>
              </a:rPr>
              <a:t>AI judge scores each eval and explains its reasoning</a:t>
            </a:r>
          </a:p>
        </p:txBody>
      </p:sp>
      <p:sp>
        <p:nvSpPr>
          <p:cNvPr id="100060" name="c3n3"/>
          <p:cNvSpPr/>
          <p:nvPr/>
        </p:nvSpPr>
        <p:spPr>
          <a:xfrm>
            <a:off x="8159040" y="3312000"/>
            <a:ext cx="3577320" cy="936000"/>
          </a:xfrm>
          <a:prstGeom prst="rect">
            <a:avLst/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1B365D"/>
                </a:solidFill>
                <a:latin typeface="Calibri"/>
                <a:ea typeface="Calibri"/>
              </a:rPr>
              <a:t>Scores roll up into weighted category and composite scores</a:t>
            </a:r>
          </a:p>
        </p:txBody>
      </p:sp>
      <p:sp>
        <p:nvSpPr>
          <p:cNvPr id="100061" name="c3n4"/>
          <p:cNvSpPr/>
          <p:nvPr/>
        </p:nvSpPr>
        <p:spPr>
          <a:xfrm>
            <a:off x="8159040" y="4428000"/>
            <a:ext cx="3577320" cy="720000"/>
          </a:xfrm>
          <a:prstGeom prst="roundRect">
            <a:avLst>
              <a:gd name="adj" fmla="val 30000"/>
            </a:avLst>
          </a:prstGeom>
          <a:solidFill>
            <a:srgbClr val="E8F7F0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1B5E20"/>
                </a:solidFill>
                <a:latin typeface="Calibri"/>
                <a:ea typeface="Calibri"/>
              </a:rPr>
              <a:t>Verdict issued – Ship / Ship with notes / Review / Block</a:t>
            </a:r>
          </a:p>
        </p:txBody>
      </p:sp>
      <p:sp>
        <p:nvSpPr>
          <p:cNvPr id="100062" name="TextBox 19"/>
          <p:cNvSpPr txBox="1"/>
          <p:nvPr/>
        </p:nvSpPr>
        <p:spPr>
          <a:xfrm>
            <a:off x="8159040" y="5292000"/>
            <a:ext cx="357732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>
                <a:solidFill>
                  <a:srgbClr val="6B7B93"/>
                </a:solidFill>
                <a:latin typeface="Calibri"/>
                <a:ea typeface="Calibri"/>
              </a:rPr>
              <a:t>Feeds back into Stage 1 after every run.</a:t>
            </a:r>
          </a:p>
        </p:txBody>
      </p:sp>
      <p:cxnSp>
        <p:nvCxnSpPr>
          <p:cNvPr id="100063" name="Connector 1"/>
          <p:cNvCxnSpPr>
            <a:stCxn id="100048" idx="0"/>
            <a:endCxn id="100049" idx="0"/>
          </p:cNvCxnSpPr>
          <p:nvPr/>
        </p:nvCxnSpPr>
        <p:spPr>
          <a:xfrm>
            <a:off x="2245860" y="2124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4" name="Connector 2"/>
          <p:cNvCxnSpPr>
            <a:stCxn id="100049" idx="0"/>
            <a:endCxn id="100050" idx="0"/>
          </p:cNvCxnSpPr>
          <p:nvPr/>
        </p:nvCxnSpPr>
        <p:spPr>
          <a:xfrm>
            <a:off x="2245860" y="3132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5" name="Connector 3"/>
          <p:cNvCxnSpPr>
            <a:stCxn id="100050" idx="0"/>
            <a:endCxn id="100051" idx="0"/>
          </p:cNvCxnSpPr>
          <p:nvPr/>
        </p:nvCxnSpPr>
        <p:spPr>
          <a:xfrm>
            <a:off x="2245860" y="4248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6" name="Connector 4"/>
          <p:cNvCxnSpPr>
            <a:stCxn id="100053" idx="0"/>
            <a:endCxn id="100054" idx="0"/>
          </p:cNvCxnSpPr>
          <p:nvPr/>
        </p:nvCxnSpPr>
        <p:spPr>
          <a:xfrm>
            <a:off x="6096780" y="2124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7" name="Connector 5"/>
          <p:cNvCxnSpPr>
            <a:stCxn id="100054" idx="0"/>
            <a:endCxn id="100055" idx="0"/>
          </p:cNvCxnSpPr>
          <p:nvPr/>
        </p:nvCxnSpPr>
        <p:spPr>
          <a:xfrm>
            <a:off x="6096780" y="3132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8" name="Connector 6"/>
          <p:cNvCxnSpPr>
            <a:stCxn id="100055" idx="0"/>
            <a:endCxn id="100056" idx="0"/>
          </p:cNvCxnSpPr>
          <p:nvPr/>
        </p:nvCxnSpPr>
        <p:spPr>
          <a:xfrm>
            <a:off x="6096780" y="4248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69" name="Connector 7"/>
          <p:cNvCxnSpPr>
            <a:stCxn id="100058" idx="0"/>
            <a:endCxn id="100059" idx="0"/>
          </p:cNvCxnSpPr>
          <p:nvPr/>
        </p:nvCxnSpPr>
        <p:spPr>
          <a:xfrm>
            <a:off x="9947700" y="2124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70" name="Connector 8"/>
          <p:cNvCxnSpPr>
            <a:stCxn id="100059" idx="0"/>
            <a:endCxn id="100060" idx="0"/>
          </p:cNvCxnSpPr>
          <p:nvPr/>
        </p:nvCxnSpPr>
        <p:spPr>
          <a:xfrm>
            <a:off x="9947700" y="3132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71" name="Connector 9"/>
          <p:cNvCxnSpPr>
            <a:stCxn id="100060" idx="0"/>
            <a:endCxn id="100061" idx="0"/>
          </p:cNvCxnSpPr>
          <p:nvPr/>
        </p:nvCxnSpPr>
        <p:spPr>
          <a:xfrm>
            <a:off x="9947700" y="4248000"/>
            <a:ext cx="0" cy="18000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</p:spTree>
  </p:cSld>
  <p:clrMapOvr>
    <a:masterClrMapping/>
  </p:clrMapOvr>
</p:sld>
</file>

<file path=ppt/slides/slide7.xml><?xml version="1.0" encoding="utf-8"?>
<p:sld xmlns:c="http://schemas.openxmlformats.org/drawingml/2006/chart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2" name="TextBox 1"/>
          <p:cNvSpPr txBox="1"/>
          <p:nvPr/>
        </p:nvSpPr>
        <p:spPr>
          <a:xfrm>
            <a:off x="540000" y="432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B365D"/>
                </a:solidFill>
                <a:latin typeface="Trebuchet MS"/>
                <a:ea typeface="Trebuchet MS"/>
              </a:rPr>
              <a:t>What the grade actually looks like</a:t>
            </a:r>
          </a:p>
        </p:txBody>
      </p:sp>
      <p:graphicFrame>
        <p:nvGraphicFramePr>
          <p:cNvPr id="100073" name="Chart 1"/>
          <p:cNvGraphicFramePr/>
          <p:nvPr/>
        </p:nvGraphicFramePr>
        <p:xfrm>
          <a:off x="720000" y="1440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074" name="TextBox 2"/>
          <p:cNvSpPr txBox="1"/>
          <p:nvPr/>
        </p:nvSpPr>
        <p:spPr>
          <a:xfrm>
            <a:off x="1692000" y="2520000"/>
            <a:ext cx="1296000" cy="75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4400" b="1">
                <a:solidFill>
                  <a:srgbClr val="1B365D"/>
                </a:solidFill>
                <a:latin typeface="Trebuchet MS"/>
                <a:ea typeface="Trebuchet MS"/>
              </a:rPr>
              <a:t>92</a:t>
            </a:r>
          </a:p>
        </p:txBody>
      </p:sp>
      <p:sp>
        <p:nvSpPr>
          <p:cNvPr id="100075" name="TextBox 3"/>
          <p:cNvSpPr txBox="1"/>
          <p:nvPr/>
        </p:nvSpPr>
        <p:spPr>
          <a:xfrm>
            <a:off x="1692000" y="3132000"/>
            <a:ext cx="1296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>
                <a:solidFill>
                  <a:srgbClr val="6B7B93"/>
                </a:solidFill>
                <a:latin typeface="Calibri"/>
                <a:ea typeface="Calibri"/>
              </a:rPr>
              <a:t>/ 100</a:t>
            </a:r>
          </a:p>
        </p:txBody>
      </p:sp>
      <p:sp>
        <p:nvSpPr>
          <p:cNvPr id="100076" name="TextBox 4"/>
          <p:cNvSpPr/>
          <p:nvPr/>
        </p:nvSpPr>
        <p:spPr>
          <a:xfrm>
            <a:off x="3096000" y="3816000"/>
            <a:ext cx="756000" cy="756000"/>
          </a:xfrm>
          <a:prstGeom prst="ellipse">
            <a:avLst/>
          </a:prstGeom>
          <a:solidFill>
            <a:srgbClr val="E8F7F0"/>
          </a:solidFill>
          <a:ln w="25400">
            <a:solidFill>
              <a:srgbClr val="1B5E20"/>
            </a:solidFill>
          </a:ln>
        </p:spPr>
        <p:txBody>
          <a:bodyPr/>
          <a:lstStyle/>
          <a:p>
            <a:pPr algn="ctr"/>
            <a:r>
              <a:rPr lang="en-US" sz="2600" b="1">
                <a:solidFill>
                  <a:srgbClr val="1B5E20"/>
                </a:solidFill>
                <a:latin typeface="Calibri"/>
                <a:ea typeface="Calibri"/>
              </a:rPr>
              <a:t>A</a:t>
            </a:r>
          </a:p>
        </p:txBody>
      </p:sp>
      <p:sp>
        <p:nvSpPr>
          <p:cNvPr id="100077" name="TextBox 5"/>
          <p:cNvSpPr/>
          <p:nvPr/>
        </p:nvSpPr>
        <p:spPr>
          <a:xfrm>
            <a:off x="5040000" y="1440000"/>
            <a:ext cx="2340000" cy="468000"/>
          </a:xfrm>
          <a:prstGeom prst="roundRect">
            <a:avLst>
              <a:gd name="adj" fmla="val 50000"/>
            </a:avLst>
          </a:prstGeom>
          <a:solidFill>
            <a:srgbClr val="E8F7F0"/>
          </a:solidFill>
        </p:spPr>
        <p:txBody>
          <a:bodyPr/>
          <a:lstStyle/>
          <a:p>
            <a:pPr algn="ctr"/>
            <a:r>
              <a:rPr lang="en-US" sz="1800" b="1">
                <a:solidFill>
                  <a:srgbClr val="1B5E20"/>
                </a:solidFill>
                <a:latin typeface="Calibri"/>
                <a:ea typeface="Calibri"/>
              </a:rPr>
              <a:t>Passed – Ship</a:t>
            </a:r>
          </a:p>
        </p:txBody>
      </p:sp>
      <p:sp>
        <p:nvSpPr>
          <p:cNvPr id="100078" name="TextBox 6"/>
          <p:cNvSpPr txBox="1"/>
          <p:nvPr/>
        </p:nvSpPr>
        <p:spPr>
          <a:xfrm>
            <a:off x="5040000" y="2016000"/>
            <a:ext cx="6480000" cy="41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1B365D"/>
                </a:solidFill>
                <a:latin typeface="Calibri"/>
                <a:ea typeface="Calibri"/>
              </a:rPr>
              <a:t>Refund request – policy exception</a:t>
            </a:r>
          </a:p>
        </p:txBody>
      </p:sp>
      <p:sp>
        <p:nvSpPr>
          <p:cNvPr id="100079" name="TextBox 7"/>
          <p:cNvSpPr txBox="1"/>
          <p:nvPr/>
        </p:nvSpPr>
        <p:spPr>
          <a:xfrm>
            <a:off x="5040000" y="2376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7B93"/>
                </a:solidFill>
                <a:latin typeface="Calibri"/>
                <a:ea typeface="Calibri"/>
              </a:rPr>
              <a:t>Jul 21, 2026  ·  2.4s  ·  run #4021</a:t>
            </a:r>
          </a:p>
        </p:txBody>
      </p:sp>
      <p:graphicFrame>
        <p:nvGraphicFramePr>
          <p:cNvPr id="100080" name="Chart 2"/>
          <p:cNvGraphicFramePr/>
          <p:nvPr/>
        </p:nvGraphicFramePr>
        <p:xfrm>
          <a:off x="5040000" y="2808000"/>
          <a:ext cx="6480000" cy="27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0081" name="TextBox 8"/>
          <p:cNvSpPr txBox="1"/>
          <p:nvPr/>
        </p:nvSpPr>
        <p:spPr>
          <a:xfrm>
            <a:off x="720000" y="5796000"/>
            <a:ext cx="10800000" cy="46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 b="1">
                <a:solidFill>
                  <a:srgbClr val="6B7B93"/>
                </a:solidFill>
                <a:latin typeface="Calibri"/>
                <a:ea typeface="Calibri"/>
              </a:rPr>
              <a:t>92 ± 3  ·  240 sessions scored  ·  Tool Use is the dimension to watch this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2" name="TextBox 1"/>
          <p:cNvSpPr txBox="1"/>
          <p:nvPr/>
        </p:nvSpPr>
        <p:spPr>
          <a:xfrm>
            <a:off x="540000" y="540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Know why, not just what</a:t>
            </a:r>
          </a:p>
        </p:txBody>
      </p:sp>
      <p:sp>
        <p:nvSpPr>
          <p:cNvPr id="100083" name="step1"/>
          <p:cNvSpPr/>
          <p:nvPr/>
        </p:nvSpPr>
        <p:spPr>
          <a:xfrm>
            <a:off x="1598400" y="2160000"/>
            <a:ext cx="1980000" cy="864000"/>
          </a:xfrm>
          <a:prstGeom prst="roundRect">
            <a:avLst>
              <a:gd name="adj" fmla="val 12000"/>
            </a:avLst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700" b="1">
                <a:solidFill>
                  <a:srgbClr val="1B365D"/>
                </a:solidFill>
                <a:latin typeface="Calibri"/>
                <a:ea typeface="Calibri"/>
              </a:rPr>
              <a:t>Session fails</a:t>
            </a:r>
          </a:p>
        </p:txBody>
      </p:sp>
      <p:sp>
        <p:nvSpPr>
          <p:cNvPr id="100084" name="step2"/>
          <p:cNvSpPr/>
          <p:nvPr/>
        </p:nvSpPr>
        <p:spPr>
          <a:xfrm>
            <a:off x="3938400" y="2160000"/>
            <a:ext cx="1980000" cy="864000"/>
          </a:xfrm>
          <a:prstGeom prst="roundRect">
            <a:avLst>
              <a:gd name="adj" fmla="val 12000"/>
            </a:avLst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Calibri"/>
                <a:ea typeface="Calibri"/>
              </a:rPr>
              <a:t>Agent calls the wrong tool</a:t>
            </a:r>
          </a:p>
        </p:txBody>
      </p:sp>
      <p:sp>
        <p:nvSpPr>
          <p:cNvPr id="100085" name="step3"/>
          <p:cNvSpPr/>
          <p:nvPr/>
        </p:nvSpPr>
        <p:spPr>
          <a:xfrm>
            <a:off x="6278400" y="2160000"/>
            <a:ext cx="1980000" cy="864000"/>
          </a:xfrm>
          <a:prstGeom prst="roundRect">
            <a:avLst>
              <a:gd name="adj" fmla="val 12000"/>
            </a:avLst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700" b="1">
                <a:solidFill>
                  <a:srgbClr val="1B365D"/>
                </a:solidFill>
                <a:latin typeface="Calibri"/>
                <a:ea typeface="Calibri"/>
              </a:rPr>
              <a:t>Bad data returned</a:t>
            </a:r>
          </a:p>
        </p:txBody>
      </p:sp>
      <p:sp>
        <p:nvSpPr>
          <p:cNvPr id="100086" name="step4"/>
          <p:cNvSpPr/>
          <p:nvPr/>
        </p:nvSpPr>
        <p:spPr>
          <a:xfrm>
            <a:off x="8618400" y="2160000"/>
            <a:ext cx="1980000" cy="864000"/>
          </a:xfrm>
          <a:prstGeom prst="roundRect">
            <a:avLst>
              <a:gd name="adj" fmla="val 12000"/>
            </a:avLst>
          </a:prstGeom>
          <a:solidFill>
            <a:srgbClr val="E8EEF6"/>
          </a:solidFill>
        </p:spPr>
        <p:txBody>
          <a:bodyPr/>
          <a:lstStyle/>
          <a:p>
            <a:pPr algn="ctr"/>
            <a:r>
              <a:rPr lang="en-US" sz="1700" b="1">
                <a:solidFill>
                  <a:srgbClr val="1B365D"/>
                </a:solidFill>
                <a:latin typeface="Calibri"/>
                <a:ea typeface="Calibri"/>
              </a:rPr>
              <a:t>Response sent to user</a:t>
            </a:r>
          </a:p>
        </p:txBody>
      </p:sp>
      <p:cxnSp>
        <p:nvCxnSpPr>
          <p:cNvPr id="100087" name="Connector 1"/>
          <p:cNvCxnSpPr>
            <a:stCxn id="100083" idx="0"/>
            <a:endCxn id="100084" idx="0"/>
          </p:cNvCxnSpPr>
          <p:nvPr/>
        </p:nvCxnSpPr>
        <p:spPr>
          <a:xfrm>
            <a:off x="3578400" y="2592000"/>
            <a:ext cx="360000" cy="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88" name="Connector 2"/>
          <p:cNvCxnSpPr>
            <a:stCxn id="100084" idx="0"/>
            <a:endCxn id="100085" idx="0"/>
          </p:cNvCxnSpPr>
          <p:nvPr/>
        </p:nvCxnSpPr>
        <p:spPr>
          <a:xfrm>
            <a:off x="5918400" y="2592000"/>
            <a:ext cx="360000" cy="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089" name="Connector 3"/>
          <p:cNvCxnSpPr>
            <a:stCxn id="100085" idx="0"/>
            <a:endCxn id="100086" idx="0"/>
          </p:cNvCxnSpPr>
          <p:nvPr/>
        </p:nvCxnSpPr>
        <p:spPr>
          <a:xfrm>
            <a:off x="8258400" y="2592000"/>
            <a:ext cx="360000" cy="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sp>
        <p:nvSpPr>
          <p:cNvPr id="100090" name="TextBox 6"/>
          <p:cNvSpPr/>
          <p:nvPr/>
        </p:nvSpPr>
        <p:spPr>
          <a:xfrm>
            <a:off x="3420000" y="3780000"/>
            <a:ext cx="3240000" cy="720000"/>
          </a:xfrm>
          <a:prstGeom prst="roundRect">
            <a:avLst>
              <a:gd name="adj" fmla="val 50000"/>
            </a:avLst>
          </a:prstGeom>
          <a:solidFill>
            <a:srgbClr val="FDE8E6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E55C00"/>
                </a:solidFill>
                <a:latin typeface="Calibri"/>
                <a:ea typeface="Calibri"/>
              </a:rPr>
              <a:t>Root cause: Tool misuse</a:t>
            </a:r>
          </a:p>
        </p:txBody>
      </p:sp>
      <p:sp>
        <p:nvSpPr>
          <p:cNvPr id="100091" name="TextBox 7"/>
          <p:cNvSpPr txBox="1"/>
          <p:nvPr/>
        </p:nvSpPr>
        <p:spPr>
          <a:xfrm>
            <a:off x="6840000" y="3780000"/>
            <a:ext cx="2160000" cy="61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1">
                <a:solidFill>
                  <a:srgbClr val="0087AE"/>
                </a:solidFill>
                <a:latin typeface="Calibri"/>
                <a:ea typeface="Calibri"/>
              </a:rPr>
              <a:t>92% confidence</a:t>
            </a:r>
          </a:p>
        </p:txBody>
      </p:sp>
      <p:sp>
        <p:nvSpPr>
          <p:cNvPr id="100092" name="TextBox 8"/>
          <p:cNvSpPr txBox="1"/>
          <p:nvPr/>
        </p:nvSpPr>
        <p:spPr>
          <a:xfrm>
            <a:off x="720000" y="4824000"/>
            <a:ext cx="1075320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Evidence chain, step by step – plus a recommended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3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How it fits your stack</a:t>
            </a:r>
          </a:p>
        </p:txBody>
      </p:sp>
      <p:sp>
        <p:nvSpPr>
          <p:cNvPr id="100094" name="Flow1"/>
          <p:cNvSpPr/>
          <p:nvPr/>
        </p:nvSpPr>
        <p:spPr>
          <a:xfrm>
            <a:off x="457200" y="1620000"/>
            <a:ext cx="3577320" cy="23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4C9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95" name="TextBox 3"/>
          <p:cNvSpPr/>
          <p:nvPr/>
        </p:nvSpPr>
        <p:spPr>
          <a:xfrm>
            <a:off x="1886400" y="1872000"/>
            <a:ext cx="720000" cy="720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6" name="TextBox 4"/>
          <p:cNvSpPr txBox="1"/>
          <p:nvPr/>
        </p:nvSpPr>
        <p:spPr>
          <a:xfrm>
            <a:off x="457200" y="2772000"/>
            <a:ext cx="357732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 b="1">
                <a:solidFill>
                  <a:srgbClr val="1B365D"/>
                </a:solidFill>
                <a:latin typeface="Trebuchet MS"/>
                <a:ea typeface="Trebuchet MS"/>
              </a:rPr>
              <a:t>Connect</a:t>
            </a:r>
          </a:p>
        </p:txBody>
      </p:sp>
      <p:sp>
        <p:nvSpPr>
          <p:cNvPr id="100097" name="TextBox 5"/>
          <p:cNvSpPr txBox="1"/>
          <p:nvPr/>
        </p:nvSpPr>
        <p:spPr>
          <a:xfrm>
            <a:off x="457200" y="3276000"/>
            <a:ext cx="357732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>
                <a:solidFill>
                  <a:srgbClr val="0087AE"/>
                </a:solidFill>
                <a:latin typeface="Calibri"/>
                <a:ea typeface="Calibri"/>
              </a:rPr>
              <a:t>via OpenTelemetry</a:t>
            </a:r>
          </a:p>
        </p:txBody>
      </p:sp>
      <p:sp>
        <p:nvSpPr>
          <p:cNvPr id="100098" name="Flow2"/>
          <p:cNvSpPr/>
          <p:nvPr/>
        </p:nvSpPr>
        <p:spPr>
          <a:xfrm>
            <a:off x="4308120" y="1620000"/>
            <a:ext cx="3577320" cy="23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87A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099" name="TextBox 7"/>
          <p:cNvSpPr/>
          <p:nvPr/>
        </p:nvSpPr>
        <p:spPr>
          <a:xfrm>
            <a:off x="5737320" y="1872000"/>
            <a:ext cx="720000" cy="720000"/>
          </a:xfrm>
          <a:prstGeom prst="ellipse">
            <a:avLst/>
          </a:prstGeom>
          <a:solidFill>
            <a:srgbClr val="0087AE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00" name="TextBox 8"/>
          <p:cNvSpPr txBox="1"/>
          <p:nvPr/>
        </p:nvSpPr>
        <p:spPr>
          <a:xfrm>
            <a:off x="4308120" y="2772000"/>
            <a:ext cx="357732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 b="1">
                <a:solidFill>
                  <a:srgbClr val="1B365D"/>
                </a:solidFill>
                <a:latin typeface="Trebuchet MS"/>
                <a:ea typeface="Trebuchet MS"/>
              </a:rPr>
              <a:t>Gate</a:t>
            </a:r>
          </a:p>
        </p:txBody>
      </p:sp>
      <p:sp>
        <p:nvSpPr>
          <p:cNvPr id="100101" name="TextBox 9"/>
          <p:cNvSpPr txBox="1"/>
          <p:nvPr/>
        </p:nvSpPr>
        <p:spPr>
          <a:xfrm>
            <a:off x="4308120" y="3276000"/>
            <a:ext cx="357732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>
                <a:solidFill>
                  <a:srgbClr val="0087AE"/>
                </a:solidFill>
                <a:latin typeface="Calibri"/>
                <a:ea typeface="Calibri"/>
              </a:rPr>
              <a:t>your CI pipeline</a:t>
            </a:r>
          </a:p>
        </p:txBody>
      </p:sp>
      <p:sp>
        <p:nvSpPr>
          <p:cNvPr id="100102" name="Flow3"/>
          <p:cNvSpPr/>
          <p:nvPr/>
        </p:nvSpPr>
        <p:spPr>
          <a:xfrm>
            <a:off x="8159040" y="1620000"/>
            <a:ext cx="3577320" cy="23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F6C0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103" name="TextBox 11"/>
          <p:cNvSpPr/>
          <p:nvPr/>
        </p:nvSpPr>
        <p:spPr>
          <a:xfrm>
            <a:off x="9588240" y="1872000"/>
            <a:ext cx="720000" cy="720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04" name="TextBox 12"/>
          <p:cNvSpPr txBox="1"/>
          <p:nvPr/>
        </p:nvSpPr>
        <p:spPr>
          <a:xfrm>
            <a:off x="8159040" y="2772000"/>
            <a:ext cx="357732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600" b="1">
                <a:solidFill>
                  <a:srgbClr val="1B365D"/>
                </a:solidFill>
                <a:latin typeface="Trebuchet MS"/>
                <a:ea typeface="Trebuchet MS"/>
              </a:rPr>
              <a:t>Track</a:t>
            </a:r>
          </a:p>
        </p:txBody>
      </p:sp>
      <p:sp>
        <p:nvSpPr>
          <p:cNvPr id="100105" name="TextBox 13"/>
          <p:cNvSpPr txBox="1"/>
          <p:nvPr/>
        </p:nvSpPr>
        <p:spPr>
          <a:xfrm>
            <a:off x="8159040" y="3276000"/>
            <a:ext cx="357732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700">
                <a:solidFill>
                  <a:srgbClr val="0087AE"/>
                </a:solidFill>
                <a:latin typeface="Calibri"/>
                <a:ea typeface="Calibri"/>
              </a:rPr>
              <a:t>quality over time</a:t>
            </a:r>
          </a:p>
        </p:txBody>
      </p:sp>
      <p:cxnSp>
        <p:nvCxnSpPr>
          <p:cNvPr id="100106" name="Connector 1"/>
          <p:cNvCxnSpPr>
            <a:stCxn id="100094" idx="0"/>
            <a:endCxn id="100098" idx="0"/>
          </p:cNvCxnSpPr>
          <p:nvPr/>
        </p:nvCxnSpPr>
        <p:spPr>
          <a:xfrm>
            <a:off x="4034520" y="2790000"/>
            <a:ext cx="273600" cy="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cxnSp>
        <p:nvCxnSpPr>
          <p:cNvPr id="100107" name="Connector 2"/>
          <p:cNvCxnSpPr>
            <a:stCxn id="100098" idx="0"/>
            <a:endCxn id="100102" idx="0"/>
          </p:cNvCxnSpPr>
          <p:nvPr/>
        </p:nvCxnSpPr>
        <p:spPr>
          <a:xfrm>
            <a:off x="7885440" y="2790000"/>
            <a:ext cx="273600" cy="0"/>
          </a:xfrm>
          <a:prstGeom prst="straightConnector1">
            <a:avLst/>
          </a:prstGeom>
          <a:ln w="25400">
            <a:solidFill>
              <a:srgbClr val="1B365D"/>
            </a:solidFill>
            <a:tailEnd type="triangle"/>
          </a:ln>
        </p:spPr>
      </p:cxnSp>
      <p:sp>
        <p:nvSpPr>
          <p:cNvPr id="100108" name="TextBox 14"/>
          <p:cNvSpPr txBox="1"/>
          <p:nvPr/>
        </p:nvSpPr>
        <p:spPr>
          <a:xfrm>
            <a:off x="720000" y="4536000"/>
            <a:ext cx="10753200" cy="504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Surfaced inside Tosca, qTest, and AI Workspace – no new tool to learn.</a:t>
            </a:r>
          </a:p>
        </p:txBody>
      </p:sp>
      <p:sp>
        <p:nvSpPr>
          <p:cNvPr id="100109" name="TextBox 15"/>
          <p:cNvSpPr txBox="1"/>
          <p:nvPr/>
        </p:nvSpPr>
        <p:spPr>
          <a:xfrm>
            <a:off x="720000" y="5184000"/>
            <a:ext cx="10753200" cy="64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800" b="1">
                <a:solidFill>
                  <a:srgbClr val="FF6C0E"/>
                </a:solidFill>
                <a:latin typeface="Trebuchet MS"/>
                <a:ea typeface="Trebuchet MS"/>
              </a:rPr>
              <a:t>One shared standard, for every agent, on every team.</a:t>
            </a:r>
          </a:p>
        </p:txBody>
      </p:sp>
    </p:spTree>
  </p:cSld>
  <p:clrMapOvr>
    <a:masterClrMapping/>
  </p:clrMapOvr>
</p:sld>
</file>

<file path=ppt/slides/slide10.xml><?xml version="1.0" encoding="utf-8"?>
<p:sld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0" name="TextBox 1"/>
          <p:cNvSpPr txBox="1"/>
          <p:nvPr/>
        </p:nvSpPr>
        <p:spPr>
          <a:xfrm>
            <a:off x="540000" y="432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B365D"/>
                </a:solidFill>
                <a:latin typeface="Trebuchet MS"/>
                <a:ea typeface="Trebuchet MS"/>
              </a:rPr>
              <a:t>Why AgentScore</a:t>
            </a:r>
          </a:p>
        </p:txBody>
      </p:sp>
      <p:graphicFrame>
        <p:nvGraphicFramePr>
          <p:cNvPr id="100111" name="Table 1"/>
          <p:cNvGraphicFramePr/>
          <p:nvPr/>
        </p:nvGraphicFramePr>
        <p:xfrm>
          <a:off x="540000" y="1296000"/>
          <a:ext cx="11113200" cy="49679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14"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Where we win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Statistical rigor – confidence intervals, pass@k, minimum-sample gating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Nearly absent across the field; most tools show a score with no reliability signal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Multi-dimensional, domain-agnostic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Generalizes across support bots, coding assistants, test generators – not one narrow vertical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Safety override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One unsafe signal can force a fail regardless of composite – a strong average can't hide a dangerous failure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Vendor-neutral via OpenTelemetry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No proprietary SDK; bolts onto any agent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Root-cause attribution with evidence chain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Goes beyond pass/fail into an actionable "why"</a:t>
                      </a:r>
                    </a:p>
                  </a:txBody>
                  <a:tcPr anchor="ctr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97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B365D"/>
                          </a:solidFill>
                        </a:rPr>
                        <a:t>Native surfacing inside Tosca, qTest, AI Workspace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</a:rPr>
                        <a:t>Meets practitioners where they already work – no new tool to adopt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12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Path to value</a:t>
            </a:r>
          </a:p>
        </p:txBody>
      </p:sp>
      <p:sp>
        <p:nvSpPr>
          <p:cNvPr id="100113" name="TextBox 2"/>
          <p:cNvSpPr/>
          <p:nvPr/>
        </p:nvSpPr>
        <p:spPr>
          <a:xfrm>
            <a:off x="900000" y="1656000"/>
            <a:ext cx="720000" cy="720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14" name="TextBox 3"/>
          <p:cNvSpPr txBox="1"/>
          <p:nvPr/>
        </p:nvSpPr>
        <p:spPr>
          <a:xfrm>
            <a:off x="1908000" y="1620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Connect your OTel traces</a:t>
            </a:r>
          </a:p>
        </p:txBody>
      </p:sp>
      <p:sp>
        <p:nvSpPr>
          <p:cNvPr id="100115" name="TextBox 4"/>
          <p:cNvSpPr txBox="1"/>
          <p:nvPr/>
        </p:nvSpPr>
        <p:spPr>
          <a:xfrm>
            <a:off x="1908000" y="2088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No code changes to the agent itself – plug in the exporter you likely already have.</a:t>
            </a:r>
          </a:p>
        </p:txBody>
      </p:sp>
      <p:sp>
        <p:nvSpPr>
          <p:cNvPr id="100116" name="TextBox 5"/>
          <p:cNvSpPr/>
          <p:nvPr/>
        </p:nvSpPr>
        <p:spPr>
          <a:xfrm>
            <a:off x="900000" y="3024000"/>
            <a:ext cx="720000" cy="720000"/>
          </a:xfrm>
          <a:prstGeom prst="ellipse">
            <a:avLst/>
          </a:prstGeom>
          <a:solidFill>
            <a:srgbClr val="0087A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17" name="TextBox 6"/>
          <p:cNvSpPr txBox="1"/>
          <p:nvPr/>
        </p:nvSpPr>
        <p:spPr>
          <a:xfrm>
            <a:off x="1908000" y="2988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Get a scored baseline in days</a:t>
            </a:r>
          </a:p>
        </p:txBody>
      </p:sp>
      <p:sp>
        <p:nvSpPr>
          <p:cNvPr id="100118" name="TextBox 7"/>
          <p:cNvSpPr txBox="1"/>
          <p:nvPr/>
        </p:nvSpPr>
        <p:spPr>
          <a:xfrm>
            <a:off x="1908000" y="3456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Dimension scores and verdicts start surfacing as soon as sessions are ingested.</a:t>
            </a:r>
          </a:p>
        </p:txBody>
      </p:sp>
      <p:sp>
        <p:nvSpPr>
          <p:cNvPr id="100119" name="TextBox 8"/>
          <p:cNvSpPr/>
          <p:nvPr/>
        </p:nvSpPr>
        <p:spPr>
          <a:xfrm>
            <a:off x="900000" y="4392000"/>
            <a:ext cx="720000" cy="720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20" name="TextBox 9"/>
          <p:cNvSpPr txBox="1"/>
          <p:nvPr/>
        </p:nvSpPr>
        <p:spPr>
          <a:xfrm>
            <a:off x="1908000" y="4356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Define pilot success together</a:t>
            </a:r>
          </a:p>
        </p:txBody>
      </p:sp>
      <p:sp>
        <p:nvSpPr>
          <p:cNvPr id="100121" name="TextBox 10"/>
          <p:cNvSpPr txBox="1"/>
          <p:nvPr/>
        </p:nvSpPr>
        <p:spPr>
          <a:xfrm>
            <a:off x="1908000" y="4824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Sessions scored, ship / no-ship decisions informed, and time saved on manual root-cause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2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Packaging, directionally</a:t>
            </a:r>
          </a:p>
        </p:txBody>
      </p:sp>
      <p:sp>
        <p:nvSpPr>
          <p:cNvPr id="100123" name="TextBox 2"/>
          <p:cNvSpPr/>
          <p:nvPr/>
        </p:nvSpPr>
        <p:spPr>
          <a:xfrm>
            <a:off x="900000" y="1656000"/>
            <a:ext cx="720000" cy="720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24" name="TextBox 3"/>
          <p:cNvSpPr txBox="1"/>
          <p:nvPr/>
        </p:nvSpPr>
        <p:spPr>
          <a:xfrm>
            <a:off x="1908000" y="1620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Ingestion is free</a:t>
            </a:r>
          </a:p>
        </p:txBody>
      </p:sp>
      <p:sp>
        <p:nvSpPr>
          <p:cNvPr id="100125" name="TextBox 4"/>
          <p:cNvSpPr txBox="1"/>
          <p:nvPr/>
        </p:nvSpPr>
        <p:spPr>
          <a:xfrm>
            <a:off x="1908000" y="2088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No reason to gate the OpenTelemetry on-ramp – pipe in traces without limits.</a:t>
            </a:r>
          </a:p>
        </p:txBody>
      </p:sp>
      <p:sp>
        <p:nvSpPr>
          <p:cNvPr id="100126" name="TextBox 5"/>
          <p:cNvSpPr/>
          <p:nvPr/>
        </p:nvSpPr>
        <p:spPr>
          <a:xfrm>
            <a:off x="900000" y="3024000"/>
            <a:ext cx="720000" cy="720000"/>
          </a:xfrm>
          <a:prstGeom prst="ellipse">
            <a:avLst/>
          </a:prstGeom>
          <a:solidFill>
            <a:srgbClr val="0087A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27" name="TextBox 6"/>
          <p:cNvSpPr txBox="1"/>
          <p:nvPr/>
        </p:nvSpPr>
        <p:spPr>
          <a:xfrm>
            <a:off x="1908000" y="2988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Scoring runs are the metered unit</a:t>
            </a:r>
          </a:p>
        </p:txBody>
      </p:sp>
      <p:sp>
        <p:nvSpPr>
          <p:cNvPr id="100128" name="TextBox 7"/>
          <p:cNvSpPr txBox="1"/>
          <p:nvPr/>
        </p:nvSpPr>
        <p:spPr>
          <a:xfrm>
            <a:off x="1908000" y="3456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Billed in credits, scaling with the number of LLM judge calls per run.</a:t>
            </a:r>
          </a:p>
        </p:txBody>
      </p:sp>
      <p:sp>
        <p:nvSpPr>
          <p:cNvPr id="100129" name="TextBox 8"/>
          <p:cNvSpPr/>
          <p:nvPr/>
        </p:nvSpPr>
        <p:spPr>
          <a:xfrm>
            <a:off x="900000" y="4392000"/>
            <a:ext cx="720000" cy="720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30" name="TextBox 9"/>
          <p:cNvSpPr txBox="1"/>
          <p:nvPr/>
        </p:nvSpPr>
        <p:spPr>
          <a:xfrm>
            <a:off x="1908000" y="4356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Unlimited seats</a:t>
            </a:r>
          </a:p>
        </p:txBody>
      </p:sp>
      <p:sp>
        <p:nvSpPr>
          <p:cNvPr id="100131" name="TextBox 10"/>
          <p:cNvSpPr txBox="1"/>
          <p:nvPr/>
        </p:nvSpPr>
        <p:spPr>
          <a:xfrm>
            <a:off x="1908000" y="4824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Usage tracks agent and team footprint, not headcount.</a:t>
            </a:r>
          </a:p>
        </p:txBody>
      </p:sp>
      <p:sp>
        <p:nvSpPr>
          <p:cNvPr id="100132" name="TextBox 11"/>
          <p:cNvSpPr txBox="1"/>
          <p:nvPr/>
        </p:nvSpPr>
        <p:spPr>
          <a:xfrm>
            <a:off x="540000" y="5760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7B93"/>
                </a:solidFill>
                <a:latin typeface="Calibri"/>
                <a:ea typeface="Calibri"/>
              </a:rPr>
              <a:t>Directional only – final pricing is not yet finalized.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33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B365D"/>
                </a:solidFill>
                <a:latin typeface="Trebuchet MS"/>
                <a:ea typeface="Trebuchet MS"/>
              </a:rPr>
              <a:t>What's next</a:t>
            </a:r>
          </a:p>
        </p:txBody>
      </p:sp>
      <p:sp>
        <p:nvSpPr>
          <p:cNvPr id="100134" name="TextBox 2"/>
          <p:cNvSpPr/>
          <p:nvPr/>
        </p:nvSpPr>
        <p:spPr>
          <a:xfrm>
            <a:off x="900000" y="1656000"/>
            <a:ext cx="720000" cy="720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35" name="TextBox 3"/>
          <p:cNvSpPr txBox="1"/>
          <p:nvPr/>
        </p:nvSpPr>
        <p:spPr>
          <a:xfrm>
            <a:off x="1908000" y="1620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Deeper CI/CD gating</a:t>
            </a:r>
          </a:p>
        </p:txBody>
      </p:sp>
      <p:sp>
        <p:nvSpPr>
          <p:cNvPr id="100136" name="TextBox 4"/>
          <p:cNvSpPr txBox="1"/>
          <p:nvPr/>
        </p:nvSpPr>
        <p:spPr>
          <a:xfrm>
            <a:off x="1908000" y="2088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Finer-grained verdict bands and reproducibility guarantees across profile versions.</a:t>
            </a:r>
          </a:p>
        </p:txBody>
      </p:sp>
      <p:sp>
        <p:nvSpPr>
          <p:cNvPr id="100137" name="TextBox 5"/>
          <p:cNvSpPr/>
          <p:nvPr/>
        </p:nvSpPr>
        <p:spPr>
          <a:xfrm>
            <a:off x="900000" y="3024000"/>
            <a:ext cx="720000" cy="720000"/>
          </a:xfrm>
          <a:prstGeom prst="ellipse">
            <a:avLst/>
          </a:prstGeom>
          <a:solidFill>
            <a:srgbClr val="0087A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38" name="TextBox 6"/>
          <p:cNvSpPr txBox="1"/>
          <p:nvPr/>
        </p:nvSpPr>
        <p:spPr>
          <a:xfrm>
            <a:off x="1908000" y="2988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Trend-level regression detection</a:t>
            </a:r>
          </a:p>
        </p:txBody>
      </p:sp>
      <p:sp>
        <p:nvSpPr>
          <p:cNvPr id="100139" name="TextBox 7"/>
          <p:cNvSpPr txBox="1"/>
          <p:nvPr/>
        </p:nvSpPr>
        <p:spPr>
          <a:xfrm>
            <a:off x="1908000" y="3456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Moving beyond single-session root cause toward drift detection across runs.</a:t>
            </a:r>
          </a:p>
        </p:txBody>
      </p:sp>
      <p:sp>
        <p:nvSpPr>
          <p:cNvPr id="100140" name="TextBox 8"/>
          <p:cNvSpPr/>
          <p:nvPr/>
        </p:nvSpPr>
        <p:spPr>
          <a:xfrm>
            <a:off x="900000" y="4392000"/>
            <a:ext cx="720000" cy="720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41" name="TextBox 9"/>
          <p:cNvSpPr txBox="1"/>
          <p:nvPr/>
        </p:nvSpPr>
        <p:spPr>
          <a:xfrm>
            <a:off x="1908000" y="4356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More host-surface integrations</a:t>
            </a:r>
          </a:p>
        </p:txBody>
      </p:sp>
      <p:sp>
        <p:nvSpPr>
          <p:cNvPr id="100142" name="TextBox 10"/>
          <p:cNvSpPr txBox="1"/>
          <p:nvPr/>
        </p:nvSpPr>
        <p:spPr>
          <a:xfrm>
            <a:off x="1908000" y="4824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Beyond Tosca, qTest, and AI Workspace, based on design-partner demand.</a:t>
            </a:r>
          </a:p>
        </p:txBody>
      </p:sp>
      <p:sp>
        <p:nvSpPr>
          <p:cNvPr id="100143" name="TextBox 11"/>
          <p:cNvSpPr txBox="1"/>
          <p:nvPr/>
        </p:nvSpPr>
        <p:spPr>
          <a:xfrm>
            <a:off x="540000" y="5760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7B93"/>
                </a:solidFill>
                <a:latin typeface="Calibri"/>
                <a:ea typeface="Calibri"/>
              </a:rPr>
              <a:t>Shaped by design-partner feedback, not a fixed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54A7A"/>
            </a:gs>
            <a:gs pos="100000">
              <a:srgbClr val="12264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4" name="TextBox 1"/>
          <p:cNvSpPr txBox="1"/>
          <p:nvPr/>
        </p:nvSpPr>
        <p:spPr>
          <a:xfrm>
            <a:off x="3398400" y="1872000"/>
            <a:ext cx="2520000" cy="936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</a:p>
        </p:txBody>
      </p:sp>
      <p:sp>
        <p:nvSpPr>
          <p:cNvPr id="100145" name="TextBox 2"/>
          <p:cNvSpPr txBox="1"/>
          <p:nvPr/>
        </p:nvSpPr>
        <p:spPr>
          <a:xfrm>
            <a:off x="5918400" y="1872000"/>
            <a:ext cx="2520000" cy="93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200" b="1">
                <a:solidFill>
                  <a:srgbClr val="FF6C0E"/>
                </a:solidFill>
                <a:latin typeface="Trebuchet MS"/>
                <a:ea typeface="Trebuchet MS"/>
              </a:rPr>
              <a:t>Score</a:t>
            </a:r>
          </a:p>
        </p:txBody>
      </p:sp>
      <p:sp>
        <p:nvSpPr>
          <p:cNvPr id="100146" name="TextBox 3"/>
          <p:cNvSpPr txBox="1"/>
          <p:nvPr/>
        </p:nvSpPr>
        <p:spPr>
          <a:xfrm>
            <a:off x="720000" y="3096000"/>
            <a:ext cx="10753200" cy="7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400" b="1">
                <a:solidFill>
                  <a:srgbClr val="59C8E6"/>
                </a:solidFill>
                <a:latin typeface="Trebuchet MS"/>
                <a:ea typeface="Trebuchet MS"/>
              </a:rPr>
              <a:t>Stop guessing whether your agents work.</a:t>
            </a:r>
          </a:p>
        </p:txBody>
      </p:sp>
      <p:sp>
        <p:nvSpPr>
          <p:cNvPr id="100147" name="TextBox 4"/>
          <p:cNvSpPr txBox="1"/>
          <p:nvPr/>
        </p:nvSpPr>
        <p:spPr>
          <a:xfrm>
            <a:off x="720000" y="3816000"/>
            <a:ext cx="10753200" cy="576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200">
                <a:solidFill>
                  <a:srgbClr val="FFFFFF"/>
                </a:solidFill>
                <a:latin typeface="Calibri"/>
                <a:ea typeface="Calibri"/>
              </a:rPr>
              <a:t>Know it, with confidence, every time they run.</a:t>
            </a:r>
          </a:p>
        </p:txBody>
      </p:sp>
      <p:sp>
        <p:nvSpPr>
          <p:cNvPr id="100148" name="TextBox 5"/>
          <p:cNvSpPr/>
          <p:nvPr/>
        </p:nvSpPr>
        <p:spPr>
          <a:xfrm>
            <a:off x="4836600" y="4608000"/>
            <a:ext cx="2520000" cy="576000"/>
          </a:xfrm>
          <a:prstGeom prst="roundRect">
            <a:avLst>
              <a:gd name="adj" fmla="val 50000"/>
            </a:avLst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Request access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49" name="TextBox 1"/>
          <p:cNvSpPr txBox="1"/>
          <p:nvPr/>
        </p:nvSpPr>
        <p:spPr>
          <a:xfrm>
            <a:off x="720000" y="2880000"/>
            <a:ext cx="107532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  <a:latin typeface="Trebuchet MS"/>
                <a:ea typeface="Trebuchet MS"/>
              </a:rPr>
              <a:t>Appendix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0" name="TextBox 1"/>
          <p:cNvSpPr txBox="1"/>
          <p:nvPr/>
        </p:nvSpPr>
        <p:spPr>
          <a:xfrm>
            <a:off x="540000" y="468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1B365D"/>
                </a:solidFill>
                <a:latin typeface="Trebuchet MS"/>
                <a:ea typeface="Trebuchet MS"/>
              </a:rPr>
              <a:t>Scoring dimension glossary</a:t>
            </a:r>
          </a:p>
        </p:txBody>
      </p:sp>
      <p:sp>
        <p:nvSpPr>
          <p:cNvPr id="100151" name="TextBox 2"/>
          <p:cNvSpPr txBox="1"/>
          <p:nvPr/>
        </p:nvSpPr>
        <p:spPr>
          <a:xfrm>
            <a:off x="540000" y="1296000"/>
            <a:ext cx="52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0087AE"/>
                </a:solidFill>
                <a:latin typeface="Calibri"/>
                <a:ea typeface="Calibri"/>
              </a:rPr>
              <a:t>CORE (6)</a:t>
            </a:r>
          </a:p>
        </p:txBody>
      </p:sp>
      <p:sp>
        <p:nvSpPr>
          <p:cNvPr id="100152" name="TextBox 3"/>
          <p:cNvSpPr txBox="1"/>
          <p:nvPr/>
        </p:nvSpPr>
        <p:spPr>
          <a:xfrm>
            <a:off x="540000" y="1692000"/>
            <a:ext cx="5220000" cy="4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Correctness  –  Is the answer factually and procedurally right?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Efficiency  –  Did the agent get there without wasted steps or calls?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Relevance  –  Does the response actually address what was asked?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Safety  –  Did the agent avoid harmful, unsafe, or policy-violating actions?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Consistency  –  Does behavior hold steady across similar sessions?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Tool Use  –  Were the right tools called, in the right way, at the right time?</a:t>
            </a:r>
          </a:p>
        </p:txBody>
      </p:sp>
      <p:sp>
        <p:nvSpPr>
          <p:cNvPr id="100153" name="TextBox 4"/>
          <p:cNvSpPr txBox="1"/>
          <p:nvPr/>
        </p:nvSpPr>
        <p:spPr>
          <a:xfrm>
            <a:off x="6120000" y="1296000"/>
            <a:ext cx="522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b="1">
                <a:solidFill>
                  <a:srgbClr val="FF6C0E"/>
                </a:solidFill>
                <a:latin typeface="Calibri"/>
                <a:ea typeface="Calibri"/>
              </a:rPr>
              <a:t>EXTENDED (5)</a:t>
            </a:r>
          </a:p>
        </p:txBody>
      </p:sp>
      <p:sp>
        <p:nvSpPr>
          <p:cNvPr id="100154" name="TextBox 5"/>
          <p:cNvSpPr txBox="1"/>
          <p:nvPr/>
        </p:nvSpPr>
        <p:spPr>
          <a:xfrm>
            <a:off x="6120000" y="1692000"/>
            <a:ext cx="5220000" cy="4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Groundedness  –  Are claims backed by retrieved or provided evidence?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Instruction-Following  –  Did the agent respect explicit constraints and formatting?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Transparency  –  Can the agent explain its own reasoning when asked?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Robustness  –  Does it hold up under edge cases and adversarial input?</a:t>
            </a:r>
          </a:p>
          <a:p>
            <a:endParaRPr lang="en-US" sz="16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Communication  –  Is the response clear, well-structured, and appropriately toned?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5" name="TextBox 1"/>
          <p:cNvSpPr txBox="1"/>
          <p:nvPr/>
        </p:nvSpPr>
        <p:spPr>
          <a:xfrm>
            <a:off x="540000" y="468000"/>
            <a:ext cx="10800000" cy="79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B365D"/>
                </a:solidFill>
                <a:latin typeface="Trebuchet MS"/>
                <a:ea typeface="Trebuchet MS"/>
              </a:rPr>
              <a:t>Security &amp; deployment</a:t>
            </a:r>
          </a:p>
        </p:txBody>
      </p:sp>
      <p:sp>
        <p:nvSpPr>
          <p:cNvPr id="100156" name="TextBox 2"/>
          <p:cNvSpPr/>
          <p:nvPr/>
        </p:nvSpPr>
        <p:spPr>
          <a:xfrm>
            <a:off x="900000" y="1656000"/>
            <a:ext cx="720000" cy="720000"/>
          </a:xfrm>
          <a:prstGeom prst="ellipse">
            <a:avLst/>
          </a:prstGeom>
          <a:solidFill>
            <a:srgbClr val="004C97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157" name="TextBox 3"/>
          <p:cNvSpPr txBox="1"/>
          <p:nvPr/>
        </p:nvSpPr>
        <p:spPr>
          <a:xfrm>
            <a:off x="1908000" y="1620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Data residency</a:t>
            </a:r>
          </a:p>
        </p:txBody>
      </p:sp>
      <p:sp>
        <p:nvSpPr>
          <p:cNvPr id="100158" name="TextBox 4"/>
          <p:cNvSpPr txBox="1"/>
          <p:nvPr/>
        </p:nvSpPr>
        <p:spPr>
          <a:xfrm>
            <a:off x="1908000" y="2088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Client-side storage with cloud processing and a configurable proxy – being validated against customer requirements.</a:t>
            </a:r>
          </a:p>
        </p:txBody>
      </p:sp>
      <p:sp>
        <p:nvSpPr>
          <p:cNvPr id="100159" name="TextBox 5"/>
          <p:cNvSpPr/>
          <p:nvPr/>
        </p:nvSpPr>
        <p:spPr>
          <a:xfrm>
            <a:off x="900000" y="3096000"/>
            <a:ext cx="720000" cy="720000"/>
          </a:xfrm>
          <a:prstGeom prst="ellipse">
            <a:avLst/>
          </a:prstGeom>
          <a:solidFill>
            <a:srgbClr val="0087A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160" name="TextBox 6"/>
          <p:cNvSpPr txBox="1"/>
          <p:nvPr/>
        </p:nvSpPr>
        <p:spPr>
          <a:xfrm>
            <a:off x="1908000" y="3060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OpenTelemetry-only ingestion</a:t>
            </a:r>
          </a:p>
        </p:txBody>
      </p:sp>
      <p:sp>
        <p:nvSpPr>
          <p:cNvPr id="100161" name="TextBox 7"/>
          <p:cNvSpPr txBox="1"/>
          <p:nvPr/>
        </p:nvSpPr>
        <p:spPr>
          <a:xfrm>
            <a:off x="1908000" y="3528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No proprietary SDK and no changes to the agent's own code.</a:t>
            </a:r>
          </a:p>
        </p:txBody>
      </p:sp>
      <p:sp>
        <p:nvSpPr>
          <p:cNvPr id="100162" name="TextBox 8"/>
          <p:cNvSpPr/>
          <p:nvPr/>
        </p:nvSpPr>
        <p:spPr>
          <a:xfrm>
            <a:off x="900000" y="4464000"/>
            <a:ext cx="720000" cy="720000"/>
          </a:xfrm>
          <a:prstGeom prst="ellipse">
            <a:avLst/>
          </a:prstGeom>
          <a:solidFill>
            <a:srgbClr val="FF6C0E"/>
          </a:solidFill>
        </p:spPr>
        <p:txBody>
          <a:bodyPr/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163" name="TextBox 9"/>
          <p:cNvSpPr txBox="1"/>
          <p:nvPr/>
        </p:nvSpPr>
        <p:spPr>
          <a:xfrm>
            <a:off x="1908000" y="4428000"/>
            <a:ext cx="9000000" cy="46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1B365D"/>
                </a:solidFill>
                <a:latin typeface="Trebuchet MS"/>
                <a:ea typeface="Trebuchet MS"/>
              </a:rPr>
              <a:t>Deployment options</a:t>
            </a:r>
          </a:p>
        </p:txBody>
      </p:sp>
      <p:sp>
        <p:nvSpPr>
          <p:cNvPr id="100164" name="TextBox 10"/>
          <p:cNvSpPr txBox="1"/>
          <p:nvPr/>
        </p:nvSpPr>
        <p:spPr>
          <a:xfrm>
            <a:off x="1908000" y="4896000"/>
            <a:ext cx="9000000" cy="66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Cloud-hosted initially; self-hosting under evaluation based on enterprise demand.</a:t>
            </a:r>
          </a:p>
        </p:txBody>
      </p:sp>
      <p:sp>
        <p:nvSpPr>
          <p:cNvPr id="100165" name="TextBox 11"/>
          <p:cNvSpPr txBox="1"/>
          <p:nvPr/>
        </p:nvSpPr>
        <p:spPr>
          <a:xfrm>
            <a:off x="540000" y="5832000"/>
            <a:ext cx="1080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7B93"/>
                </a:solidFill>
                <a:latin typeface="Calibri"/>
                <a:ea typeface="Calibri"/>
              </a:rPr>
              <a:t>Have this detail ready – it is a near-universal enterprise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1646</ap:Words>
  <ap:Application>Microsoft Macintosh PowerPoint</ap:Application>
  <ap:PresentationFormat>Widescreen</ap:PresentationFormat>
  <ap:Paragraphs>186</ap:Paragraphs>
  <ap:Slides>17</ap:Slides>
  <ap:Notes>17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ap:HeadingPairs>
  <ap:TitlesOfParts>
    <vt:vector baseType="lpstr" size="21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Andrew Demers</cp:lastModifiedBy>
  <cp:revision>1</cp:revision>
  <dcterms:created xsi:type="dcterms:W3CDTF">2026-07-22T14:53:01Z</dcterms:created>
  <dcterms:modified xsi:type="dcterms:W3CDTF">2026-07-22T15:43:09Z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OfficeCLI.Version">
    <vt:lpwstr>1.0.140</vt:lpwstr>
  </op:property>
  <op:property fmtid="{D5CDD505-2E9C-101B-9397-08002B2CF9AE}" pid="3" name="OfficeCLI.LastModified">
    <vt:lpwstr>2026-07-22T16:13:12Z</vt:lpwstr>
  </op:property>
</op:Properties>
</file>