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b298c4a93aa45d0" /><Relationship Type="http://schemas.openxmlformats.org/package/2006/relationships/metadata/core-properties" Target="/docProps/core.xml" Id="R32f048c6fc7b4341" /><Relationship Type="http://schemas.openxmlformats.org/officeDocument/2006/relationships/extended-properties" Target="/docProps/app.xml" Id="R5223ec741479425c" /><Relationship Type="http://schemas.openxmlformats.org/officeDocument/2006/relationships/custom-properties" Target="/docProps/custom.xml" Id="R40c4de0b451a4d0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1202f5f543f43c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1202f5f543f43c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0f9d1ded54e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df1a4ac1a46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39bf5f7044d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87658a8e34e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2227ea53b407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fc76d0ab01a4f0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f21b0f2b847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0"/>
            <a:ext cx="121932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360000" y="144000"/>
            <a:ext cx="144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Trebuchet MS"/>
                <a:ea typeface="Trebuchet MS"/>
              </a:rPr>
              <a:t>Agent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1458000" y="144000"/>
            <a:ext cx="144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6C0E"/>
                </a:solidFill>
                <a:latin typeface="Trebuchet MS"/>
                <a:ea typeface="Trebuchet MS"/>
              </a:rPr>
              <a:t>Score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360000" y="576000"/>
            <a:ext cx="64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300" i="1">
                <a:solidFill>
                  <a:srgbClr val="FFFFFF"/>
                </a:solidFill>
                <a:latin typeface="Trebuchet MS"/>
                <a:ea typeface="Trebuchet MS"/>
              </a:rPr>
              <a:t>The shared grading layer for every agent on the team.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7200000" y="360000"/>
            <a:ext cx="46332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FFFFFF"/>
                </a:solidFill>
                <a:latin typeface="Trebuchet MS"/>
                <a:ea typeface="Trebuchet MS"/>
              </a:rPr>
              <a:t>Product Overview  ·  One-Page Summary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360000" y="1116000"/>
            <a:ext cx="277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3240000" y="1116000"/>
            <a:ext cx="277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6120000" y="1116000"/>
            <a:ext cx="277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9000000" y="1116000"/>
            <a:ext cx="277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1" name="TextBox 10"/>
          <p:cNvSpPr txBox="1"/>
          <p:nvPr/>
        </p:nvSpPr>
        <p:spPr>
          <a:xfrm xmlns:a="http://schemas.openxmlformats.org/drawingml/2006/main">
            <a:off x="360000" y="1116000"/>
            <a:ext cx="277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Trebuchet MS"/>
                <a:ea typeface="Trebuchet MS"/>
              </a:rPr>
              <a:t>The Problem</a:t>
            </a:r>
          </a:p>
        </p:txBody>
      </p:sp>
      <p:sp>
        <p:nvSpPr>
          <p:cNvPr id="100012" name="TextBox 11"/>
          <p:cNvSpPr/>
          <p:nvPr/>
        </p:nvSpPr>
        <p:spPr>
          <a:xfrm xmlns:a="http://schemas.openxmlformats.org/drawingml/2006/main">
            <a:off x="360000" y="1512000"/>
            <a:ext cx="2772000" cy="42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TextBox 12"/>
          <p:cNvSpPr txBox="1"/>
          <p:nvPr/>
        </p:nvSpPr>
        <p:spPr>
          <a:xfrm xmlns:a="http://schemas.openxmlformats.org/drawingml/2006/main">
            <a:off x="3240000" y="1116000"/>
            <a:ext cx="277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Trebuchet MS"/>
                <a:ea typeface="Trebuchet MS"/>
              </a:rPr>
              <a:t>What It Does</a:t>
            </a:r>
          </a:p>
        </p:txBody>
      </p:sp>
      <p:sp>
        <p:nvSpPr>
          <p:cNvPr id="100014" name="TextBox 13"/>
          <p:cNvSpPr/>
          <p:nvPr/>
        </p:nvSpPr>
        <p:spPr>
          <a:xfrm xmlns:a="http://schemas.openxmlformats.org/drawingml/2006/main">
            <a:off x="3240000" y="1512000"/>
            <a:ext cx="2772000" cy="42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5" name="TextBox 14"/>
          <p:cNvSpPr txBox="1"/>
          <p:nvPr/>
        </p:nvSpPr>
        <p:spPr>
          <a:xfrm xmlns:a="http://schemas.openxmlformats.org/drawingml/2006/main">
            <a:off x="6120000" y="1116000"/>
            <a:ext cx="277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Trebuchet MS"/>
                <a:ea typeface="Trebuchet MS"/>
              </a:rPr>
              <a:t>How It Works</a:t>
            </a:r>
          </a:p>
        </p:txBody>
      </p:sp>
      <p:sp>
        <p:nvSpPr>
          <p:cNvPr id="100016" name="TextBox 15"/>
          <p:cNvSpPr/>
          <p:nvPr/>
        </p:nvSpPr>
        <p:spPr>
          <a:xfrm xmlns:a="http://schemas.openxmlformats.org/drawingml/2006/main">
            <a:off x="6120000" y="1512000"/>
            <a:ext cx="2772000" cy="42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TextBox 16"/>
          <p:cNvSpPr txBox="1"/>
          <p:nvPr/>
        </p:nvSpPr>
        <p:spPr>
          <a:xfrm xmlns:a="http://schemas.openxmlformats.org/drawingml/2006/main">
            <a:off x="9000000" y="1116000"/>
            <a:ext cx="277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Trebuchet MS"/>
                <a:ea typeface="Trebuchet MS"/>
              </a:rPr>
              <a:t>Why It Wins</a:t>
            </a:r>
          </a:p>
        </p:txBody>
      </p:sp>
      <p:sp>
        <p:nvSpPr>
          <p:cNvPr id="100018" name="TextBox 17"/>
          <p:cNvSpPr/>
          <p:nvPr/>
        </p:nvSpPr>
        <p:spPr>
          <a:xfrm xmlns:a="http://schemas.openxmlformats.org/drawingml/2006/main">
            <a:off x="9000000" y="1512000"/>
            <a:ext cx="2772000" cy="42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TextBox 18"/>
          <p:cNvSpPr txBox="1"/>
          <p:nvPr/>
        </p:nvSpPr>
        <p:spPr>
          <a:xfrm xmlns:a="http://schemas.openxmlformats.org/drawingml/2006/main">
            <a:off x="504000" y="1656000"/>
            <a:ext cx="2484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Your agents are already live -- but is it actually working?</a:t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/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Generic checks miss what matters. Regressions slip through until a customer complains.</a:t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/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A pass/fail flag doesn't say why -- root-causing becomes a manual scavenger hunt.</a:t>
            </a:r>
          </a:p>
        </p:txBody>
      </p:sp>
      <p:sp>
        <p:nvSpPr>
          <p:cNvPr id="100020" name="TextBox 19"/>
          <p:cNvSpPr txBox="1"/>
          <p:nvPr/>
        </p:nvSpPr>
        <p:spPr>
          <a:xfrm xmlns:a="http://schemas.openxmlformats.org/drawingml/2006/main">
            <a:off x="3384000" y="1656000"/>
            <a:ext cx="2484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AgentScore does not author or run tests -- it grades what your agent actually did.</a:t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/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It reads the OpenTelemetry traces your agent already emits, continuously, across six core + five extended dimensions.</a:t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/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Every failure comes with a root cause and an evidence chain, not just a score.</a:t>
            </a:r>
          </a:p>
        </p:txBody>
      </p:sp>
      <p:sp>
        <p:nvSpPr>
          <p:cNvPr id="100021" name="TextBox 20"/>
          <p:cNvSpPr txBox="1"/>
          <p:nvPr/>
        </p:nvSpPr>
        <p:spPr>
          <a:xfrm xmlns:a="http://schemas.openxmlformats.org/drawingml/2006/main">
            <a:off x="6264000" y="1656000"/>
            <a:ext cx="2484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1. Profile Assignment -- agent type auto-detected (tools, retrieval, multi-turn, images).</a:t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/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2. Eval Selection -- runs only its pinned, version-controlled evals; missing data is skipped, never scored as zero.</a:t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/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3. Scoring -- deterministic checks + AI judge roll up into a verdict: Ship / Ship with notes / Review / Block.</a:t>
            </a:r>
          </a:p>
        </p:txBody>
      </p:sp>
      <p:sp>
        <p:nvSpPr>
          <p:cNvPr id="100022" name="TextBox 21"/>
          <p:cNvSpPr txBox="1"/>
          <p:nvPr/>
        </p:nvSpPr>
        <p:spPr>
          <a:xfrm xmlns:a="http://schemas.openxmlformats.org/drawingml/2006/main">
            <a:off x="9144000" y="1656000"/>
            <a:ext cx="2484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Statistical rigor -- confidence intervals, pass@k, minimum-sample gating.</a:t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/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Safety hard-fail override -- one unsafe signal forces a fail regardless of composite score.</a:t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/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Vendor-neutral -- OpenTelemetry only, no proprietary SDK.</a:t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/>
            </a:r>
          </a:p>
          <a:p xmlns:a="http://schemas.openxmlformats.org/drawingml/2006/main">
            <a:pPr algn="l"/>
            <a:r>
              <a:rPr lang="en-US" sz="1250">
                <a:solidFill>
                  <a:srgbClr val="1B365D"/>
                </a:solidFill>
                <a:latin typeface="Trebuchet MS"/>
                <a:ea typeface="Trebuchet MS"/>
              </a:rPr>
              <a:t>Native inside Tosca, qTest, and AI Workspace -- no new tool to adopt.</a:t>
            </a:r>
          </a:p>
        </p:txBody>
      </p:sp>
      <p:sp>
        <p:nvSpPr>
          <p:cNvPr id="100023" name="TextBox 22"/>
          <p:cNvSpPr/>
          <p:nvPr/>
        </p:nvSpPr>
        <p:spPr>
          <a:xfrm xmlns:a="http://schemas.openxmlformats.org/drawingml/2006/main">
            <a:off x="0" y="6228000"/>
            <a:ext cx="121932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TextBox 23"/>
          <p:cNvSpPr txBox="1"/>
          <p:nvPr/>
        </p:nvSpPr>
        <p:spPr>
          <a:xfrm xmlns:a="http://schemas.openxmlformats.org/drawingml/2006/main">
            <a:off x="360000" y="6228000"/>
            <a:ext cx="7920000" cy="6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FFFFFF"/>
                </a:solidFill>
                <a:latin typeface="Trebuchet MS"/>
                <a:ea typeface="Trebuchet MS"/>
              </a:rPr>
              <a:t>Path to value: connect OTel traces (no agent code changes) → scored baseline in days → define pilot success together.</a:t>
            </a:r>
          </a:p>
        </p:txBody>
      </p:sp>
      <p:sp>
        <p:nvSpPr>
          <p:cNvPr id="100025" name="TextBox 24"/>
          <p:cNvSpPr txBox="1"/>
          <p:nvPr/>
        </p:nvSpPr>
        <p:spPr>
          <a:xfrm xmlns:a="http://schemas.openxmlformats.org/drawingml/2006/main">
            <a:off x="8640000" y="6228000"/>
            <a:ext cx="3193200" cy="6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500" b="1">
                <a:solidFill>
                  <a:srgbClr val="FF6C0E"/>
                </a:solidFill>
                <a:latin typeface="Trebuchet MS"/>
                <a:ea typeface="Trebuchet MS"/>
              </a:rPr>
              <a:t>Request access →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2026-08-03T14:13:10Z</dcterms:created>
  <cp:lastModifiedBy>OfficeCLI</cp:lastModifiedBy>
  <dcterms:modified xsi:type="dcterms:W3CDTF">2026-08-03T14:13:10Z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2026-08-03T14:17:05Z</vt:lpwstr>
  </op:property>
</op:Properties>
</file>