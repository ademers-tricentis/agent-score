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8/12/26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Alpha is live. Two external accounts engaged so far (Workday, Meta feedback sessions) and 4 internal testers. We just shipped the full onboarding-to-scoring journey plus trace simulation, and internal testers can now exercise external agents too. Beta program itself isn't launched yet – we're building onboarding materials and growing internal engagement first.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457200" y="457200"/>
            <a:ext cx="9000000" cy="66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 b="1">
                <a:solidFill>
                  <a:srgbClr val="12264A"/>
                </a:solidFill>
                <a:latin typeface="Trebuchet MS"/>
                <a:ea typeface="Trebuchet MS"/>
              </a:rPr>
              <a:t>Testing AI </a:t>
            </a:r>
            <a:r>
              <a:rPr lang="en-US" sz="3600" b="1" dirty="0">
                <a:solidFill>
                  <a:srgbClr val="12264A"/>
                </a:solidFill>
                <a:latin typeface="Trebuchet MS"/>
                <a:ea typeface="Trebuchet MS"/>
              </a:rPr>
              <a:t>- Beta Status</a:t>
            </a:r>
          </a:p>
        </p:txBody>
      </p:sp>
      <p:sp>
        <p:nvSpPr>
          <p:cNvPr id="100002" name="Tile1Bg"/>
          <p:cNvSpPr/>
          <p:nvPr/>
        </p:nvSpPr>
        <p:spPr>
          <a:xfrm>
            <a:off x="457200" y="1195200"/>
            <a:ext cx="3574800" cy="1260000"/>
          </a:xfrm>
          <a:prstGeom prst="roundRect">
            <a:avLst/>
          </a:prstGeom>
          <a:solidFill>
            <a:srgbClr val="1226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3" name="Tile1Num"/>
          <p:cNvSpPr txBox="1"/>
          <p:nvPr/>
        </p:nvSpPr>
        <p:spPr>
          <a:xfrm>
            <a:off x="457200" y="1375200"/>
            <a:ext cx="35748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2</a:t>
            </a:r>
          </a:p>
        </p:txBody>
      </p:sp>
      <p:sp>
        <p:nvSpPr>
          <p:cNvPr id="100004" name="Tile1Sub"/>
          <p:cNvSpPr txBox="1"/>
          <p:nvPr/>
        </p:nvSpPr>
        <p:spPr>
          <a:xfrm>
            <a:off x="457200" y="2124000"/>
            <a:ext cx="35748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Accounts engaged (external)</a:t>
            </a:r>
          </a:p>
        </p:txBody>
      </p:sp>
      <p:sp>
        <p:nvSpPr>
          <p:cNvPr id="100005" name="Tile2Bg"/>
          <p:cNvSpPr/>
          <p:nvPr/>
        </p:nvSpPr>
        <p:spPr>
          <a:xfrm>
            <a:off x="4305600" y="1195200"/>
            <a:ext cx="3574800" cy="1260000"/>
          </a:xfrm>
          <a:prstGeom prst="roundRect">
            <a:avLst/>
          </a:prstGeom>
          <a:solidFill>
            <a:srgbClr val="1226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6" name="Tile2Num"/>
          <p:cNvSpPr txBox="1"/>
          <p:nvPr/>
        </p:nvSpPr>
        <p:spPr>
          <a:xfrm>
            <a:off x="4305600" y="1375200"/>
            <a:ext cx="35748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4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</a:p>
        </p:txBody>
      </p:sp>
      <p:sp>
        <p:nvSpPr>
          <p:cNvPr id="100007" name="Tile2Sub"/>
          <p:cNvSpPr txBox="1"/>
          <p:nvPr/>
        </p:nvSpPr>
        <p:spPr>
          <a:xfrm>
            <a:off x="4305600" y="2124000"/>
            <a:ext cx="35748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Internal testers</a:t>
            </a:r>
          </a:p>
        </p:txBody>
      </p:sp>
      <p:sp>
        <p:nvSpPr>
          <p:cNvPr id="100008" name="Tile3Bg"/>
          <p:cNvSpPr/>
          <p:nvPr/>
        </p:nvSpPr>
        <p:spPr>
          <a:xfrm>
            <a:off x="8154000" y="1195200"/>
            <a:ext cx="3574800" cy="1260000"/>
          </a:xfrm>
          <a:prstGeom prst="roundRect">
            <a:avLst/>
          </a:prstGeom>
          <a:solidFill>
            <a:srgbClr val="1226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09" name="Tile3Num"/>
          <p:cNvSpPr txBox="1"/>
          <p:nvPr/>
        </p:nvSpPr>
        <p:spPr>
          <a:xfrm>
            <a:off x="8154000" y="1375200"/>
            <a:ext cx="3574800" cy="7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4000" b="1">
                <a:solidFill>
                  <a:srgbClr val="FFFFFF"/>
                </a:solidFill>
                <a:latin typeface="Trebuchet MS"/>
                <a:ea typeface="Trebuchet MS"/>
              </a:rPr>
              <a:t>Alpha</a:t>
            </a:r>
          </a:p>
        </p:txBody>
      </p:sp>
      <p:sp>
        <p:nvSpPr>
          <p:cNvPr id="100010" name="Tile3Sub"/>
          <p:cNvSpPr txBox="1"/>
          <p:nvPr/>
        </p:nvSpPr>
        <p:spPr>
          <a:xfrm>
            <a:off x="8154000" y="2124000"/>
            <a:ext cx="35748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-US" sz="1400">
                <a:solidFill>
                  <a:srgbClr val="CADCFC"/>
                </a:solidFill>
                <a:latin typeface="Calibri"/>
                <a:ea typeface="Calibri"/>
              </a:rPr>
              <a:t>Live stage · beta in prep</a:t>
            </a:r>
          </a:p>
        </p:txBody>
      </p:sp>
      <p:sp>
        <p:nvSpPr>
          <p:cNvPr id="100011" name="StatusBg"/>
          <p:cNvSpPr/>
          <p:nvPr/>
        </p:nvSpPr>
        <p:spPr>
          <a:xfrm>
            <a:off x="457200" y="2527200"/>
            <a:ext cx="11278800" cy="1080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2" name="StatusText"/>
          <p:cNvSpPr txBox="1"/>
          <p:nvPr/>
        </p:nvSpPr>
        <p:spPr>
          <a:xfrm>
            <a:off x="684000" y="2574000"/>
            <a:ext cx="10836000" cy="99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600">
                <a:solidFill>
                  <a:srgbClr val="333333"/>
                </a:solidFill>
                <a:latin typeface="Calibri"/>
                <a:ea typeface="Calibri"/>
              </a:rPr>
              <a:t>Status: Alpha is now released, delivering a complete onboarding-to-scoring user journey. Early findings are promising across internal and external testers. We're building onboarding materials, growing internal engagement, and letting testers evaluate external agents too.</a:t>
            </a:r>
          </a:p>
        </p:txBody>
      </p:sp>
      <p:sp>
        <p:nvSpPr>
          <p:cNvPr id="100013" name="ColHeaderLeft"/>
          <p:cNvSpPr/>
          <p:nvPr/>
        </p:nvSpPr>
        <p:spPr>
          <a:xfrm>
            <a:off x="457200" y="3661200"/>
            <a:ext cx="5459400" cy="306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4" name="ColHeaderLeftText"/>
          <p:cNvSpPr txBox="1"/>
          <p:nvPr/>
        </p:nvSpPr>
        <p:spPr>
          <a:xfrm>
            <a:off x="576000" y="3661200"/>
            <a:ext cx="5220000" cy="30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EXTERNAL BETA · WORKDAY &amp; META</a:t>
            </a:r>
          </a:p>
        </p:txBody>
      </p:sp>
      <p:sp>
        <p:nvSpPr>
          <p:cNvPr id="100015" name="ColHeaderRight"/>
          <p:cNvSpPr/>
          <p:nvPr/>
        </p:nvSpPr>
        <p:spPr>
          <a:xfrm>
            <a:off x="6276600" y="3661200"/>
            <a:ext cx="5459400" cy="306000"/>
          </a:xfrm>
          <a:prstGeom prst="rect">
            <a:avLst/>
          </a:prstGeom>
          <a:solidFill>
            <a:srgbClr val="12264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16" name="ColHeaderRightText"/>
          <p:cNvSpPr txBox="1"/>
          <p:nvPr/>
        </p:nvSpPr>
        <p:spPr>
          <a:xfrm>
            <a:off x="6397200" y="3661200"/>
            <a:ext cx="5220000" cy="30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en-US" sz="1400" b="1">
                <a:solidFill>
                  <a:srgbClr val="FFFFFF"/>
                </a:solidFill>
                <a:latin typeface="Calibri"/>
                <a:ea typeface="Calibri"/>
              </a:rPr>
              <a:t>INTERNAL · ALPHA USERS</a:t>
            </a:r>
          </a:p>
        </p:txBody>
      </p:sp>
      <p:sp>
        <p:nvSpPr>
          <p:cNvPr id="100017" name="L_PosLabel"/>
          <p:cNvSpPr txBox="1"/>
          <p:nvPr/>
        </p:nvSpPr>
        <p:spPr>
          <a:xfrm>
            <a:off x="457200" y="4021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1B8A5A"/>
                </a:solidFill>
                <a:latin typeface="Calibri"/>
                <a:ea typeface="Calibri"/>
              </a:rPr>
              <a:t>POSITIVE SIGNAL</a:t>
            </a:r>
          </a:p>
        </p:txBody>
      </p:sp>
      <p:sp>
        <p:nvSpPr>
          <p:cNvPr id="100018" name="L_PosBody"/>
          <p:cNvSpPr txBox="1"/>
          <p:nvPr/>
        </p:nvSpPr>
        <p:spPr>
          <a:xfrm>
            <a:off x="457200" y="4327200"/>
            <a:ext cx="54594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OTel ingestion demoed live to both accounts</a:t>
            </a:r>
          </a:p>
        </p:txBody>
      </p:sp>
      <p:sp>
        <p:nvSpPr>
          <p:cNvPr id="100019" name="L_FricLabel"/>
          <p:cNvSpPr txBox="1"/>
          <p:nvPr/>
        </p:nvSpPr>
        <p:spPr>
          <a:xfrm>
            <a:off x="457200" y="4705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B03A2E"/>
                </a:solidFill>
                <a:latin typeface="Calibri"/>
                <a:ea typeface="Calibri"/>
              </a:rPr>
              <a:t>FRICTION</a:t>
            </a:r>
          </a:p>
        </p:txBody>
      </p:sp>
      <p:sp>
        <p:nvSpPr>
          <p:cNvPr id="100020" name="L_FricBody"/>
          <p:cNvSpPr txBox="1"/>
          <p:nvPr/>
        </p:nvSpPr>
        <p:spPr>
          <a:xfrm>
            <a:off x="457200" y="5011200"/>
            <a:ext cx="54594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"Testing vs. observability" still unresolved</a:t>
            </a:r>
          </a:p>
        </p:txBody>
      </p:sp>
      <p:sp>
        <p:nvSpPr>
          <p:cNvPr id="100021" name="L_FwdLabel"/>
          <p:cNvSpPr txBox="1"/>
          <p:nvPr/>
        </p:nvSpPr>
        <p:spPr>
          <a:xfrm>
            <a:off x="457200" y="5389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254A7A"/>
                </a:solidFill>
                <a:latin typeface="Calibri"/>
                <a:ea typeface="Calibri"/>
              </a:rPr>
              <a:t>FORWARD PATH</a:t>
            </a:r>
          </a:p>
        </p:txBody>
      </p:sp>
      <p:sp>
        <p:nvSpPr>
          <p:cNvPr id="100022" name="L_FwdBody"/>
          <p:cNvSpPr txBox="1"/>
          <p:nvPr/>
        </p:nvSpPr>
        <p:spPr>
          <a:xfrm>
            <a:off x="457200" y="5695200"/>
            <a:ext cx="5459400" cy="61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Rehearse the "why trust the judge" answer</a:t>
            </a:r>
          </a:p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Meta engagement points to a September beta start</a:t>
            </a:r>
          </a:p>
        </p:txBody>
      </p:sp>
      <p:sp>
        <p:nvSpPr>
          <p:cNvPr id="100023" name="R_PosLabel"/>
          <p:cNvSpPr txBox="1"/>
          <p:nvPr/>
        </p:nvSpPr>
        <p:spPr>
          <a:xfrm>
            <a:off x="6276600" y="4021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1B8A5A"/>
                </a:solidFill>
                <a:latin typeface="Calibri"/>
                <a:ea typeface="Calibri"/>
              </a:rPr>
              <a:t>POSITIVE SIGNAL</a:t>
            </a:r>
          </a:p>
        </p:txBody>
      </p:sp>
      <p:sp>
        <p:nvSpPr>
          <p:cNvPr id="100024" name="R_PosBody"/>
          <p:cNvSpPr txBox="1"/>
          <p:nvPr/>
        </p:nvSpPr>
        <p:spPr>
          <a:xfrm>
            <a:off x="6276600" y="4327200"/>
            <a:ext cx="54594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Onboarding-to-scoring journey now shipped</a:t>
            </a:r>
          </a:p>
        </p:txBody>
      </p:sp>
      <p:sp>
        <p:nvSpPr>
          <p:cNvPr id="100025" name="R_FricLabel"/>
          <p:cNvSpPr txBox="1"/>
          <p:nvPr/>
        </p:nvSpPr>
        <p:spPr>
          <a:xfrm>
            <a:off x="6276600" y="4705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B03A2E"/>
                </a:solidFill>
                <a:latin typeface="Calibri"/>
                <a:ea typeface="Calibri"/>
              </a:rPr>
              <a:t>FRICTION</a:t>
            </a:r>
          </a:p>
        </p:txBody>
      </p:sp>
      <p:sp>
        <p:nvSpPr>
          <p:cNvPr id="100026" name="R_FricBody"/>
          <p:cNvSpPr txBox="1"/>
          <p:nvPr/>
        </p:nvSpPr>
        <p:spPr>
          <a:xfrm>
            <a:off x="6276600" y="5011200"/>
            <a:ext cx="54594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Engagement limited to 4 testers so far</a:t>
            </a:r>
          </a:p>
        </p:txBody>
      </p:sp>
      <p:sp>
        <p:nvSpPr>
          <p:cNvPr id="100027" name="R_FwdLabel"/>
          <p:cNvSpPr txBox="1"/>
          <p:nvPr/>
        </p:nvSpPr>
        <p:spPr>
          <a:xfrm>
            <a:off x="6276600" y="5389200"/>
            <a:ext cx="5459400" cy="30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300" b="1">
                <a:solidFill>
                  <a:srgbClr val="254A7A"/>
                </a:solidFill>
                <a:latin typeface="Calibri"/>
                <a:ea typeface="Calibri"/>
              </a:rPr>
              <a:t>FORWARD PATH</a:t>
            </a:r>
          </a:p>
        </p:txBody>
      </p:sp>
      <p:sp>
        <p:nvSpPr>
          <p:cNvPr id="100028" name="R_FwdBody"/>
          <p:cNvSpPr txBox="1"/>
          <p:nvPr/>
        </p:nvSpPr>
        <p:spPr>
          <a:xfrm>
            <a:off x="6276600" y="5695200"/>
            <a:ext cx="5459400" cy="61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500">
                <a:solidFill>
                  <a:srgbClr val="333333"/>
                </a:solidFill>
                <a:latin typeface="Calibri"/>
                <a:ea typeface="Calibri"/>
              </a:rPr>
              <a:t>• Testers can now evaluate external agents too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Andrew Demers</cp:lastModifiedBy>
  <cp:revision>1</cp:revision>
  <dcterms:created xsi:type="dcterms:W3CDTF">2026-08-12T14:04:03Z</dcterms:created>
  <dcterms:modified xsi:type="dcterms:W3CDTF">2026-08-12T14:23:45Z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2026-08-12T14:19:30Z</vt:lpwstr>
  </property>
</Properties>
</file>